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5"/>
    <p:sldId id="276" r:id="rId6"/>
    <p:sldId id="291" r:id="rId7"/>
    <p:sldId id="316" r:id="rId8"/>
    <p:sldId id="257" r:id="rId9"/>
    <p:sldId id="259" r:id="rId10"/>
    <p:sldId id="272" r:id="rId11"/>
    <p:sldId id="260" r:id="rId12"/>
    <p:sldId id="261" r:id="rId13"/>
    <p:sldId id="262" r:id="rId14"/>
    <p:sldId id="263" r:id="rId15"/>
    <p:sldId id="274" r:id="rId16"/>
    <p:sldId id="275" r:id="rId17"/>
    <p:sldId id="277" r:id="rId18"/>
    <p:sldId id="278" r:id="rId19"/>
    <p:sldId id="279" r:id="rId20"/>
    <p:sldId id="271"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97C820B-E27A-4AE0-97BC-07937DB1E3E6}">
          <p14:sldIdLst>
            <p14:sldId id="256"/>
            <p14:sldId id="276"/>
            <p14:sldId id="291"/>
            <p14:sldId id="316"/>
            <p14:sldId id="257"/>
            <p14:sldId id="259"/>
            <p14:sldId id="272"/>
            <p14:sldId id="260"/>
            <p14:sldId id="261"/>
            <p14:sldId id="262"/>
            <p14:sldId id="263"/>
            <p14:sldId id="274"/>
            <p14:sldId id="275"/>
            <p14:sldId id="277"/>
            <p14:sldId id="278"/>
            <p14:sldId id="279"/>
            <p14:sldId id="271"/>
            <p14:sldId id="285"/>
          </p14:sldIdLst>
        </p14:section>
      </p14:sectionLst>
    </p:ext>
    <p:ext uri="{EFAFB233-063F-42B5-8137-9DF3F51BA10A}">
      <p15:sldGuideLst xmlns:p15="http://schemas.microsoft.com/office/powerpoint/2012/main">
        <p15:guide id="1" orient="horz" pos="2296" userDrawn="1">
          <p15:clr>
            <a:srgbClr val="A4A3A4"/>
          </p15:clr>
        </p15:guide>
        <p15:guide id="2" pos="3863" userDrawn="1">
          <p15:clr>
            <a:srgbClr val="A4A3A4"/>
          </p15:clr>
        </p15:guide>
        <p15:guide id="3" pos="7537" userDrawn="1">
          <p15:clr>
            <a:srgbClr val="A4A3A4"/>
          </p15:clr>
        </p15:guide>
        <p15:guide id="4" pos="75" userDrawn="1">
          <p15:clr>
            <a:srgbClr val="A4A3A4"/>
          </p15:clr>
        </p15:guide>
        <p15:guide id="5" orient="horz" pos="618" userDrawn="1">
          <p15:clr>
            <a:srgbClr val="A4A3A4"/>
          </p15:clr>
        </p15:guide>
        <p15:guide id="6" orient="horz" pos="40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an26" initials="r_26" lastIdx="1" clrIdx="0">
    <p:extLst>
      <p:ext uri="{19B8F6BF-5375-455C-9EA6-DF929625EA0E}">
        <p15:presenceInfo xmlns:p15="http://schemas.microsoft.com/office/powerpoint/2012/main" userId="rean2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49" autoAdjust="0"/>
    <p:restoredTop sz="95314" autoAdjust="0"/>
  </p:normalViewPr>
  <p:slideViewPr>
    <p:cSldViewPr snapToGrid="0" showGuides="1">
      <p:cViewPr>
        <p:scale>
          <a:sx n="80" d="100"/>
          <a:sy n="80" d="100"/>
        </p:scale>
        <p:origin x="102" y="60"/>
      </p:cViewPr>
      <p:guideLst>
        <p:guide orient="horz" pos="2296"/>
        <p:guide pos="3863"/>
        <p:guide pos="7537"/>
        <p:guide pos="75"/>
        <p:guide orient="horz" pos="618"/>
        <p:guide orient="horz" pos="4065"/>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EFAA9B-3CFE-4FE6-BF10-85D3FA9B4D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C7ECC28-3D71-4031-83C2-ADB36B9AD2D3}">
      <dgm:prSet phldrT="[Text]" custT="1"/>
      <dgm:spPr/>
      <dgm:t>
        <a:bodyPr/>
        <a:lstStyle/>
        <a:p>
          <a:r>
            <a:rPr lang="en-US" sz="4000" b="1" dirty="0"/>
            <a:t>Introduction</a:t>
          </a:r>
          <a:endParaRPr lang="en-IN" sz="4000" b="1" dirty="0"/>
        </a:p>
      </dgm:t>
    </dgm:pt>
    <dgm:pt modelId="{6CBDC37F-2FE4-400F-8732-DEA7811254DD}" type="parTrans" cxnId="{CD6063AC-325A-471B-B44D-30681E7C51E3}">
      <dgm:prSet/>
      <dgm:spPr/>
      <dgm:t>
        <a:bodyPr/>
        <a:lstStyle/>
        <a:p>
          <a:endParaRPr lang="en-IN"/>
        </a:p>
      </dgm:t>
    </dgm:pt>
    <dgm:pt modelId="{A769BF86-D11E-4359-AA8B-E9BE9140499D}" type="sibTrans" cxnId="{CD6063AC-325A-471B-B44D-30681E7C51E3}">
      <dgm:prSet/>
      <dgm:spPr/>
      <dgm:t>
        <a:bodyPr/>
        <a:lstStyle/>
        <a:p>
          <a:endParaRPr lang="en-IN"/>
        </a:p>
      </dgm:t>
    </dgm:pt>
    <dgm:pt modelId="{CFBCD687-B49E-4187-BBE0-D417F755DF64}">
      <dgm:prSet phldrT="[Text]" custT="1"/>
      <dgm:spPr/>
      <dgm:t>
        <a:bodyPr/>
        <a:lstStyle/>
        <a:p>
          <a:pPr algn="just">
            <a:lnSpc>
              <a:spcPct val="90000"/>
            </a:lnSpc>
          </a:pPr>
          <a:endParaRPr lang="en-IN" sz="1200" dirty="0"/>
        </a:p>
      </dgm:t>
    </dgm:pt>
    <dgm:pt modelId="{3B7B24EE-9D08-4D5C-87D9-E82504C74C19}" type="parTrans" cxnId="{4540C12E-3BFD-4BE9-9979-FA5C32460034}">
      <dgm:prSet/>
      <dgm:spPr/>
      <dgm:t>
        <a:bodyPr/>
        <a:lstStyle/>
        <a:p>
          <a:endParaRPr lang="en-IN"/>
        </a:p>
      </dgm:t>
    </dgm:pt>
    <dgm:pt modelId="{B8E1A0CB-7C68-4B3B-AC3E-63C148235CF3}" type="sibTrans" cxnId="{4540C12E-3BFD-4BE9-9979-FA5C32460034}">
      <dgm:prSet/>
      <dgm:spPr/>
      <dgm:t>
        <a:bodyPr/>
        <a:lstStyle/>
        <a:p>
          <a:endParaRPr lang="en-IN"/>
        </a:p>
      </dgm:t>
    </dgm:pt>
    <dgm:pt modelId="{B9327868-E8C4-4933-91A5-B06241E57FF7}">
      <dgm:prSet phldrT="[Text]" custT="1"/>
      <dgm:spPr/>
      <dgm:t>
        <a:bodyPr/>
        <a:lstStyle/>
        <a:p>
          <a:pPr algn="just">
            <a:lnSpc>
              <a:spcPct val="200000"/>
            </a:lnSpc>
          </a:pPr>
          <a:r>
            <a:rPr lang="en-US" sz="1800" dirty="0">
              <a:latin typeface="Times New Roman" panose="02020603050405020304" pitchFamily="18" charset="0"/>
              <a:cs typeface="Times New Roman" panose="02020603050405020304" pitchFamily="18" charset="0"/>
            </a:rPr>
            <a:t>Initially the collection of the data of Sarees, Jeans and Trouser has been scrapped using selenium.</a:t>
          </a:r>
          <a:endParaRPr lang="en-IN" sz="1800" dirty="0">
            <a:latin typeface="Times New Roman" panose="02020603050405020304" pitchFamily="18" charset="0"/>
            <a:cs typeface="Times New Roman" panose="02020603050405020304" pitchFamily="18" charset="0"/>
          </a:endParaRPr>
        </a:p>
      </dgm:t>
    </dgm:pt>
    <dgm:pt modelId="{90576C12-243A-4F5E-9EBD-62E5402D7C0D}" type="parTrans" cxnId="{6041A534-2258-4B8F-BD84-432239F4B738}">
      <dgm:prSet/>
      <dgm:spPr/>
      <dgm:t>
        <a:bodyPr/>
        <a:lstStyle/>
        <a:p>
          <a:endParaRPr lang="en-IN"/>
        </a:p>
      </dgm:t>
    </dgm:pt>
    <dgm:pt modelId="{ECD51D6C-641F-47EF-9C27-BB142CA33082}" type="sibTrans" cxnId="{6041A534-2258-4B8F-BD84-432239F4B738}">
      <dgm:prSet/>
      <dgm:spPr/>
      <dgm:t>
        <a:bodyPr/>
        <a:lstStyle/>
        <a:p>
          <a:endParaRPr lang="en-IN"/>
        </a:p>
      </dgm:t>
    </dgm:pt>
    <dgm:pt modelId="{325A3876-BCCB-404E-8B85-068F657818AC}">
      <dgm:prSet phldrT="[Text]" custT="1"/>
      <dgm:spPr/>
      <dgm:t>
        <a:bodyPr/>
        <a:lstStyle/>
        <a:p>
          <a:pPr algn="just">
            <a:lnSpc>
              <a:spcPct val="200000"/>
            </a:lnSpc>
          </a:pPr>
          <a:r>
            <a:rPr lang="en-IN" sz="1800" dirty="0">
              <a:latin typeface="Times New Roman" panose="02020603050405020304" pitchFamily="18" charset="0"/>
              <a:cs typeface="Times New Roman" panose="02020603050405020304" pitchFamily="18" charset="0"/>
            </a:rPr>
            <a:t>In today’s modern world everyone is fulfilling their daily needs from E-commerce websites. One of them is their clothing  needs which is very important in the world of </a:t>
          </a:r>
          <a:r>
            <a:rPr lang="en-IN" sz="1800" dirty="0" err="1">
              <a:latin typeface="Times New Roman" panose="02020603050405020304" pitchFamily="18" charset="0"/>
              <a:cs typeface="Times New Roman" panose="02020603050405020304" pitchFamily="18" charset="0"/>
            </a:rPr>
            <a:t>faishon</a:t>
          </a:r>
          <a:r>
            <a:rPr lang="en-IN" sz="1800" dirty="0">
              <a:latin typeface="Times New Roman" panose="02020603050405020304" pitchFamily="18" charset="0"/>
              <a:cs typeface="Times New Roman" panose="02020603050405020304" pitchFamily="18" charset="0"/>
            </a:rPr>
            <a:t> and nobody wants to be left behind. So, e-commerce websites have added a new feature to their website i.e. The classification feature that will classify various product. Now they want to predict the new images that will classify the image in different section that will allow to search the images of different segment. So, we have to build an application which can predict the image and put them in the category to which they belong.</a:t>
          </a:r>
        </a:p>
      </dgm:t>
    </dgm:pt>
    <dgm:pt modelId="{39B00F01-7026-48D0-B95E-98CFDBA89E35}" type="parTrans" cxnId="{0C1525E3-F0F2-44F5-B0C3-47EFF9DFE670}">
      <dgm:prSet/>
      <dgm:spPr/>
      <dgm:t>
        <a:bodyPr/>
        <a:lstStyle/>
        <a:p>
          <a:endParaRPr lang="en-IN"/>
        </a:p>
      </dgm:t>
    </dgm:pt>
    <dgm:pt modelId="{5868579F-93DE-4AE4-A6EA-C8741BEEEC45}" type="sibTrans" cxnId="{0C1525E3-F0F2-44F5-B0C3-47EFF9DFE670}">
      <dgm:prSet/>
      <dgm:spPr/>
      <dgm:t>
        <a:bodyPr/>
        <a:lstStyle/>
        <a:p>
          <a:endParaRPr lang="en-IN"/>
        </a:p>
      </dgm:t>
    </dgm:pt>
    <dgm:pt modelId="{3383EB6A-94CD-4F5B-912B-C9BA22EE2B80}" type="pres">
      <dgm:prSet presAssocID="{EBEFAA9B-3CFE-4FE6-BF10-85D3FA9B4D61}" presName="linear" presStyleCnt="0">
        <dgm:presLayoutVars>
          <dgm:animLvl val="lvl"/>
          <dgm:resizeHandles val="exact"/>
        </dgm:presLayoutVars>
      </dgm:prSet>
      <dgm:spPr/>
    </dgm:pt>
    <dgm:pt modelId="{0CECCBEA-FE88-4181-8497-87F6F3F92ECB}" type="pres">
      <dgm:prSet presAssocID="{4C7ECC28-3D71-4031-83C2-ADB36B9AD2D3}" presName="parentText" presStyleLbl="node1" presStyleIdx="0" presStyleCnt="1" custScaleY="100437" custLinFactY="-100000" custLinFactNeighborX="371" custLinFactNeighborY="-113081">
        <dgm:presLayoutVars>
          <dgm:chMax val="0"/>
          <dgm:bulletEnabled val="1"/>
        </dgm:presLayoutVars>
      </dgm:prSet>
      <dgm:spPr/>
    </dgm:pt>
    <dgm:pt modelId="{AB910E16-752A-4743-9EA8-C9F680447FE0}" type="pres">
      <dgm:prSet presAssocID="{4C7ECC28-3D71-4031-83C2-ADB36B9AD2D3}" presName="childText" presStyleLbl="revTx" presStyleIdx="0" presStyleCnt="1" custAng="0" custScaleY="246923" custLinFactNeighborY="28184">
        <dgm:presLayoutVars>
          <dgm:bulletEnabled val="1"/>
        </dgm:presLayoutVars>
      </dgm:prSet>
      <dgm:spPr/>
    </dgm:pt>
  </dgm:ptLst>
  <dgm:cxnLst>
    <dgm:cxn modelId="{A050340D-338E-490E-834C-C34D4138B2CA}" type="presOf" srcId="{B9327868-E8C4-4933-91A5-B06241E57FF7}" destId="{AB910E16-752A-4743-9EA8-C9F680447FE0}" srcOrd="0" destOrd="2" presId="urn:microsoft.com/office/officeart/2005/8/layout/vList2"/>
    <dgm:cxn modelId="{6D41612C-C801-41AB-858F-15DC475C3817}" type="presOf" srcId="{CFBCD687-B49E-4187-BBE0-D417F755DF64}" destId="{AB910E16-752A-4743-9EA8-C9F680447FE0}" srcOrd="0" destOrd="0" presId="urn:microsoft.com/office/officeart/2005/8/layout/vList2"/>
    <dgm:cxn modelId="{4540C12E-3BFD-4BE9-9979-FA5C32460034}" srcId="{4C7ECC28-3D71-4031-83C2-ADB36B9AD2D3}" destId="{CFBCD687-B49E-4187-BBE0-D417F755DF64}" srcOrd="0" destOrd="0" parTransId="{3B7B24EE-9D08-4D5C-87D9-E82504C74C19}" sibTransId="{B8E1A0CB-7C68-4B3B-AC3E-63C148235CF3}"/>
    <dgm:cxn modelId="{6041A534-2258-4B8F-BD84-432239F4B738}" srcId="{4C7ECC28-3D71-4031-83C2-ADB36B9AD2D3}" destId="{B9327868-E8C4-4933-91A5-B06241E57FF7}" srcOrd="2" destOrd="0" parTransId="{90576C12-243A-4F5E-9EBD-62E5402D7C0D}" sibTransId="{ECD51D6C-641F-47EF-9C27-BB142CA33082}"/>
    <dgm:cxn modelId="{43EF5343-AE1B-4EF3-A4E0-D5A8B356E414}" type="presOf" srcId="{4C7ECC28-3D71-4031-83C2-ADB36B9AD2D3}" destId="{0CECCBEA-FE88-4181-8497-87F6F3F92ECB}" srcOrd="0" destOrd="0" presId="urn:microsoft.com/office/officeart/2005/8/layout/vList2"/>
    <dgm:cxn modelId="{1D43577A-F7D3-40D7-A436-5ADB60DBDBAC}" type="presOf" srcId="{325A3876-BCCB-404E-8B85-068F657818AC}" destId="{AB910E16-752A-4743-9EA8-C9F680447FE0}" srcOrd="0" destOrd="1" presId="urn:microsoft.com/office/officeart/2005/8/layout/vList2"/>
    <dgm:cxn modelId="{537CA9AA-FBF6-43D2-8FA7-7FC0DE34773D}" type="presOf" srcId="{EBEFAA9B-3CFE-4FE6-BF10-85D3FA9B4D61}" destId="{3383EB6A-94CD-4F5B-912B-C9BA22EE2B80}" srcOrd="0" destOrd="0" presId="urn:microsoft.com/office/officeart/2005/8/layout/vList2"/>
    <dgm:cxn modelId="{CD6063AC-325A-471B-B44D-30681E7C51E3}" srcId="{EBEFAA9B-3CFE-4FE6-BF10-85D3FA9B4D61}" destId="{4C7ECC28-3D71-4031-83C2-ADB36B9AD2D3}" srcOrd="0" destOrd="0" parTransId="{6CBDC37F-2FE4-400F-8732-DEA7811254DD}" sibTransId="{A769BF86-D11E-4359-AA8B-E9BE9140499D}"/>
    <dgm:cxn modelId="{0C1525E3-F0F2-44F5-B0C3-47EFF9DFE670}" srcId="{4C7ECC28-3D71-4031-83C2-ADB36B9AD2D3}" destId="{325A3876-BCCB-404E-8B85-068F657818AC}" srcOrd="1" destOrd="0" parTransId="{39B00F01-7026-48D0-B95E-98CFDBA89E35}" sibTransId="{5868579F-93DE-4AE4-A6EA-C8741BEEEC45}"/>
    <dgm:cxn modelId="{C5DE0F31-E222-496A-8C35-312C7D52799D}" type="presParOf" srcId="{3383EB6A-94CD-4F5B-912B-C9BA22EE2B80}" destId="{0CECCBEA-FE88-4181-8497-87F6F3F92ECB}" srcOrd="0" destOrd="0" presId="urn:microsoft.com/office/officeart/2005/8/layout/vList2"/>
    <dgm:cxn modelId="{4671761B-E73C-4BC7-9895-9FD4641B7479}" type="presParOf" srcId="{3383EB6A-94CD-4F5B-912B-C9BA22EE2B80}" destId="{AB910E16-752A-4743-9EA8-C9F680447FE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CCBEA-FE88-4181-8497-87F6F3F92ECB}">
      <dsp:nvSpPr>
        <dsp:cNvPr id="0" name=""/>
        <dsp:cNvSpPr/>
      </dsp:nvSpPr>
      <dsp:spPr>
        <a:xfrm>
          <a:off x="0" y="0"/>
          <a:ext cx="9848850" cy="6580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b="1" kern="1200" dirty="0"/>
            <a:t>Introduction</a:t>
          </a:r>
          <a:endParaRPr lang="en-IN" sz="4000" b="1" kern="1200" dirty="0"/>
        </a:p>
      </dsp:txBody>
      <dsp:txXfrm>
        <a:off x="32124" y="32124"/>
        <a:ext cx="9784602" cy="593815"/>
      </dsp:txXfrm>
    </dsp:sp>
    <dsp:sp modelId="{AB910E16-752A-4743-9EA8-C9F680447FE0}">
      <dsp:nvSpPr>
        <dsp:cNvPr id="0" name=""/>
        <dsp:cNvSpPr/>
      </dsp:nvSpPr>
      <dsp:spPr>
        <a:xfrm>
          <a:off x="0" y="659510"/>
          <a:ext cx="9848850" cy="4616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701" tIns="15240" rIns="85344" bIns="15240" numCol="1" spcCol="1270" anchor="t" anchorCtr="0">
          <a:noAutofit/>
        </a:bodyPr>
        <a:lstStyle/>
        <a:p>
          <a:pPr marL="114300" lvl="1" indent="-114300" algn="just" defTabSz="533400">
            <a:lnSpc>
              <a:spcPct val="90000"/>
            </a:lnSpc>
            <a:spcBef>
              <a:spcPct val="0"/>
            </a:spcBef>
            <a:spcAft>
              <a:spcPct val="20000"/>
            </a:spcAft>
            <a:buChar char="•"/>
          </a:pPr>
          <a:endParaRPr lang="en-IN" sz="1200" kern="1200" dirty="0"/>
        </a:p>
        <a:p>
          <a:pPr marL="171450" lvl="1" indent="-171450" algn="just" defTabSz="800100">
            <a:lnSpc>
              <a:spcPct val="200000"/>
            </a:lnSpc>
            <a:spcBef>
              <a:spcPct val="0"/>
            </a:spcBef>
            <a:spcAft>
              <a:spcPct val="20000"/>
            </a:spcAft>
            <a:buChar char="•"/>
          </a:pPr>
          <a:r>
            <a:rPr lang="en-IN" sz="1800" kern="1200" dirty="0">
              <a:latin typeface="Times New Roman" panose="02020603050405020304" pitchFamily="18" charset="0"/>
              <a:cs typeface="Times New Roman" panose="02020603050405020304" pitchFamily="18" charset="0"/>
            </a:rPr>
            <a:t>In today’s modern world everyone is fulfilling their daily needs from E-commerce websites. One of them is their clothing  needs which is very important in the world of </a:t>
          </a:r>
          <a:r>
            <a:rPr lang="en-IN" sz="1800" kern="1200" dirty="0" err="1">
              <a:latin typeface="Times New Roman" panose="02020603050405020304" pitchFamily="18" charset="0"/>
              <a:cs typeface="Times New Roman" panose="02020603050405020304" pitchFamily="18" charset="0"/>
            </a:rPr>
            <a:t>faishon</a:t>
          </a:r>
          <a:r>
            <a:rPr lang="en-IN" sz="1800" kern="1200" dirty="0">
              <a:latin typeface="Times New Roman" panose="02020603050405020304" pitchFamily="18" charset="0"/>
              <a:cs typeface="Times New Roman" panose="02020603050405020304" pitchFamily="18" charset="0"/>
            </a:rPr>
            <a:t> and nobody wants to be left behind. So, e-commerce websites have added a new feature to their website i.e. The classification feature that will classify various product. Now they want to predict the new images that will classify the image in different section that will allow to search the images of different segment. So, we have to build an application which can predict the image and put them in the category to which they belong.</a:t>
          </a:r>
        </a:p>
        <a:p>
          <a:pPr marL="171450" lvl="1" indent="-171450" algn="just" defTabSz="800100">
            <a:lnSpc>
              <a:spcPct val="200000"/>
            </a:lnSpc>
            <a:spcBef>
              <a:spcPct val="0"/>
            </a:spcBef>
            <a:spcAft>
              <a:spcPct val="20000"/>
            </a:spcAft>
            <a:buChar char="•"/>
          </a:pPr>
          <a:r>
            <a:rPr lang="en-US" sz="1800" kern="1200" dirty="0">
              <a:latin typeface="Times New Roman" panose="02020603050405020304" pitchFamily="18" charset="0"/>
              <a:cs typeface="Times New Roman" panose="02020603050405020304" pitchFamily="18" charset="0"/>
            </a:rPr>
            <a:t>Initially the collection of the data of Sarees, Jeans and Trouser has been scrapped using selenium.</a:t>
          </a:r>
          <a:endParaRPr lang="en-IN" sz="1800" kern="1200" dirty="0">
            <a:latin typeface="Times New Roman" panose="02020603050405020304" pitchFamily="18" charset="0"/>
            <a:cs typeface="Times New Roman" panose="02020603050405020304" pitchFamily="18" charset="0"/>
          </a:endParaRPr>
        </a:p>
      </dsp:txBody>
      <dsp:txXfrm>
        <a:off x="0" y="659510"/>
        <a:ext cx="9848850" cy="461657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12/2/2021</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12/2/2021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18</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12/2/2021</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12/2/2021</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1928532"/>
            <a:ext cx="9144000" cy="2215991"/>
          </a:xfrm>
        </p:spPr>
        <p:txBody>
          <a:bodyPr lIns="0" tIns="0" rIns="0" bIns="0" anchor="t">
            <a:spAutoFit/>
          </a:bodyPr>
          <a:lstStyle/>
          <a:p>
            <a:r>
              <a:rPr lang="en-US" b="1" dirty="0">
                <a:solidFill>
                  <a:schemeClr val="bg1"/>
                </a:solidFill>
              </a:rPr>
              <a:t>Image Classification</a:t>
            </a:r>
            <a:br>
              <a:rPr lang="en-US" dirty="0">
                <a:solidFill>
                  <a:schemeClr val="bg1"/>
                </a:solidFill>
              </a:rPr>
            </a:br>
            <a:r>
              <a:rPr lang="en-US" sz="4000" dirty="0">
                <a:solidFill>
                  <a:schemeClr val="accent4"/>
                </a:solidFill>
              </a:rPr>
              <a:t>Submitted by</a:t>
            </a:r>
            <a:br>
              <a:rPr lang="en-US" sz="4000" dirty="0">
                <a:solidFill>
                  <a:schemeClr val="accent4"/>
                </a:solidFill>
              </a:rPr>
            </a:br>
            <a:r>
              <a:rPr lang="en-US" b="1" dirty="0">
                <a:solidFill>
                  <a:schemeClr val="bg1"/>
                </a:solidFill>
              </a:rPr>
              <a:t>Tushar Kumar Patel</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402010" y="4930120"/>
            <a:ext cx="1387979" cy="125240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4922136" y="2660650"/>
            <a:ext cx="2475660" cy="229552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Image classification</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Visualization</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Model</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Conclusion</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Inrtoduction</a:t>
            </a:r>
            <a:endParaRPr lang="en-US" sz="1600" dirty="0"/>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Dataset and Features</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Processing</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7133464" y="1774031"/>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4717582" y="1774031"/>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6" name="Group 35" descr="Icon of human being and gear. ">
            <a:extLst>
              <a:ext uri="{FF2B5EF4-FFF2-40B4-BE49-F238E27FC236}">
                <a16:creationId xmlns:a16="http://schemas.microsoft.com/office/drawing/2014/main" id="{ECC5F635-1712-4572-A9EC-F94E2199DDBD}"/>
              </a:ext>
            </a:extLst>
          </p:cNvPr>
          <p:cNvGrpSpPr/>
          <p:nvPr/>
        </p:nvGrpSpPr>
        <p:grpSpPr>
          <a:xfrm>
            <a:off x="7133464" y="5355478"/>
            <a:ext cx="338073" cy="339996"/>
            <a:chOff x="6450013" y="5349875"/>
            <a:chExt cx="279399" cy="280988"/>
          </a:xfrm>
          <a:solidFill>
            <a:schemeClr val="bg1"/>
          </a:solidFill>
        </p:grpSpPr>
        <p:sp>
          <p:nvSpPr>
            <p:cNvPr id="37" name="Freeform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9" name="Group 38" descr="Icon of gears. ">
            <a:extLst>
              <a:ext uri="{FF2B5EF4-FFF2-40B4-BE49-F238E27FC236}">
                <a16:creationId xmlns:a16="http://schemas.microsoft.com/office/drawing/2014/main" id="{5BC0E3F0-447D-4721-AB1F-C8243BA36671}"/>
              </a:ext>
            </a:extLst>
          </p:cNvPr>
          <p:cNvGrpSpPr/>
          <p:nvPr/>
        </p:nvGrpSpPr>
        <p:grpSpPr>
          <a:xfrm>
            <a:off x="4717582" y="5353558"/>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2" name="Freeform 4346" descr="Icon of box and whisker chart. ">
            <a:extLst>
              <a:ext uri="{FF2B5EF4-FFF2-40B4-BE49-F238E27FC236}">
                <a16:creationId xmlns:a16="http://schemas.microsoft.com/office/drawing/2014/main" id="{D131817A-5B27-4718-8BAC-45C9CEDA45D9}"/>
              </a:ext>
            </a:extLst>
          </p:cNvPr>
          <p:cNvSpPr>
            <a:spLocks noEditPoints="1"/>
          </p:cNvSpPr>
          <p:nvPr/>
        </p:nvSpPr>
        <p:spPr bwMode="auto">
          <a:xfrm>
            <a:off x="3967321" y="3532346"/>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EC5CCFB-F751-444D-8A40-86CAFE4EE608}"/>
              </a:ext>
            </a:extLst>
          </p:cNvPr>
          <p:cNvGraphicFramePr/>
          <p:nvPr>
            <p:extLst>
              <p:ext uri="{D42A27DB-BD31-4B8C-83A1-F6EECF244321}">
                <p14:modId xmlns:p14="http://schemas.microsoft.com/office/powerpoint/2010/main" val="1217702376"/>
              </p:ext>
            </p:extLst>
          </p:nvPr>
        </p:nvGraphicFramePr>
        <p:xfrm>
          <a:off x="1171575" y="676656"/>
          <a:ext cx="9848850" cy="5276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108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3B776-CBEC-46C1-B728-98C6734EB4D0}"/>
              </a:ext>
            </a:extLst>
          </p:cNvPr>
          <p:cNvSpPr txBox="1"/>
          <p:nvPr/>
        </p:nvSpPr>
        <p:spPr>
          <a:xfrm>
            <a:off x="544435" y="456991"/>
            <a:ext cx="965198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i="1" dirty="0">
                <a:solidFill>
                  <a:schemeClr val="accent2"/>
                </a:solidFill>
                <a:latin typeface="Garamond" panose="02020404030301010803" pitchFamily="18" charset="0"/>
                <a:cs typeface="Arial" panose="020B0604020202020204" pitchFamily="34" charset="0"/>
              </a:rPr>
              <a:t>CONCEPTUAL BACKGROUND OF THE  DOMAIN PROBLEM</a:t>
            </a:r>
            <a:endParaRPr lang="en-US" sz="3200" b="1" i="1" dirty="0">
              <a:solidFill>
                <a:schemeClr val="accent2"/>
              </a:solidFill>
              <a:latin typeface="Garamond" panose="02020404030301010803" pitchFamily="18" charset="0"/>
              <a:cs typeface="Arial" panose="020B0604020202020204" pitchFamily="34" charset="0"/>
            </a:endParaRPr>
          </a:p>
        </p:txBody>
      </p:sp>
      <p:sp>
        <p:nvSpPr>
          <p:cNvPr id="4" name="TextBox 3">
            <a:extLst>
              <a:ext uri="{FF2B5EF4-FFF2-40B4-BE49-F238E27FC236}">
                <a16:creationId xmlns:a16="http://schemas.microsoft.com/office/drawing/2014/main" id="{3D8A56FA-C775-453F-806D-E662A819BCA8}"/>
              </a:ext>
            </a:extLst>
          </p:cNvPr>
          <p:cNvSpPr txBox="1"/>
          <p:nvPr/>
        </p:nvSpPr>
        <p:spPr>
          <a:xfrm>
            <a:off x="337402" y="1570702"/>
            <a:ext cx="847322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IN" sz="1800" i="0" u="none" strike="noStrike" baseline="0"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chemeClr val="tx1"/>
                </a:solidFill>
                <a:latin typeface="Arial" panose="020B0604020202020204" pitchFamily="34" charset="0"/>
                <a:cs typeface="Arial" panose="020B0604020202020204" pitchFamily="34" charset="0"/>
              </a:rPr>
              <a:t>Images are one of the major sources of data in the field of data science and AI. </a:t>
            </a:r>
          </a:p>
          <a:p>
            <a:pPr marL="285750" indent="-285750" algn="just">
              <a:buFont typeface="Arial" panose="020B0604020202020204" pitchFamily="34" charset="0"/>
              <a:buChar char="•"/>
            </a:pPr>
            <a:r>
              <a:rPr lang="en-IN" dirty="0">
                <a:solidFill>
                  <a:schemeClr val="tx1"/>
                </a:solidFill>
                <a:latin typeface="Arial" panose="020B0604020202020204" pitchFamily="34" charset="0"/>
                <a:cs typeface="Arial" panose="020B0604020202020204" pitchFamily="34" charset="0"/>
              </a:rPr>
              <a:t>This field is making appropriate use of information that can be gathered through images by examining its features and details.</a:t>
            </a:r>
          </a:p>
          <a:p>
            <a:pPr marL="285750" indent="-285750" algn="just">
              <a:buFont typeface="Arial" panose="020B0604020202020204" pitchFamily="34" charset="0"/>
              <a:buChar char="•"/>
            </a:pPr>
            <a:r>
              <a:rPr lang="en-IN" dirty="0">
                <a:solidFill>
                  <a:schemeClr val="tx1"/>
                </a:solidFill>
                <a:latin typeface="Arial" panose="020B0604020202020204" pitchFamily="34" charset="0"/>
                <a:cs typeface="Arial" panose="020B0604020202020204" pitchFamily="34" charset="0"/>
              </a:rPr>
              <a:t>The idea behind this project is to build a deep learning-based Image Classification model on images that will be scraped from e-commerce portal. This is done to make the model more and more robust. </a:t>
            </a:r>
            <a:endParaRPr lang="en-US" dirty="0">
              <a:solidFill>
                <a:schemeClr val="tx1"/>
              </a:solidFill>
              <a:latin typeface="Arial" panose="020B0604020202020204" pitchFamily="34" charset="0"/>
              <a:cs typeface="Arial" panose="020B0604020202020204" pitchFamily="34" charset="0"/>
            </a:endParaRPr>
          </a:p>
          <a:p>
            <a:pPr algn="just"/>
            <a:endPar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82985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609600"/>
            <a:ext cx="8534400" cy="758952"/>
          </a:xfrm>
        </p:spPr>
        <p:txBody>
          <a:bodyPr>
            <a:noAutofit/>
          </a:bodyPr>
          <a:lstStyle/>
          <a:p>
            <a:r>
              <a:rPr lang="en-IN" b="1" u="sng" dirty="0">
                <a:latin typeface="Arial" panose="020B0604020202020204" pitchFamily="34" charset="0"/>
                <a:cs typeface="Arial" panose="020B0604020202020204" pitchFamily="34" charset="0"/>
              </a:rPr>
              <a:t>PROBLEM STATEMENT</a:t>
            </a:r>
            <a:endParaRPr lang="en-US" u="sng"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981200" y="1676400"/>
            <a:ext cx="8500872" cy="4267200"/>
          </a:xfrm>
        </p:spPr>
        <p:txBody>
          <a:bodyPr>
            <a:normAutofit lnSpcReduction="10000"/>
          </a:bodyPr>
          <a:lstStyle/>
          <a:p>
            <a:r>
              <a:rPr lang="en-IN" dirty="0">
                <a:solidFill>
                  <a:schemeClr val="tx1"/>
                </a:solidFill>
                <a:latin typeface="Arial" panose="020B0604020202020204" pitchFamily="34" charset="0"/>
                <a:cs typeface="Arial" panose="020B0604020202020204" pitchFamily="34" charset="0"/>
              </a:rPr>
              <a:t>We have to scrape images from e-commerce portal, Amazon.IN The clothing categories used for scraping will be:</a:t>
            </a:r>
            <a:endParaRPr lang="en-US" dirty="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IN" dirty="0" err="1">
                <a:solidFill>
                  <a:schemeClr val="tx1"/>
                </a:solidFill>
                <a:latin typeface="Arial" panose="020B0604020202020204" pitchFamily="34" charset="0"/>
                <a:cs typeface="Arial" panose="020B0604020202020204" pitchFamily="34" charset="0"/>
              </a:rPr>
              <a:t>Sarees</a:t>
            </a:r>
            <a:r>
              <a:rPr lang="en-IN" dirty="0">
                <a:solidFill>
                  <a:schemeClr val="tx1"/>
                </a:solidFill>
                <a:latin typeface="Arial" panose="020B0604020202020204" pitchFamily="34" charset="0"/>
                <a:cs typeface="Arial" panose="020B0604020202020204" pitchFamily="34" charset="0"/>
              </a:rPr>
              <a:t> (women)</a:t>
            </a:r>
            <a:endParaRPr lang="en-US" dirty="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IN" dirty="0">
                <a:solidFill>
                  <a:schemeClr val="tx1"/>
                </a:solidFill>
                <a:latin typeface="Arial" panose="020B0604020202020204" pitchFamily="34" charset="0"/>
                <a:cs typeface="Arial" panose="020B0604020202020204" pitchFamily="34" charset="0"/>
              </a:rPr>
              <a:t>Trousers (men)</a:t>
            </a:r>
            <a:endParaRPr lang="en-US" dirty="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IN" dirty="0">
                <a:solidFill>
                  <a:schemeClr val="tx1"/>
                </a:solidFill>
                <a:latin typeface="Arial" panose="020B0604020202020204" pitchFamily="34" charset="0"/>
                <a:cs typeface="Arial" panose="020B0604020202020204" pitchFamily="34" charset="0"/>
              </a:rPr>
              <a:t>Jeans (men)</a:t>
            </a:r>
          </a:p>
          <a:p>
            <a:pPr lvl="0"/>
            <a:endParaRPr lang="en-IN" dirty="0">
              <a:solidFill>
                <a:schemeClr val="tx1"/>
              </a:solidFill>
              <a:latin typeface="Arial" panose="020B0604020202020204" pitchFamily="34" charset="0"/>
              <a:cs typeface="Arial" panose="020B0604020202020204" pitchFamily="34" charset="0"/>
            </a:endParaRPr>
          </a:p>
          <a:p>
            <a:pPr lvl="0"/>
            <a:r>
              <a:rPr lang="en-IN" dirty="0">
                <a:solidFill>
                  <a:schemeClr val="tx1"/>
                </a:solidFill>
                <a:latin typeface="Arial" panose="020B0604020202020204" pitchFamily="34" charset="0"/>
                <a:cs typeface="Arial" panose="020B0604020202020204" pitchFamily="34" charset="0"/>
              </a:rPr>
              <a:t>After the data collection and preparation is done, you need to build an image classification model that will classify between these 3 categories mentioned above. </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8820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066800"/>
            <a:ext cx="7924800" cy="758952"/>
          </a:xfrm>
        </p:spPr>
        <p:txBody>
          <a:bodyPr>
            <a:normAutofit fontScale="90000"/>
          </a:bodyPr>
          <a:lstStyle/>
          <a:p>
            <a:r>
              <a:rPr lang="en-IN" b="1" u="sng" dirty="0">
                <a:latin typeface="Arial" panose="020B0604020202020204" pitchFamily="34" charset="0"/>
                <a:cs typeface="Arial" panose="020B0604020202020204" pitchFamily="34" charset="0"/>
              </a:rPr>
              <a:t>ANALYTICAL PROBLEM FRAMING</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057400" y="2209800"/>
            <a:ext cx="8001000" cy="2209800"/>
          </a:xfrm>
        </p:spPr>
        <p:txBody>
          <a:bodyPr>
            <a:normAutofit lnSpcReduction="10000"/>
          </a:bodyPr>
          <a:lstStyle/>
          <a:p>
            <a:pPr lvl="0"/>
            <a:r>
              <a:rPr lang="en-IN" b="1" dirty="0">
                <a:solidFill>
                  <a:schemeClr val="tx1"/>
                </a:solidFill>
                <a:latin typeface="Arial" panose="020B0604020202020204" pitchFamily="34" charset="0"/>
                <a:cs typeface="Arial" panose="020B0604020202020204" pitchFamily="34" charset="0"/>
              </a:rPr>
              <a:t>Data Collection Phase:</a:t>
            </a:r>
          </a:p>
          <a:p>
            <a:r>
              <a:rPr lang="en-IN" dirty="0">
                <a:solidFill>
                  <a:schemeClr val="tx1"/>
                </a:solidFill>
                <a:latin typeface="Arial" panose="020B0604020202020204" pitchFamily="34" charset="0"/>
                <a:cs typeface="Arial" panose="020B0604020202020204" pitchFamily="34" charset="0"/>
              </a:rPr>
              <a:t>We have collected/scraped data from amazon for the three categories: Sarees, Jeans and Trousers.</a:t>
            </a:r>
            <a:endParaRPr lang="en-US" dirty="0">
              <a:solidFill>
                <a:schemeClr val="tx1"/>
              </a:solidFill>
              <a:latin typeface="Arial" panose="020B0604020202020204" pitchFamily="34" charset="0"/>
              <a:cs typeface="Arial" panose="020B0604020202020204" pitchFamily="34" charset="0"/>
            </a:endParaRPr>
          </a:p>
          <a:p>
            <a:r>
              <a:rPr lang="en-IN" dirty="0">
                <a:solidFill>
                  <a:schemeClr val="tx1"/>
                </a:solidFill>
                <a:latin typeface="Arial" panose="020B0604020202020204" pitchFamily="34" charset="0"/>
                <a:cs typeface="Arial" panose="020B0604020202020204" pitchFamily="34" charset="0"/>
              </a:rPr>
              <a:t>In total there are 343 rows for each of the items</a:t>
            </a:r>
          </a:p>
        </p:txBody>
      </p:sp>
    </p:spTree>
    <p:extLst>
      <p:ext uri="{BB962C8B-B14F-4D97-AF65-F5344CB8AC3E}">
        <p14:creationId xmlns:p14="http://schemas.microsoft.com/office/powerpoint/2010/main" val="1593981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066800"/>
            <a:ext cx="7924800" cy="758952"/>
          </a:xfrm>
        </p:spPr>
        <p:txBody>
          <a:bodyPr>
            <a:normAutofit fontScale="90000"/>
          </a:bodyPr>
          <a:lstStyle/>
          <a:p>
            <a:r>
              <a:rPr lang="en-IN" b="1" u="sng" dirty="0">
                <a:latin typeface="Arial" panose="020B0604020202020204" pitchFamily="34" charset="0"/>
                <a:cs typeface="Arial" panose="020B0604020202020204" pitchFamily="34" charset="0"/>
              </a:rPr>
              <a:t>ANALYTICAL PROBLEM FRAMING</a:t>
            </a:r>
            <a:endParaRPr lang="en-US" dirty="0">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1" y="2133601"/>
            <a:ext cx="6600825" cy="3723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3262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9381"/>
          <a:stretch/>
        </p:blipFill>
        <p:spPr bwMode="auto">
          <a:xfrm>
            <a:off x="3025075" y="2057400"/>
            <a:ext cx="4974922" cy="33705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6BBBA524-15A0-4B92-AEA2-A364CCA19A95}"/>
              </a:ext>
            </a:extLst>
          </p:cNvPr>
          <p:cNvSpPr txBox="1"/>
          <p:nvPr/>
        </p:nvSpPr>
        <p:spPr>
          <a:xfrm>
            <a:off x="2105526" y="697832"/>
            <a:ext cx="743551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Hence we have 300 images in each section.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759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838200"/>
            <a:ext cx="8229600" cy="1752600"/>
          </a:xfrm>
        </p:spPr>
        <p:txBody>
          <a:bodyPr>
            <a:normAutofit fontScale="92500"/>
          </a:bodyPr>
          <a:lstStyle/>
          <a:p>
            <a:pPr lvl="0"/>
            <a:r>
              <a:rPr lang="en-IN" dirty="0">
                <a:solidFill>
                  <a:schemeClr val="tx1"/>
                </a:solidFill>
                <a:latin typeface="Arial" panose="020B0604020202020204" pitchFamily="34" charset="0"/>
                <a:cs typeface="Arial" panose="020B0604020202020204" pitchFamily="34" charset="0"/>
              </a:rPr>
              <a:t>Next we created directories to store images of each clothing item scraped above. Further we will be downloading images to required folders/directories along with download status message.</a:t>
            </a:r>
            <a:endParaRPr lang="en-US" dirty="0">
              <a:solidFill>
                <a:schemeClr val="tx1"/>
              </a:solidFill>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61240DD-4299-469E-AD39-66BF43BCF15F}"/>
              </a:ext>
            </a:extLst>
          </p:cNvPr>
          <p:cNvPicPr>
            <a:picLocks noChangeAspect="1"/>
          </p:cNvPicPr>
          <p:nvPr/>
        </p:nvPicPr>
        <p:blipFill rotWithShape="1">
          <a:blip r:embed="rId2"/>
          <a:srcRect l="15000" t="23884" r="75033" b="44028"/>
          <a:stretch/>
        </p:blipFill>
        <p:spPr>
          <a:xfrm>
            <a:off x="4798594" y="2418347"/>
            <a:ext cx="2899611" cy="3068053"/>
          </a:xfrm>
          <a:prstGeom prst="rect">
            <a:avLst/>
          </a:prstGeom>
        </p:spPr>
      </p:pic>
    </p:spTree>
    <p:extLst>
      <p:ext uri="{BB962C8B-B14F-4D97-AF65-F5344CB8AC3E}">
        <p14:creationId xmlns:p14="http://schemas.microsoft.com/office/powerpoint/2010/main" val="36053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219200"/>
            <a:ext cx="8534400" cy="758952"/>
          </a:xfrm>
        </p:spPr>
        <p:txBody>
          <a:bodyPr>
            <a:noAutofit/>
          </a:bodyPr>
          <a:lstStyle/>
          <a:p>
            <a:r>
              <a:rPr lang="en-IN" b="1" u="sng" dirty="0">
                <a:latin typeface="Arial" panose="020B0604020202020204" pitchFamily="34" charset="0"/>
                <a:cs typeface="Arial" panose="020B0604020202020204" pitchFamily="34" charset="0"/>
              </a:rPr>
              <a:t>MODEL/S DEVELOPMENT AND EVALUATION</a:t>
            </a:r>
            <a:endParaRPr lang="en-US" u="sng"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981200" y="2450432"/>
            <a:ext cx="7924800" cy="3505200"/>
          </a:xfrm>
        </p:spPr>
        <p:txBody>
          <a:bodyPr>
            <a:normAutofit fontScale="92500"/>
          </a:bodyPr>
          <a:lstStyle/>
          <a:p>
            <a:r>
              <a:rPr lang="en-IN" dirty="0">
                <a:solidFill>
                  <a:schemeClr val="tx1"/>
                </a:solidFill>
                <a:latin typeface="Arial" panose="020B0604020202020204" pitchFamily="34" charset="0"/>
                <a:cs typeface="Arial" panose="020B0604020202020204" pitchFamily="34" charset="0"/>
              </a:rPr>
              <a:t>After collecting the data we next do training of the data. For that firstly, we created a main folder called “Clothes” in current working directory inside which I further created two folders called “Train” and “Test”.</a:t>
            </a:r>
            <a:endParaRPr lang="en-US" dirty="0">
              <a:solidFill>
                <a:schemeClr val="tx1"/>
              </a:solidFill>
              <a:latin typeface="Arial" panose="020B0604020202020204" pitchFamily="34" charset="0"/>
              <a:cs typeface="Arial" panose="020B0604020202020204" pitchFamily="34" charset="0"/>
            </a:endParaRPr>
          </a:p>
          <a:p>
            <a:r>
              <a:rPr lang="en-IN" dirty="0">
                <a:solidFill>
                  <a:schemeClr val="tx1"/>
                </a:solidFill>
                <a:latin typeface="Arial" panose="020B0604020202020204" pitchFamily="34" charset="0"/>
                <a:cs typeface="Arial" panose="020B0604020202020204" pitchFamily="34" charset="0"/>
              </a:rPr>
              <a:t>In Train folder we have kept </a:t>
            </a:r>
            <a:r>
              <a:rPr lang="en-IN" b="1" dirty="0">
                <a:latin typeface="Arial" panose="020B0604020202020204" pitchFamily="34" charset="0"/>
                <a:cs typeface="Arial" panose="020B0604020202020204" pitchFamily="34" charset="0"/>
              </a:rPr>
              <a:t>300</a:t>
            </a:r>
            <a:r>
              <a:rPr lang="en-IN" dirty="0">
                <a:solidFill>
                  <a:schemeClr val="tx1"/>
                </a:solidFill>
                <a:latin typeface="Arial" panose="020B0604020202020204" pitchFamily="34" charset="0"/>
                <a:cs typeface="Arial" panose="020B0604020202020204" pitchFamily="34" charset="0"/>
              </a:rPr>
              <a:t> images from each clothing category and remaining </a:t>
            </a:r>
            <a:r>
              <a:rPr lang="en-IN" dirty="0">
                <a:latin typeface="Arial" panose="020B0604020202020204" pitchFamily="34" charset="0"/>
                <a:cs typeface="Arial" panose="020B0604020202020204" pitchFamily="34" charset="0"/>
              </a:rPr>
              <a:t>2</a:t>
            </a:r>
            <a:r>
              <a:rPr lang="en-IN" dirty="0">
                <a:solidFill>
                  <a:schemeClr val="tx1"/>
                </a:solidFill>
                <a:latin typeface="Arial" panose="020B0604020202020204" pitchFamily="34" charset="0"/>
                <a:cs typeface="Arial" panose="020B0604020202020204" pitchFamily="34" charset="0"/>
              </a:rPr>
              <a:t>5 images we have kept in Test folder for each category. Hence, we got </a:t>
            </a:r>
            <a:r>
              <a:rPr lang="en-IN" b="1" dirty="0">
                <a:latin typeface="Arial" panose="020B0604020202020204" pitchFamily="34" charset="0"/>
                <a:cs typeface="Arial" panose="020B0604020202020204" pitchFamily="34" charset="0"/>
              </a:rPr>
              <a:t>825</a:t>
            </a:r>
            <a:r>
              <a:rPr lang="en-IN" dirty="0">
                <a:solidFill>
                  <a:schemeClr val="tx1"/>
                </a:solidFill>
                <a:latin typeface="Arial" panose="020B0604020202020204" pitchFamily="34" charset="0"/>
                <a:cs typeface="Arial" panose="020B0604020202020204" pitchFamily="34" charset="0"/>
              </a:rPr>
              <a:t> images for training and 75 for testing.</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8329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4"/>
          <p:cNvSpPr>
            <a:spLocks noChangeArrowheads="1"/>
          </p:cNvSpPr>
          <p:nvPr/>
        </p:nvSpPr>
        <p:spPr bwMode="auto">
          <a:xfrm>
            <a:off x="1524001" y="1948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7" name="Rectangle 5"/>
          <p:cNvSpPr>
            <a:spLocks noChangeArrowheads="1"/>
          </p:cNvSpPr>
          <p:nvPr/>
        </p:nvSpPr>
        <p:spPr bwMode="auto">
          <a:xfrm>
            <a:off x="1524001" y="3644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066800"/>
            <a:ext cx="7991475"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5661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4"/>
          <p:cNvSpPr>
            <a:spLocks noChangeArrowheads="1"/>
          </p:cNvSpPr>
          <p:nvPr/>
        </p:nvSpPr>
        <p:spPr bwMode="auto">
          <a:xfrm>
            <a:off x="1524001" y="1948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7" name="Rectangle 5"/>
          <p:cNvSpPr>
            <a:spLocks noChangeArrowheads="1"/>
          </p:cNvSpPr>
          <p:nvPr/>
        </p:nvSpPr>
        <p:spPr bwMode="auto">
          <a:xfrm>
            <a:off x="1524001" y="3644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338138"/>
            <a:ext cx="1876425" cy="6181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1" y="340196"/>
            <a:ext cx="2524125" cy="634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0136" y="393486"/>
            <a:ext cx="1847850" cy="6315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58201" y="2290763"/>
            <a:ext cx="1895475" cy="3076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3886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28626"/>
            <a:ext cx="3657600" cy="27173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04800"/>
            <a:ext cx="4000500" cy="461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5507" y="3182032"/>
            <a:ext cx="3862387" cy="3465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5513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a:spLocks noChangeArrowheads="1"/>
          </p:cNvSpPr>
          <p:nvPr/>
        </p:nvSpPr>
        <p:spPr bwMode="auto">
          <a:xfrm>
            <a:off x="1638301" y="9111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400050" algn="l"/>
              </a:tabLst>
            </a:pPr>
            <a:endParaRPr lang="en-US">
              <a:latin typeface="Arial" pitchFamily="34" charset="0"/>
              <a:cs typeface="Arial" pitchFamily="34" charset="0"/>
            </a:endParaRPr>
          </a:p>
        </p:txBody>
      </p:sp>
      <p:pic>
        <p:nvPicPr>
          <p:cNvPr id="1026" name="Picture 2">
            <a:extLst>
              <a:ext uri="{FF2B5EF4-FFF2-40B4-BE49-F238E27FC236}">
                <a16:creationId xmlns:a16="http://schemas.microsoft.com/office/drawing/2014/main" id="{7ABB34D5-00AE-40A3-AF50-7C32EAEA5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040" y="1306178"/>
            <a:ext cx="1887454" cy="39636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242D415-85BF-4200-B5C0-242DF925EE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7073" y="1306178"/>
            <a:ext cx="2041882" cy="3963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2394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a:spLocks noChangeArrowheads="1"/>
          </p:cNvSpPr>
          <p:nvPr/>
        </p:nvSpPr>
        <p:spPr bwMode="auto">
          <a:xfrm>
            <a:off x="1638301" y="9111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400050" algn="l"/>
              </a:tabLst>
            </a:pPr>
            <a:endParaRPr lang="en-US">
              <a:latin typeface="Arial" pitchFamily="34" charset="0"/>
              <a:cs typeface="Arial" pitchFamily="34" charset="0"/>
            </a:endParaRPr>
          </a:p>
        </p:txBody>
      </p:sp>
      <p:pic>
        <p:nvPicPr>
          <p:cNvPr id="2050" name="Picture 2">
            <a:extLst>
              <a:ext uri="{FF2B5EF4-FFF2-40B4-BE49-F238E27FC236}">
                <a16:creationId xmlns:a16="http://schemas.microsoft.com/office/drawing/2014/main" id="{58389E67-8DE1-4A7E-8CC2-11BC42E0D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11505"/>
            <a:ext cx="1038225" cy="22002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3ED62B4-B5EA-45B2-B02C-89C905005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366" y="2216568"/>
            <a:ext cx="1047750" cy="220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670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a:spLocks noChangeArrowheads="1"/>
          </p:cNvSpPr>
          <p:nvPr/>
        </p:nvSpPr>
        <p:spPr bwMode="auto">
          <a:xfrm>
            <a:off x="1638301" y="9111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400050" algn="l"/>
              </a:tabLst>
            </a:pPr>
            <a:endParaRPr lang="en-US">
              <a:latin typeface="Arial" pitchFamily="34" charset="0"/>
              <a:cs typeface="Arial" pitchFamily="34" charset="0"/>
            </a:endParaRPr>
          </a:p>
        </p:txBody>
      </p:sp>
      <p:pic>
        <p:nvPicPr>
          <p:cNvPr id="3074" name="Picture 2">
            <a:extLst>
              <a:ext uri="{FF2B5EF4-FFF2-40B4-BE49-F238E27FC236}">
                <a16:creationId xmlns:a16="http://schemas.microsoft.com/office/drawing/2014/main" id="{456F8F6F-10D6-4D5D-9A46-F58D1F169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3483" y="2040105"/>
            <a:ext cx="962025" cy="22002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7FD2549-8BF7-4ACE-9378-FFAFBD70E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438" y="2328863"/>
            <a:ext cx="2143125" cy="220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098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1541" y="1066800"/>
            <a:ext cx="8534400" cy="758952"/>
          </a:xfrm>
        </p:spPr>
        <p:txBody>
          <a:bodyPr>
            <a:noAutofit/>
          </a:bodyPr>
          <a:lstStyle/>
          <a:p>
            <a:r>
              <a:rPr lang="en-IN" b="1" u="sng" dirty="0">
                <a:latin typeface="Arial" panose="020B0604020202020204" pitchFamily="34" charset="0"/>
                <a:cs typeface="Arial" panose="020B0604020202020204" pitchFamily="34" charset="0"/>
              </a:rPr>
              <a:t>CONCLUSION</a:t>
            </a:r>
            <a:endParaRPr lang="en-US" u="sng"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lvl="0"/>
            <a:r>
              <a:rPr lang="en-IN" dirty="0">
                <a:solidFill>
                  <a:schemeClr val="tx1"/>
                </a:solidFill>
                <a:latin typeface="Arial" panose="020B0604020202020204" pitchFamily="34" charset="0"/>
                <a:cs typeface="Arial" panose="020B0604020202020204" pitchFamily="34" charset="0"/>
              </a:rPr>
              <a:t>Our model is working well and gave accuracy of 87.5%.</a:t>
            </a:r>
            <a:endParaRPr lang="en-US" dirty="0">
              <a:solidFill>
                <a:schemeClr val="tx1"/>
              </a:solidFill>
              <a:latin typeface="Arial" panose="020B0604020202020204" pitchFamily="34" charset="0"/>
              <a:cs typeface="Arial" panose="020B0604020202020204" pitchFamily="34" charset="0"/>
            </a:endParaRPr>
          </a:p>
          <a:p>
            <a:pPr lvl="0"/>
            <a:r>
              <a:rPr lang="en-IN" dirty="0">
                <a:solidFill>
                  <a:schemeClr val="tx1"/>
                </a:solidFill>
                <a:latin typeface="Arial" panose="020B0604020202020204" pitchFamily="34" charset="0"/>
                <a:cs typeface="Arial" panose="020B0604020202020204" pitchFamily="34" charset="0"/>
              </a:rPr>
              <a:t>It was able to classify the three clothing items distinctly.</a:t>
            </a:r>
            <a:endParaRPr lang="en-US" dirty="0">
              <a:solidFill>
                <a:schemeClr val="tx1"/>
              </a:solidFill>
              <a:latin typeface="Arial" panose="020B0604020202020204" pitchFamily="34" charset="0"/>
              <a:cs typeface="Arial" panose="020B0604020202020204" pitchFamily="34" charset="0"/>
            </a:endParaRPr>
          </a:p>
          <a:p>
            <a:pPr lvl="0"/>
            <a:r>
              <a:rPr lang="en-IN" dirty="0">
                <a:solidFill>
                  <a:schemeClr val="tx1"/>
                </a:solidFill>
                <a:latin typeface="Arial" panose="020B0604020202020204" pitchFamily="34" charset="0"/>
                <a:cs typeface="Arial" panose="020B0604020202020204" pitchFamily="34" charset="0"/>
              </a:rPr>
              <a:t>Since in all three categories there were some extra/unnecessary items other than the main items hence, it could have been removed and we could have got better result. Moreover, training data could have been increased.</a:t>
            </a:r>
            <a:endParaRPr lang="en-US" dirty="0">
              <a:solidFill>
                <a:schemeClr val="tx1"/>
              </a:solidFill>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5772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divot">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1440</TotalTime>
  <Words>541</Words>
  <Application>Microsoft Office PowerPoint</Application>
  <PresentationFormat>Widescreen</PresentationFormat>
  <Paragraphs>44</Paragraphs>
  <Slides>18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Century Gothic</vt:lpstr>
      <vt:lpstr>Garamond</vt:lpstr>
      <vt:lpstr>Rockwell</vt:lpstr>
      <vt:lpstr>Segoe UI Light</vt:lpstr>
      <vt:lpstr>Times New Roman</vt:lpstr>
      <vt:lpstr>Wingdings</vt:lpstr>
      <vt:lpstr>Office Theme</vt:lpstr>
      <vt:lpstr>Image Classification Submitted by Tushar Kumar Patel</vt:lpstr>
      <vt:lpstr>Project analysis slide 2</vt:lpstr>
      <vt:lpstr>PowerPoint Presentation</vt:lpstr>
      <vt:lpstr>PowerPoint Presentation</vt:lpstr>
      <vt:lpstr>PROBLEM STATEMENT</vt:lpstr>
      <vt:lpstr>ANALYTICAL PROBLEM FRAMING</vt:lpstr>
      <vt:lpstr>ANALYTICAL PROBLEM FRAMING</vt:lpstr>
      <vt:lpstr>PowerPoint Presentation</vt:lpstr>
      <vt:lpstr>PowerPoint Presentation</vt:lpstr>
      <vt:lpstr>MODEL/S DEVELOPMENT AND EVALUATION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Credit Defaulter Submitted by Tushar Kumar Patel</dc:title>
  <dc:creator>rean26</dc:creator>
  <cp:lastModifiedBy>rean26</cp:lastModifiedBy>
  <cp:revision>9</cp:revision>
  <dcterms:created xsi:type="dcterms:W3CDTF">2021-08-31T13:48:51Z</dcterms:created>
  <dcterms:modified xsi:type="dcterms:W3CDTF">2021-12-02T17:12:14Z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