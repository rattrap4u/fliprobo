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56" r:id="rId5"/>
    <p:sldId id="276" r:id="rId6"/>
    <p:sldId id="291" r:id="rId7"/>
    <p:sldId id="316" r:id="rId8"/>
    <p:sldId id="317" r:id="rId9"/>
    <p:sldId id="331" r:id="rId10"/>
    <p:sldId id="352" r:id="rId11"/>
    <p:sldId id="321" r:id="rId12"/>
    <p:sldId id="322" r:id="rId13"/>
    <p:sldId id="360" r:id="rId14"/>
    <p:sldId id="359" r:id="rId15"/>
    <p:sldId id="357" r:id="rId16"/>
    <p:sldId id="358" r:id="rId17"/>
    <p:sldId id="356" r:id="rId18"/>
    <p:sldId id="336" r:id="rId19"/>
    <p:sldId id="323" r:id="rId20"/>
    <p:sldId id="324" r:id="rId21"/>
    <p:sldId id="345" r:id="rId22"/>
    <p:sldId id="349" r:id="rId23"/>
    <p:sldId id="339" r:id="rId24"/>
    <p:sldId id="347" r:id="rId25"/>
    <p:sldId id="348" r:id="rId26"/>
    <p:sldId id="338" r:id="rId27"/>
    <p:sldId id="28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97C820B-E27A-4AE0-97BC-07937DB1E3E6}">
          <p14:sldIdLst>
            <p14:sldId id="256"/>
            <p14:sldId id="276"/>
            <p14:sldId id="291"/>
            <p14:sldId id="316"/>
            <p14:sldId id="317"/>
            <p14:sldId id="331"/>
            <p14:sldId id="352"/>
            <p14:sldId id="321"/>
            <p14:sldId id="322"/>
            <p14:sldId id="360"/>
            <p14:sldId id="359"/>
            <p14:sldId id="357"/>
            <p14:sldId id="358"/>
            <p14:sldId id="356"/>
            <p14:sldId id="336"/>
            <p14:sldId id="323"/>
            <p14:sldId id="324"/>
            <p14:sldId id="345"/>
            <p14:sldId id="349"/>
            <p14:sldId id="339"/>
            <p14:sldId id="347"/>
            <p14:sldId id="348"/>
            <p14:sldId id="338"/>
            <p14:sldId id="285"/>
          </p14:sldIdLst>
        </p14:section>
      </p14:sectionLst>
    </p:ext>
    <p:ext uri="{EFAFB233-063F-42B5-8137-9DF3F51BA10A}">
      <p15:sldGuideLst xmlns:p15="http://schemas.microsoft.com/office/powerpoint/2012/main">
        <p15:guide id="1" orient="horz" pos="2296" userDrawn="1">
          <p15:clr>
            <a:srgbClr val="A4A3A4"/>
          </p15:clr>
        </p15:guide>
        <p15:guide id="2" pos="3863" userDrawn="1">
          <p15:clr>
            <a:srgbClr val="A4A3A4"/>
          </p15:clr>
        </p15:guide>
        <p15:guide id="3" pos="7537" userDrawn="1">
          <p15:clr>
            <a:srgbClr val="A4A3A4"/>
          </p15:clr>
        </p15:guide>
        <p15:guide id="4" pos="75" userDrawn="1">
          <p15:clr>
            <a:srgbClr val="A4A3A4"/>
          </p15:clr>
        </p15:guide>
        <p15:guide id="5" orient="horz" pos="618" userDrawn="1">
          <p15:clr>
            <a:srgbClr val="A4A3A4"/>
          </p15:clr>
        </p15:guide>
        <p15:guide id="6" orient="horz" pos="40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an26" initials="r_26" lastIdx="1" clrIdx="0">
    <p:extLst>
      <p:ext uri="{19B8F6BF-5375-455C-9EA6-DF929625EA0E}">
        <p15:presenceInfo xmlns:p15="http://schemas.microsoft.com/office/powerpoint/2012/main" userId="rean26"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49" autoAdjust="0"/>
    <p:restoredTop sz="95314" autoAdjust="0"/>
  </p:normalViewPr>
  <p:slideViewPr>
    <p:cSldViewPr snapToGrid="0" showGuides="1">
      <p:cViewPr varScale="1">
        <p:scale>
          <a:sx n="70" d="100"/>
          <a:sy n="70" d="100"/>
        </p:scale>
        <p:origin x="498" y="72"/>
      </p:cViewPr>
      <p:guideLst>
        <p:guide orient="horz" pos="2296"/>
        <p:guide pos="3863"/>
        <p:guide pos="7537"/>
        <p:guide pos="75"/>
        <p:guide orient="horz" pos="618"/>
        <p:guide orient="horz" pos="4065"/>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EFAA9B-3CFE-4FE6-BF10-85D3FA9B4D6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4C7ECC28-3D71-4031-83C2-ADB36B9AD2D3}">
      <dgm:prSet phldrT="[Text]" custT="1"/>
      <dgm:spPr/>
      <dgm:t>
        <a:bodyPr/>
        <a:lstStyle/>
        <a:p>
          <a:r>
            <a:rPr lang="en-US" sz="4000" b="1" dirty="0"/>
            <a:t>Introduction</a:t>
          </a:r>
          <a:endParaRPr lang="en-IN" sz="4000" b="1" dirty="0"/>
        </a:p>
      </dgm:t>
    </dgm:pt>
    <dgm:pt modelId="{6CBDC37F-2FE4-400F-8732-DEA7811254DD}" type="parTrans" cxnId="{CD6063AC-325A-471B-B44D-30681E7C51E3}">
      <dgm:prSet/>
      <dgm:spPr/>
      <dgm:t>
        <a:bodyPr/>
        <a:lstStyle/>
        <a:p>
          <a:endParaRPr lang="en-IN"/>
        </a:p>
      </dgm:t>
    </dgm:pt>
    <dgm:pt modelId="{A769BF86-D11E-4359-AA8B-E9BE9140499D}" type="sibTrans" cxnId="{CD6063AC-325A-471B-B44D-30681E7C51E3}">
      <dgm:prSet/>
      <dgm:spPr/>
      <dgm:t>
        <a:bodyPr/>
        <a:lstStyle/>
        <a:p>
          <a:endParaRPr lang="en-IN"/>
        </a:p>
      </dgm:t>
    </dgm:pt>
    <dgm:pt modelId="{CFBCD687-B49E-4187-BBE0-D417F755DF64}">
      <dgm:prSet phldrT="[Text]" custT="1"/>
      <dgm:spPr/>
      <dgm:t>
        <a:bodyPr/>
        <a:lstStyle/>
        <a:p>
          <a:pPr algn="just">
            <a:lnSpc>
              <a:spcPct val="90000"/>
            </a:lnSpc>
          </a:pPr>
          <a:endParaRPr lang="en-IN" sz="1200" dirty="0"/>
        </a:p>
      </dgm:t>
    </dgm:pt>
    <dgm:pt modelId="{3B7B24EE-9D08-4D5C-87D9-E82504C74C19}" type="parTrans" cxnId="{4540C12E-3BFD-4BE9-9979-FA5C32460034}">
      <dgm:prSet/>
      <dgm:spPr/>
      <dgm:t>
        <a:bodyPr/>
        <a:lstStyle/>
        <a:p>
          <a:endParaRPr lang="en-IN"/>
        </a:p>
      </dgm:t>
    </dgm:pt>
    <dgm:pt modelId="{B8E1A0CB-7C68-4B3B-AC3E-63C148235CF3}" type="sibTrans" cxnId="{4540C12E-3BFD-4BE9-9979-FA5C32460034}">
      <dgm:prSet/>
      <dgm:spPr/>
      <dgm:t>
        <a:bodyPr/>
        <a:lstStyle/>
        <a:p>
          <a:endParaRPr lang="en-IN"/>
        </a:p>
      </dgm:t>
    </dgm:pt>
    <dgm:pt modelId="{95D908BE-153F-431F-B42B-9D10946E242E}">
      <dgm:prSet phldrT="[Text]" custT="1"/>
      <dgm:spPr/>
      <dgm:t>
        <a:bodyPr/>
        <a:lstStyle/>
        <a:p>
          <a:pPr algn="just">
            <a:lnSpc>
              <a:spcPct val="200000"/>
            </a:lnSpc>
          </a:pPr>
          <a:r>
            <a:rPr lang="en-IN" sz="1800" dirty="0">
              <a:latin typeface="Times New Roman" panose="02020603050405020304" pitchFamily="18" charset="0"/>
              <a:cs typeface="Times New Roman" panose="02020603050405020304" pitchFamily="18" charset="0"/>
            </a:rPr>
            <a:t>Website where people write different reviews for technical products. Now they are adding a new feature to their website i.e. The reviewer will have to add stars(rating) as well with the review. The rating is out 5 stars and it only has 5 options available 1 star, 2 stars, 3 stars, 4 stars, 5 stars. Now they want to predict ratings for the reviews which were written in the past and they don’t have a rating. So, we have to build an application which can predict the rating by seeing the review.</a:t>
          </a:r>
        </a:p>
      </dgm:t>
    </dgm:pt>
    <dgm:pt modelId="{0820F83A-1EC2-40B2-B159-E4D2C8BADBA6}" type="parTrans" cxnId="{57FF8173-8A1D-4C8A-BE9F-6E73A7700DEA}">
      <dgm:prSet/>
      <dgm:spPr/>
    </dgm:pt>
    <dgm:pt modelId="{D22B3300-3BD4-4259-B8F6-2A3262384738}" type="sibTrans" cxnId="{57FF8173-8A1D-4C8A-BE9F-6E73A7700DEA}">
      <dgm:prSet/>
      <dgm:spPr/>
    </dgm:pt>
    <dgm:pt modelId="{B9327868-E8C4-4933-91A5-B06241E57FF7}">
      <dgm:prSet phldrT="[Text]" custT="1"/>
      <dgm:spPr/>
      <dgm:t>
        <a:bodyPr/>
        <a:lstStyle/>
        <a:p>
          <a:pPr algn="just">
            <a:lnSpc>
              <a:spcPct val="200000"/>
            </a:lnSpc>
          </a:pPr>
          <a:r>
            <a:rPr lang="en-US" sz="1800" dirty="0">
              <a:latin typeface="Times New Roman" panose="02020603050405020304" pitchFamily="18" charset="0"/>
              <a:cs typeface="Times New Roman" panose="02020603050405020304" pitchFamily="18" charset="0"/>
            </a:rPr>
            <a:t>Initially the collection of the data of flight ticket price has been scrapped using selenium.</a:t>
          </a:r>
          <a:endParaRPr lang="en-IN" sz="1800" dirty="0">
            <a:latin typeface="Times New Roman" panose="02020603050405020304" pitchFamily="18" charset="0"/>
            <a:cs typeface="Times New Roman" panose="02020603050405020304" pitchFamily="18" charset="0"/>
          </a:endParaRPr>
        </a:p>
      </dgm:t>
    </dgm:pt>
    <dgm:pt modelId="{90576C12-243A-4F5E-9EBD-62E5402D7C0D}" type="parTrans" cxnId="{6041A534-2258-4B8F-BD84-432239F4B738}">
      <dgm:prSet/>
      <dgm:spPr/>
    </dgm:pt>
    <dgm:pt modelId="{ECD51D6C-641F-47EF-9C27-BB142CA33082}" type="sibTrans" cxnId="{6041A534-2258-4B8F-BD84-432239F4B738}">
      <dgm:prSet/>
      <dgm:spPr/>
    </dgm:pt>
    <dgm:pt modelId="{325A3876-BCCB-404E-8B85-068F657818AC}">
      <dgm:prSet phldrT="[Text]" custT="1"/>
      <dgm:spPr/>
      <dgm:t>
        <a:bodyPr/>
        <a:lstStyle/>
        <a:p>
          <a:pPr algn="just">
            <a:lnSpc>
              <a:spcPct val="200000"/>
            </a:lnSpc>
          </a:pPr>
          <a:endParaRPr lang="en-IN" sz="1800" dirty="0">
            <a:latin typeface="Times New Roman" panose="02020603050405020304" pitchFamily="18" charset="0"/>
            <a:cs typeface="Times New Roman" panose="02020603050405020304" pitchFamily="18" charset="0"/>
          </a:endParaRPr>
        </a:p>
      </dgm:t>
    </dgm:pt>
    <dgm:pt modelId="{39B00F01-7026-48D0-B95E-98CFDBA89E35}" type="parTrans" cxnId="{0C1525E3-F0F2-44F5-B0C3-47EFF9DFE670}">
      <dgm:prSet/>
      <dgm:spPr/>
    </dgm:pt>
    <dgm:pt modelId="{5868579F-93DE-4AE4-A6EA-C8741BEEEC45}" type="sibTrans" cxnId="{0C1525E3-F0F2-44F5-B0C3-47EFF9DFE670}">
      <dgm:prSet/>
      <dgm:spPr/>
    </dgm:pt>
    <dgm:pt modelId="{3383EB6A-94CD-4F5B-912B-C9BA22EE2B80}" type="pres">
      <dgm:prSet presAssocID="{EBEFAA9B-3CFE-4FE6-BF10-85D3FA9B4D61}" presName="linear" presStyleCnt="0">
        <dgm:presLayoutVars>
          <dgm:animLvl val="lvl"/>
          <dgm:resizeHandles val="exact"/>
        </dgm:presLayoutVars>
      </dgm:prSet>
      <dgm:spPr/>
    </dgm:pt>
    <dgm:pt modelId="{0CECCBEA-FE88-4181-8497-87F6F3F92ECB}" type="pres">
      <dgm:prSet presAssocID="{4C7ECC28-3D71-4031-83C2-ADB36B9AD2D3}" presName="parentText" presStyleLbl="node1" presStyleIdx="0" presStyleCnt="1" custScaleY="65261" custLinFactY="-100000" custLinFactNeighborX="371" custLinFactNeighborY="-113081">
        <dgm:presLayoutVars>
          <dgm:chMax val="0"/>
          <dgm:bulletEnabled val="1"/>
        </dgm:presLayoutVars>
      </dgm:prSet>
      <dgm:spPr/>
    </dgm:pt>
    <dgm:pt modelId="{AB910E16-752A-4743-9EA8-C9F680447FE0}" type="pres">
      <dgm:prSet presAssocID="{4C7ECC28-3D71-4031-83C2-ADB36B9AD2D3}" presName="childText" presStyleLbl="revTx" presStyleIdx="0" presStyleCnt="1" custAng="0" custScaleY="246923" custLinFactNeighborY="28184">
        <dgm:presLayoutVars>
          <dgm:bulletEnabled val="1"/>
        </dgm:presLayoutVars>
      </dgm:prSet>
      <dgm:spPr/>
    </dgm:pt>
  </dgm:ptLst>
  <dgm:cxnLst>
    <dgm:cxn modelId="{A050340D-338E-490E-834C-C34D4138B2CA}" type="presOf" srcId="{B9327868-E8C4-4933-91A5-B06241E57FF7}" destId="{AB910E16-752A-4743-9EA8-C9F680447FE0}" srcOrd="0" destOrd="3" presId="urn:microsoft.com/office/officeart/2005/8/layout/vList2"/>
    <dgm:cxn modelId="{6D41612C-C801-41AB-858F-15DC475C3817}" type="presOf" srcId="{CFBCD687-B49E-4187-BBE0-D417F755DF64}" destId="{AB910E16-752A-4743-9EA8-C9F680447FE0}" srcOrd="0" destOrd="0" presId="urn:microsoft.com/office/officeart/2005/8/layout/vList2"/>
    <dgm:cxn modelId="{4540C12E-3BFD-4BE9-9979-FA5C32460034}" srcId="{4C7ECC28-3D71-4031-83C2-ADB36B9AD2D3}" destId="{CFBCD687-B49E-4187-BBE0-D417F755DF64}" srcOrd="0" destOrd="0" parTransId="{3B7B24EE-9D08-4D5C-87D9-E82504C74C19}" sibTransId="{B8E1A0CB-7C68-4B3B-AC3E-63C148235CF3}"/>
    <dgm:cxn modelId="{6041A534-2258-4B8F-BD84-432239F4B738}" srcId="{4C7ECC28-3D71-4031-83C2-ADB36B9AD2D3}" destId="{B9327868-E8C4-4933-91A5-B06241E57FF7}" srcOrd="3" destOrd="0" parTransId="{90576C12-243A-4F5E-9EBD-62E5402D7C0D}" sibTransId="{ECD51D6C-641F-47EF-9C27-BB142CA33082}"/>
    <dgm:cxn modelId="{43EF5343-AE1B-4EF3-A4E0-D5A8B356E414}" type="presOf" srcId="{4C7ECC28-3D71-4031-83C2-ADB36B9AD2D3}" destId="{0CECCBEA-FE88-4181-8497-87F6F3F92ECB}" srcOrd="0" destOrd="0" presId="urn:microsoft.com/office/officeart/2005/8/layout/vList2"/>
    <dgm:cxn modelId="{57FF8173-8A1D-4C8A-BE9F-6E73A7700DEA}" srcId="{4C7ECC28-3D71-4031-83C2-ADB36B9AD2D3}" destId="{95D908BE-153F-431F-B42B-9D10946E242E}" srcOrd="2" destOrd="0" parTransId="{0820F83A-1EC2-40B2-B159-E4D2C8BADBA6}" sibTransId="{D22B3300-3BD4-4259-B8F6-2A3262384738}"/>
    <dgm:cxn modelId="{1D43577A-F7D3-40D7-A436-5ADB60DBDBAC}" type="presOf" srcId="{325A3876-BCCB-404E-8B85-068F657818AC}" destId="{AB910E16-752A-4743-9EA8-C9F680447FE0}" srcOrd="0" destOrd="1" presId="urn:microsoft.com/office/officeart/2005/8/layout/vList2"/>
    <dgm:cxn modelId="{537CA9AA-FBF6-43D2-8FA7-7FC0DE34773D}" type="presOf" srcId="{EBEFAA9B-3CFE-4FE6-BF10-85D3FA9B4D61}" destId="{3383EB6A-94CD-4F5B-912B-C9BA22EE2B80}" srcOrd="0" destOrd="0" presId="urn:microsoft.com/office/officeart/2005/8/layout/vList2"/>
    <dgm:cxn modelId="{CD6063AC-325A-471B-B44D-30681E7C51E3}" srcId="{EBEFAA9B-3CFE-4FE6-BF10-85D3FA9B4D61}" destId="{4C7ECC28-3D71-4031-83C2-ADB36B9AD2D3}" srcOrd="0" destOrd="0" parTransId="{6CBDC37F-2FE4-400F-8732-DEA7811254DD}" sibTransId="{A769BF86-D11E-4359-AA8B-E9BE9140499D}"/>
    <dgm:cxn modelId="{D47FDEC3-D542-4D9B-839F-1E037913C028}" type="presOf" srcId="{95D908BE-153F-431F-B42B-9D10946E242E}" destId="{AB910E16-752A-4743-9EA8-C9F680447FE0}" srcOrd="0" destOrd="2" presId="urn:microsoft.com/office/officeart/2005/8/layout/vList2"/>
    <dgm:cxn modelId="{0C1525E3-F0F2-44F5-B0C3-47EFF9DFE670}" srcId="{4C7ECC28-3D71-4031-83C2-ADB36B9AD2D3}" destId="{325A3876-BCCB-404E-8B85-068F657818AC}" srcOrd="1" destOrd="0" parTransId="{39B00F01-7026-48D0-B95E-98CFDBA89E35}" sibTransId="{5868579F-93DE-4AE4-A6EA-C8741BEEEC45}"/>
    <dgm:cxn modelId="{C5DE0F31-E222-496A-8C35-312C7D52799D}" type="presParOf" srcId="{3383EB6A-94CD-4F5B-912B-C9BA22EE2B80}" destId="{0CECCBEA-FE88-4181-8497-87F6F3F92ECB}" srcOrd="0" destOrd="0" presId="urn:microsoft.com/office/officeart/2005/8/layout/vList2"/>
    <dgm:cxn modelId="{4671761B-E73C-4BC7-9895-9FD4641B7479}" type="presParOf" srcId="{3383EB6A-94CD-4F5B-912B-C9BA22EE2B80}" destId="{AB910E16-752A-4743-9EA8-C9F680447FE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ECCBEA-FE88-4181-8497-87F6F3F92ECB}">
      <dsp:nvSpPr>
        <dsp:cNvPr id="0" name=""/>
        <dsp:cNvSpPr/>
      </dsp:nvSpPr>
      <dsp:spPr>
        <a:xfrm>
          <a:off x="0" y="0"/>
          <a:ext cx="9848850" cy="60105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b="1" kern="1200" dirty="0"/>
            <a:t>Introduction</a:t>
          </a:r>
          <a:endParaRPr lang="en-IN" sz="4000" b="1" kern="1200" dirty="0"/>
        </a:p>
      </dsp:txBody>
      <dsp:txXfrm>
        <a:off x="29341" y="29341"/>
        <a:ext cx="9790168" cy="542377"/>
      </dsp:txXfrm>
    </dsp:sp>
    <dsp:sp modelId="{AB910E16-752A-4743-9EA8-C9F680447FE0}">
      <dsp:nvSpPr>
        <dsp:cNvPr id="0" name=""/>
        <dsp:cNvSpPr/>
      </dsp:nvSpPr>
      <dsp:spPr>
        <a:xfrm>
          <a:off x="0" y="605727"/>
          <a:ext cx="9848850" cy="513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2701" tIns="15240" rIns="85344" bIns="15240" numCol="1" spcCol="1270" anchor="t" anchorCtr="0">
          <a:noAutofit/>
        </a:bodyPr>
        <a:lstStyle/>
        <a:p>
          <a:pPr marL="114300" lvl="1" indent="-114300" algn="just" defTabSz="533400">
            <a:lnSpc>
              <a:spcPct val="90000"/>
            </a:lnSpc>
            <a:spcBef>
              <a:spcPct val="0"/>
            </a:spcBef>
            <a:spcAft>
              <a:spcPct val="20000"/>
            </a:spcAft>
            <a:buChar char="•"/>
          </a:pPr>
          <a:endParaRPr lang="en-IN" sz="1200" kern="1200" dirty="0"/>
        </a:p>
        <a:p>
          <a:pPr marL="171450" lvl="1" indent="-171450" algn="just" defTabSz="800100">
            <a:lnSpc>
              <a:spcPct val="200000"/>
            </a:lnSpc>
            <a:spcBef>
              <a:spcPct val="0"/>
            </a:spcBef>
            <a:spcAft>
              <a:spcPct val="20000"/>
            </a:spcAft>
            <a:buChar char="•"/>
          </a:pPr>
          <a:endParaRPr lang="en-IN" sz="1800" kern="1200" dirty="0">
            <a:latin typeface="Times New Roman" panose="02020603050405020304" pitchFamily="18" charset="0"/>
            <a:cs typeface="Times New Roman" panose="02020603050405020304" pitchFamily="18" charset="0"/>
          </a:endParaRPr>
        </a:p>
        <a:p>
          <a:pPr marL="171450" lvl="1" indent="-171450" algn="just" defTabSz="800100">
            <a:lnSpc>
              <a:spcPct val="200000"/>
            </a:lnSpc>
            <a:spcBef>
              <a:spcPct val="0"/>
            </a:spcBef>
            <a:spcAft>
              <a:spcPct val="20000"/>
            </a:spcAft>
            <a:buChar char="•"/>
          </a:pPr>
          <a:r>
            <a:rPr lang="en-IN" sz="1800" kern="1200" dirty="0">
              <a:latin typeface="Times New Roman" panose="02020603050405020304" pitchFamily="18" charset="0"/>
              <a:cs typeface="Times New Roman" panose="02020603050405020304" pitchFamily="18" charset="0"/>
            </a:rPr>
            <a:t>Website where people write different reviews for technical products. Now they are adding a new feature to their website i.e. The reviewer will have to add stars(rating) as well with the review. The rating is out 5 stars and it only has 5 options available 1 star, 2 stars, 3 stars, 4 stars, 5 stars. Now they want to predict ratings for the reviews which were written in the past and they don’t have a rating. So, we have to build an application which can predict the rating by seeing the review.</a:t>
          </a:r>
        </a:p>
        <a:p>
          <a:pPr marL="171450" lvl="1" indent="-171450" algn="just" defTabSz="800100">
            <a:lnSpc>
              <a:spcPct val="200000"/>
            </a:lnSpc>
            <a:spcBef>
              <a:spcPct val="0"/>
            </a:spcBef>
            <a:spcAft>
              <a:spcPct val="20000"/>
            </a:spcAft>
            <a:buChar char="•"/>
          </a:pPr>
          <a:r>
            <a:rPr lang="en-US" sz="1800" kern="1200" dirty="0">
              <a:latin typeface="Times New Roman" panose="02020603050405020304" pitchFamily="18" charset="0"/>
              <a:cs typeface="Times New Roman" panose="02020603050405020304" pitchFamily="18" charset="0"/>
            </a:rPr>
            <a:t>Initially the collection of the data of flight ticket price has been scrapped using selenium.</a:t>
          </a:r>
          <a:endParaRPr lang="en-IN" sz="1800" kern="1200" dirty="0">
            <a:latin typeface="Times New Roman" panose="02020603050405020304" pitchFamily="18" charset="0"/>
            <a:cs typeface="Times New Roman" panose="02020603050405020304" pitchFamily="18" charset="0"/>
          </a:endParaRPr>
        </a:p>
      </dsp:txBody>
      <dsp:txXfrm>
        <a:off x="0" y="605727"/>
        <a:ext cx="9848850" cy="513746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11/19/2021</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11/19/2021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24</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11/19/2021</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11/19/2021</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11/19/2021</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11/19/2021</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11/19/2021</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11/19/2021</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11/19/2021</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11/19/2021</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11/19/2021</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11/19/2021</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11/19/2021</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11/19/2021</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1928532"/>
            <a:ext cx="9144000" cy="2215991"/>
          </a:xfrm>
        </p:spPr>
        <p:txBody>
          <a:bodyPr lIns="0" tIns="0" rIns="0" bIns="0" anchor="t">
            <a:spAutoFit/>
          </a:bodyPr>
          <a:lstStyle/>
          <a:p>
            <a:r>
              <a:rPr lang="en-US" b="1" dirty="0">
                <a:solidFill>
                  <a:schemeClr val="bg1"/>
                </a:solidFill>
              </a:rPr>
              <a:t>Rating Prediction</a:t>
            </a:r>
            <a:br>
              <a:rPr lang="en-US" dirty="0">
                <a:solidFill>
                  <a:schemeClr val="bg1"/>
                </a:solidFill>
              </a:rPr>
            </a:br>
            <a:r>
              <a:rPr lang="en-US" sz="4000" dirty="0">
                <a:solidFill>
                  <a:schemeClr val="accent4"/>
                </a:solidFill>
              </a:rPr>
              <a:t>Submitted by</a:t>
            </a:r>
            <a:br>
              <a:rPr lang="en-US" sz="4000" dirty="0">
                <a:solidFill>
                  <a:schemeClr val="accent4"/>
                </a:solidFill>
              </a:rPr>
            </a:br>
            <a:r>
              <a:rPr lang="en-US" b="1" dirty="0">
                <a:solidFill>
                  <a:schemeClr val="bg1"/>
                </a:solidFill>
              </a:rPr>
              <a:t>Tushar Kumar Patel</a:t>
            </a:r>
            <a:endParaRPr lang="en-US" dirty="0">
              <a:solidFill>
                <a:schemeClr val="accent4"/>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402010" y="4930120"/>
            <a:ext cx="1387979" cy="125240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Project Analysis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4922136" y="2660650"/>
            <a:ext cx="2475660" cy="229552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Rating Prediction</a:t>
            </a:r>
          </a:p>
        </p:txBody>
      </p:sp>
      <p:sp>
        <p:nvSpPr>
          <p:cNvPr id="16" name="Rectangle: Rounded Corner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6943725" y="161387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Visualization</a:t>
            </a:r>
          </a:p>
        </p:txBody>
      </p:sp>
      <p:sp>
        <p:nvSpPr>
          <p:cNvPr id="15" name="Oval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B7F2E37-0ACF-4E8A-9C1D-EC5B65BA2906}"/>
              </a:ext>
              <a:ext uri="{C183D7F6-B498-43B3-948B-1728B52AA6E4}">
                <adec:decorative xmlns:adec="http://schemas.microsoft.com/office/drawing/2017/decorative" val="1"/>
              </a:ext>
            </a:extLst>
          </p:cNvPr>
          <p:cNvSpPr/>
          <p:nvPr/>
        </p:nvSpPr>
        <p:spPr>
          <a:xfrm>
            <a:off x="7693025" y="333472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Model</a:t>
            </a:r>
          </a:p>
        </p:txBody>
      </p:sp>
      <p:sp>
        <p:nvSpPr>
          <p:cNvPr id="20" name="Oval 19">
            <a:extLst>
              <a:ext uri="{FF2B5EF4-FFF2-40B4-BE49-F238E27FC236}">
                <a16:creationId xmlns:a16="http://schemas.microsoft.com/office/drawing/2014/main" id="{88F812F5-70AF-4FBD-80D9-D59B3C456D5E}"/>
              </a:ext>
              <a:ext uri="{C183D7F6-B498-43B3-948B-1728B52AA6E4}">
                <adec:decorative xmlns:adec="http://schemas.microsoft.com/office/drawing/2017/decorative" val="1"/>
              </a:ext>
            </a:extLst>
          </p:cNvPr>
          <p:cNvSpPr/>
          <p:nvPr/>
        </p:nvSpPr>
        <p:spPr>
          <a:xfrm>
            <a:off x="7490264"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952C5002-7E64-4069-ACA0-6876E54A9B46}"/>
              </a:ext>
              <a:ext uri="{C183D7F6-B498-43B3-948B-1728B52AA6E4}">
                <adec:decorative xmlns:adec="http://schemas.microsoft.com/office/drawing/2017/decorative" val="1"/>
              </a:ext>
            </a:extLst>
          </p:cNvPr>
          <p:cNvSpPr/>
          <p:nvPr/>
        </p:nvSpPr>
        <p:spPr>
          <a:xfrm>
            <a:off x="6943725" y="5154978"/>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Conclusion</a:t>
            </a:r>
          </a:p>
        </p:txBody>
      </p:sp>
      <p:sp>
        <p:nvSpPr>
          <p:cNvPr id="22" name="Oval 21">
            <a:extLst>
              <a:ext uri="{FF2B5EF4-FFF2-40B4-BE49-F238E27FC236}">
                <a16:creationId xmlns:a16="http://schemas.microsoft.com/office/drawing/2014/main" id="{A49C5F3A-6F0D-4A0F-AE6E-92F342C22ACD}"/>
              </a:ext>
              <a:ext uri="{C183D7F6-B498-43B3-948B-1728B52AA6E4}">
                <adec:decorative xmlns:adec="http://schemas.microsoft.com/office/drawing/2017/decorative" val="1"/>
              </a:ext>
            </a:extLst>
          </p:cNvPr>
          <p:cNvSpPr/>
          <p:nvPr/>
        </p:nvSpPr>
        <p:spPr>
          <a:xfrm>
            <a:off x="6832600" y="5055576"/>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1587500" y="161387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t>Inrtoduction</a:t>
            </a:r>
            <a:endParaRPr lang="en-US" sz="1600" dirty="0"/>
          </a:p>
        </p:txBody>
      </p:sp>
      <p:sp>
        <p:nvSpPr>
          <p:cNvPr id="26" name="Oval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Rounded Corners 26">
            <a:extLst>
              <a:ext uri="{FF2B5EF4-FFF2-40B4-BE49-F238E27FC236}">
                <a16:creationId xmlns:a16="http://schemas.microsoft.com/office/drawing/2014/main" id="{71BB375D-5EE6-4428-9817-2C7DB6B94332}"/>
              </a:ext>
              <a:ext uri="{C183D7F6-B498-43B3-948B-1728B52AA6E4}">
                <adec:decorative xmlns:adec="http://schemas.microsoft.com/office/drawing/2017/decorative" val="1"/>
              </a:ext>
            </a:extLst>
          </p:cNvPr>
          <p:cNvSpPr/>
          <p:nvPr/>
        </p:nvSpPr>
        <p:spPr>
          <a:xfrm>
            <a:off x="838200" y="333472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Dataset and Features</a:t>
            </a:r>
          </a:p>
        </p:txBody>
      </p:sp>
      <p:sp>
        <p:nvSpPr>
          <p:cNvPr id="28" name="Oval 27">
            <a:extLst>
              <a:ext uri="{FF2B5EF4-FFF2-40B4-BE49-F238E27FC236}">
                <a16:creationId xmlns:a16="http://schemas.microsoft.com/office/drawing/2014/main" id="{B3A511B7-C7F3-4107-9962-1E10D2E087DD}"/>
              </a:ext>
              <a:ext uri="{C183D7F6-B498-43B3-948B-1728B52AA6E4}">
                <adec:decorative xmlns:adec="http://schemas.microsoft.com/office/drawing/2017/decorative" val="1"/>
              </a:ext>
            </a:extLst>
          </p:cNvPr>
          <p:cNvSpPr/>
          <p:nvPr/>
        </p:nvSpPr>
        <p:spPr>
          <a:xfrm>
            <a:off x="3670300" y="323532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Rounded Corners 28">
            <a:extLst>
              <a:ext uri="{FF2B5EF4-FFF2-40B4-BE49-F238E27FC236}">
                <a16:creationId xmlns:a16="http://schemas.microsoft.com/office/drawing/2014/main" id="{D4D7D4B6-62C2-45AB-89A5-3A41DA021FD2}"/>
              </a:ext>
              <a:ext uri="{C183D7F6-B498-43B3-948B-1728B52AA6E4}">
                <adec:decorative xmlns:adec="http://schemas.microsoft.com/office/drawing/2017/decorative" val="1"/>
              </a:ext>
            </a:extLst>
          </p:cNvPr>
          <p:cNvSpPr/>
          <p:nvPr/>
        </p:nvSpPr>
        <p:spPr>
          <a:xfrm>
            <a:off x="1587500" y="5154978"/>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Processing</a:t>
            </a:r>
          </a:p>
        </p:txBody>
      </p:sp>
      <p:sp>
        <p:nvSpPr>
          <p:cNvPr id="30" name="Oval 29">
            <a:extLst>
              <a:ext uri="{FF2B5EF4-FFF2-40B4-BE49-F238E27FC236}">
                <a16:creationId xmlns:a16="http://schemas.microsoft.com/office/drawing/2014/main" id="{83902602-D4BC-4D44-AC14-BB55A86C5D06}"/>
              </a:ext>
              <a:ext uri="{C183D7F6-B498-43B3-948B-1728B52AA6E4}">
                <adec:decorative xmlns:adec="http://schemas.microsoft.com/office/drawing/2017/decorative" val="1"/>
              </a:ext>
            </a:extLst>
          </p:cNvPr>
          <p:cNvSpPr/>
          <p:nvPr/>
        </p:nvSpPr>
        <p:spPr>
          <a:xfrm>
            <a:off x="4419600" y="5055576"/>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descr="Icons of bar chart and line graph.">
            <a:extLst>
              <a:ext uri="{FF2B5EF4-FFF2-40B4-BE49-F238E27FC236}">
                <a16:creationId xmlns:a16="http://schemas.microsoft.com/office/drawing/2014/main" id="{044C3643-8A0E-47C1-BEB8-C73203B5E58D}"/>
              </a:ext>
            </a:extLst>
          </p:cNvPr>
          <p:cNvGrpSpPr/>
          <p:nvPr/>
        </p:nvGrpSpPr>
        <p:grpSpPr>
          <a:xfrm>
            <a:off x="7133464" y="1774031"/>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6FB02354-C73F-4DCF-8004-E9CCA66963EA}"/>
              </a:ext>
            </a:extLst>
          </p:cNvPr>
          <p:cNvSpPr>
            <a:spLocks noEditPoints="1"/>
          </p:cNvSpPr>
          <p:nvPr/>
        </p:nvSpPr>
        <p:spPr bwMode="auto">
          <a:xfrm>
            <a:off x="4717582" y="1774031"/>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4665" descr="Icon of graph. ">
            <a:extLst>
              <a:ext uri="{FF2B5EF4-FFF2-40B4-BE49-F238E27FC236}">
                <a16:creationId xmlns:a16="http://schemas.microsoft.com/office/drawing/2014/main" id="{557E39B2-E017-4E5C-B53E-DDE3B9D4C92C}"/>
              </a:ext>
            </a:extLst>
          </p:cNvPr>
          <p:cNvSpPr>
            <a:spLocks/>
          </p:cNvSpPr>
          <p:nvPr/>
        </p:nvSpPr>
        <p:spPr bwMode="auto">
          <a:xfrm>
            <a:off x="7877961" y="3531386"/>
            <a:ext cx="347679" cy="347679"/>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36" name="Group 35" descr="Icon of human being and gear. ">
            <a:extLst>
              <a:ext uri="{FF2B5EF4-FFF2-40B4-BE49-F238E27FC236}">
                <a16:creationId xmlns:a16="http://schemas.microsoft.com/office/drawing/2014/main" id="{ECC5F635-1712-4572-A9EC-F94E2199DDBD}"/>
              </a:ext>
            </a:extLst>
          </p:cNvPr>
          <p:cNvGrpSpPr/>
          <p:nvPr/>
        </p:nvGrpSpPr>
        <p:grpSpPr>
          <a:xfrm>
            <a:off x="7133464" y="5355478"/>
            <a:ext cx="338073" cy="339996"/>
            <a:chOff x="6450013" y="5349875"/>
            <a:chExt cx="279399" cy="280988"/>
          </a:xfrm>
          <a:solidFill>
            <a:schemeClr val="bg1"/>
          </a:solidFill>
        </p:grpSpPr>
        <p:sp>
          <p:nvSpPr>
            <p:cNvPr id="37" name="Freeform 3673">
              <a:extLst>
                <a:ext uri="{FF2B5EF4-FFF2-40B4-BE49-F238E27FC236}">
                  <a16:creationId xmlns:a16="http://schemas.microsoft.com/office/drawing/2014/main" id="{D1391604-D4EC-48A8-AE57-EDF194392FB1}"/>
                </a:ext>
              </a:extLst>
            </p:cNvPr>
            <p:cNvSpPr>
              <a:spLocks/>
            </p:cNvSpPr>
            <p:nvPr/>
          </p:nvSpPr>
          <p:spPr bwMode="auto">
            <a:xfrm>
              <a:off x="6450013" y="5349875"/>
              <a:ext cx="182562" cy="238125"/>
            </a:xfrm>
            <a:custGeom>
              <a:avLst/>
              <a:gdLst>
                <a:gd name="T0" fmla="*/ 379 w 459"/>
                <a:gd name="T1" fmla="*/ 550 h 602"/>
                <a:gd name="T2" fmla="*/ 380 w 459"/>
                <a:gd name="T3" fmla="*/ 519 h 602"/>
                <a:gd name="T4" fmla="*/ 345 w 459"/>
                <a:gd name="T5" fmla="*/ 495 h 602"/>
                <a:gd name="T6" fmla="*/ 397 w 459"/>
                <a:gd name="T7" fmla="*/ 400 h 602"/>
                <a:gd name="T8" fmla="*/ 408 w 459"/>
                <a:gd name="T9" fmla="*/ 395 h 602"/>
                <a:gd name="T10" fmla="*/ 450 w 459"/>
                <a:gd name="T11" fmla="*/ 406 h 602"/>
                <a:gd name="T12" fmla="*/ 412 w 459"/>
                <a:gd name="T13" fmla="*/ 384 h 602"/>
                <a:gd name="T14" fmla="*/ 376 w 459"/>
                <a:gd name="T15" fmla="*/ 370 h 602"/>
                <a:gd name="T16" fmla="*/ 361 w 459"/>
                <a:gd name="T17" fmla="*/ 307 h 602"/>
                <a:gd name="T18" fmla="*/ 379 w 459"/>
                <a:gd name="T19" fmla="*/ 288 h 602"/>
                <a:gd name="T20" fmla="*/ 397 w 459"/>
                <a:gd name="T21" fmla="*/ 252 h 602"/>
                <a:gd name="T22" fmla="*/ 406 w 459"/>
                <a:gd name="T23" fmla="*/ 214 h 602"/>
                <a:gd name="T24" fmla="*/ 415 w 459"/>
                <a:gd name="T25" fmla="*/ 202 h 602"/>
                <a:gd name="T26" fmla="*/ 420 w 459"/>
                <a:gd name="T27" fmla="*/ 183 h 602"/>
                <a:gd name="T28" fmla="*/ 416 w 459"/>
                <a:gd name="T29" fmla="*/ 152 h 602"/>
                <a:gd name="T30" fmla="*/ 412 w 459"/>
                <a:gd name="T31" fmla="*/ 121 h 602"/>
                <a:gd name="T32" fmla="*/ 420 w 459"/>
                <a:gd name="T33" fmla="*/ 78 h 602"/>
                <a:gd name="T34" fmla="*/ 415 w 459"/>
                <a:gd name="T35" fmla="*/ 45 h 602"/>
                <a:gd name="T36" fmla="*/ 403 w 459"/>
                <a:gd name="T37" fmla="*/ 27 h 602"/>
                <a:gd name="T38" fmla="*/ 382 w 459"/>
                <a:gd name="T39" fmla="*/ 15 h 602"/>
                <a:gd name="T40" fmla="*/ 341 w 459"/>
                <a:gd name="T41" fmla="*/ 3 h 602"/>
                <a:gd name="T42" fmla="*/ 291 w 459"/>
                <a:gd name="T43" fmla="*/ 0 h 602"/>
                <a:gd name="T44" fmla="*/ 245 w 459"/>
                <a:gd name="T45" fmla="*/ 9 h 602"/>
                <a:gd name="T46" fmla="*/ 213 w 459"/>
                <a:gd name="T47" fmla="*/ 27 h 602"/>
                <a:gd name="T48" fmla="*/ 201 w 459"/>
                <a:gd name="T49" fmla="*/ 42 h 602"/>
                <a:gd name="T50" fmla="*/ 181 w 459"/>
                <a:gd name="T51" fmla="*/ 44 h 602"/>
                <a:gd name="T52" fmla="*/ 163 w 459"/>
                <a:gd name="T53" fmla="*/ 56 h 602"/>
                <a:gd name="T54" fmla="*/ 155 w 459"/>
                <a:gd name="T55" fmla="*/ 87 h 602"/>
                <a:gd name="T56" fmla="*/ 164 w 459"/>
                <a:gd name="T57" fmla="*/ 138 h 602"/>
                <a:gd name="T58" fmla="*/ 159 w 459"/>
                <a:gd name="T59" fmla="*/ 144 h 602"/>
                <a:gd name="T60" fmla="*/ 150 w 459"/>
                <a:gd name="T61" fmla="*/ 162 h 602"/>
                <a:gd name="T62" fmla="*/ 149 w 459"/>
                <a:gd name="T63" fmla="*/ 184 h 602"/>
                <a:gd name="T64" fmla="*/ 154 w 459"/>
                <a:gd name="T65" fmla="*/ 201 h 602"/>
                <a:gd name="T66" fmla="*/ 163 w 459"/>
                <a:gd name="T67" fmla="*/ 214 h 602"/>
                <a:gd name="T68" fmla="*/ 169 w 459"/>
                <a:gd name="T69" fmla="*/ 237 h 602"/>
                <a:gd name="T70" fmla="*/ 179 w 459"/>
                <a:gd name="T71" fmla="*/ 271 h 602"/>
                <a:gd name="T72" fmla="*/ 203 w 459"/>
                <a:gd name="T73" fmla="*/ 306 h 602"/>
                <a:gd name="T74" fmla="*/ 215 w 459"/>
                <a:gd name="T75" fmla="*/ 364 h 602"/>
                <a:gd name="T76" fmla="*/ 171 w 459"/>
                <a:gd name="T77" fmla="*/ 381 h 602"/>
                <a:gd name="T78" fmla="*/ 106 w 459"/>
                <a:gd name="T79" fmla="*/ 401 h 602"/>
                <a:gd name="T80" fmla="*/ 46 w 459"/>
                <a:gd name="T81" fmla="*/ 428 h 602"/>
                <a:gd name="T82" fmla="*/ 22 w 459"/>
                <a:gd name="T83" fmla="*/ 449 h 602"/>
                <a:gd name="T84" fmla="*/ 10 w 459"/>
                <a:gd name="T85" fmla="*/ 479 h 602"/>
                <a:gd name="T86" fmla="*/ 2 w 459"/>
                <a:gd name="T87" fmla="*/ 540 h 602"/>
                <a:gd name="T88" fmla="*/ 1 w 459"/>
                <a:gd name="T89" fmla="*/ 594 h 602"/>
                <a:gd name="T90" fmla="*/ 11 w 459"/>
                <a:gd name="T91" fmla="*/ 602 h 602"/>
                <a:gd name="T92" fmla="*/ 345 w 459"/>
                <a:gd name="T93" fmla="*/ 589 h 602"/>
                <a:gd name="T94" fmla="*/ 352 w 459"/>
                <a:gd name="T95" fmla="*/ 577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9" h="602">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3674">
              <a:extLst>
                <a:ext uri="{FF2B5EF4-FFF2-40B4-BE49-F238E27FC236}">
                  <a16:creationId xmlns:a16="http://schemas.microsoft.com/office/drawing/2014/main" id="{44A4D0F8-0767-41BC-BE62-0AED99EC8B25}"/>
                </a:ext>
              </a:extLst>
            </p:cNvPr>
            <p:cNvSpPr>
              <a:spLocks noEditPoints="1"/>
            </p:cNvSpPr>
            <p:nvPr/>
          </p:nvSpPr>
          <p:spPr bwMode="auto">
            <a:xfrm>
              <a:off x="6597650" y="5497513"/>
              <a:ext cx="131762" cy="133350"/>
            </a:xfrm>
            <a:custGeom>
              <a:avLst/>
              <a:gdLst>
                <a:gd name="T0" fmla="*/ 151 w 332"/>
                <a:gd name="T1" fmla="*/ 243 h 336"/>
                <a:gd name="T2" fmla="*/ 129 w 332"/>
                <a:gd name="T3" fmla="*/ 235 h 336"/>
                <a:gd name="T4" fmla="*/ 111 w 332"/>
                <a:gd name="T5" fmla="*/ 222 h 336"/>
                <a:gd name="T6" fmla="*/ 97 w 332"/>
                <a:gd name="T7" fmla="*/ 204 h 336"/>
                <a:gd name="T8" fmla="*/ 89 w 332"/>
                <a:gd name="T9" fmla="*/ 182 h 336"/>
                <a:gd name="T10" fmla="*/ 88 w 332"/>
                <a:gd name="T11" fmla="*/ 159 h 336"/>
                <a:gd name="T12" fmla="*/ 94 w 332"/>
                <a:gd name="T13" fmla="*/ 136 h 336"/>
                <a:gd name="T14" fmla="*/ 106 w 332"/>
                <a:gd name="T15" fmla="*/ 117 h 336"/>
                <a:gd name="T16" fmla="*/ 122 w 332"/>
                <a:gd name="T17" fmla="*/ 103 h 336"/>
                <a:gd name="T18" fmla="*/ 143 w 332"/>
                <a:gd name="T19" fmla="*/ 92 h 336"/>
                <a:gd name="T20" fmla="*/ 166 w 332"/>
                <a:gd name="T21" fmla="*/ 89 h 336"/>
                <a:gd name="T22" fmla="*/ 189 w 332"/>
                <a:gd name="T23" fmla="*/ 92 h 336"/>
                <a:gd name="T24" fmla="*/ 210 w 332"/>
                <a:gd name="T25" fmla="*/ 103 h 336"/>
                <a:gd name="T26" fmla="*/ 226 w 332"/>
                <a:gd name="T27" fmla="*/ 117 h 336"/>
                <a:gd name="T28" fmla="*/ 238 w 332"/>
                <a:gd name="T29" fmla="*/ 136 h 336"/>
                <a:gd name="T30" fmla="*/ 243 w 332"/>
                <a:gd name="T31" fmla="*/ 159 h 336"/>
                <a:gd name="T32" fmla="*/ 242 w 332"/>
                <a:gd name="T33" fmla="*/ 182 h 336"/>
                <a:gd name="T34" fmla="*/ 234 w 332"/>
                <a:gd name="T35" fmla="*/ 204 h 336"/>
                <a:gd name="T36" fmla="*/ 221 w 332"/>
                <a:gd name="T37" fmla="*/ 222 h 336"/>
                <a:gd name="T38" fmla="*/ 203 w 332"/>
                <a:gd name="T39" fmla="*/ 235 h 336"/>
                <a:gd name="T40" fmla="*/ 181 w 332"/>
                <a:gd name="T41" fmla="*/ 243 h 336"/>
                <a:gd name="T42" fmla="*/ 306 w 332"/>
                <a:gd name="T43" fmla="*/ 204 h 336"/>
                <a:gd name="T44" fmla="*/ 300 w 332"/>
                <a:gd name="T45" fmla="*/ 195 h 336"/>
                <a:gd name="T46" fmla="*/ 302 w 332"/>
                <a:gd name="T47" fmla="*/ 167 h 336"/>
                <a:gd name="T48" fmla="*/ 300 w 332"/>
                <a:gd name="T49" fmla="*/ 139 h 336"/>
                <a:gd name="T50" fmla="*/ 306 w 332"/>
                <a:gd name="T51" fmla="*/ 130 h 336"/>
                <a:gd name="T52" fmla="*/ 269 w 332"/>
                <a:gd name="T53" fmla="*/ 64 h 336"/>
                <a:gd name="T54" fmla="*/ 257 w 332"/>
                <a:gd name="T55" fmla="*/ 65 h 336"/>
                <a:gd name="T56" fmla="*/ 242 w 332"/>
                <a:gd name="T57" fmla="*/ 53 h 336"/>
                <a:gd name="T58" fmla="*/ 215 w 332"/>
                <a:gd name="T59" fmla="*/ 35 h 336"/>
                <a:gd name="T60" fmla="*/ 207 w 332"/>
                <a:gd name="T61" fmla="*/ 27 h 336"/>
                <a:gd name="T62" fmla="*/ 135 w 332"/>
                <a:gd name="T63" fmla="*/ 0 h 336"/>
                <a:gd name="T64" fmla="*/ 133 w 332"/>
                <a:gd name="T65" fmla="*/ 31 h 336"/>
                <a:gd name="T66" fmla="*/ 113 w 332"/>
                <a:gd name="T67" fmla="*/ 41 h 336"/>
                <a:gd name="T68" fmla="*/ 77 w 332"/>
                <a:gd name="T69" fmla="*/ 63 h 336"/>
                <a:gd name="T70" fmla="*/ 67 w 332"/>
                <a:gd name="T71" fmla="*/ 65 h 336"/>
                <a:gd name="T72" fmla="*/ 0 w 332"/>
                <a:gd name="T73" fmla="*/ 114 h 336"/>
                <a:gd name="T74" fmla="*/ 31 w 332"/>
                <a:gd name="T75" fmla="*/ 135 h 336"/>
                <a:gd name="T76" fmla="*/ 30 w 332"/>
                <a:gd name="T77" fmla="*/ 154 h 336"/>
                <a:gd name="T78" fmla="*/ 31 w 332"/>
                <a:gd name="T79" fmla="*/ 191 h 336"/>
                <a:gd name="T80" fmla="*/ 29 w 332"/>
                <a:gd name="T81" fmla="*/ 202 h 336"/>
                <a:gd name="T82" fmla="*/ 38 w 332"/>
                <a:gd name="T83" fmla="*/ 284 h 336"/>
                <a:gd name="T84" fmla="*/ 71 w 332"/>
                <a:gd name="T85" fmla="*/ 267 h 336"/>
                <a:gd name="T86" fmla="*/ 89 w 332"/>
                <a:gd name="T87" fmla="*/ 279 h 336"/>
                <a:gd name="T88" fmla="*/ 139 w 332"/>
                <a:gd name="T89" fmla="*/ 300 h 336"/>
                <a:gd name="T90" fmla="*/ 146 w 332"/>
                <a:gd name="T91" fmla="*/ 308 h 336"/>
                <a:gd name="T92" fmla="*/ 207 w 332"/>
                <a:gd name="T93" fmla="*/ 336 h 336"/>
                <a:gd name="T94" fmla="*/ 208 w 332"/>
                <a:gd name="T95" fmla="*/ 306 h 336"/>
                <a:gd name="T96" fmla="*/ 223 w 332"/>
                <a:gd name="T97" fmla="*/ 297 h 336"/>
                <a:gd name="T98" fmla="*/ 246 w 332"/>
                <a:gd name="T99" fmla="*/ 279 h 336"/>
                <a:gd name="T100" fmla="*/ 257 w 332"/>
                <a:gd name="T101" fmla="*/ 268 h 336"/>
                <a:gd name="T102" fmla="*/ 269 w 332"/>
                <a:gd name="T103" fmla="*/ 270 h 336"/>
                <a:gd name="T104" fmla="*/ 306 w 332"/>
                <a:gd name="T105" fmla="*/ 20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2" h="336">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9" name="Group 38" descr="Icon of gears. ">
            <a:extLst>
              <a:ext uri="{FF2B5EF4-FFF2-40B4-BE49-F238E27FC236}">
                <a16:creationId xmlns:a16="http://schemas.microsoft.com/office/drawing/2014/main" id="{5BC0E3F0-447D-4721-AB1F-C8243BA36671}"/>
              </a:ext>
            </a:extLst>
          </p:cNvPr>
          <p:cNvGrpSpPr/>
          <p:nvPr/>
        </p:nvGrpSpPr>
        <p:grpSpPr>
          <a:xfrm>
            <a:off x="4717582" y="5353558"/>
            <a:ext cx="343837" cy="343837"/>
            <a:chOff x="7613650" y="1387475"/>
            <a:chExt cx="284163" cy="284163"/>
          </a:xfrm>
          <a:solidFill>
            <a:schemeClr val="bg1"/>
          </a:solidFill>
        </p:grpSpPr>
        <p:sp>
          <p:nvSpPr>
            <p:cNvPr id="40" name="Freeform 4359">
              <a:extLst>
                <a:ext uri="{FF2B5EF4-FFF2-40B4-BE49-F238E27FC236}">
                  <a16:creationId xmlns:a16="http://schemas.microsoft.com/office/drawing/2014/main" id="{351831F3-9830-4A23-8B34-11A3FCCA027E}"/>
                </a:ext>
              </a:extLst>
            </p:cNvPr>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1" name="Freeform 4360">
              <a:extLst>
                <a:ext uri="{FF2B5EF4-FFF2-40B4-BE49-F238E27FC236}">
                  <a16:creationId xmlns:a16="http://schemas.microsoft.com/office/drawing/2014/main" id="{CDB8F87B-81A2-480F-ADA8-BFB5FD890ACD}"/>
                </a:ext>
              </a:extLst>
            </p:cNvPr>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2" name="Freeform 4346" descr="Icon of box and whisker chart. ">
            <a:extLst>
              <a:ext uri="{FF2B5EF4-FFF2-40B4-BE49-F238E27FC236}">
                <a16:creationId xmlns:a16="http://schemas.microsoft.com/office/drawing/2014/main" id="{D131817A-5B27-4718-8BAC-45C9CEDA45D9}"/>
              </a:ext>
            </a:extLst>
          </p:cNvPr>
          <p:cNvSpPr>
            <a:spLocks noEditPoints="1"/>
          </p:cNvSpPr>
          <p:nvPr/>
        </p:nvSpPr>
        <p:spPr bwMode="auto">
          <a:xfrm>
            <a:off x="3967321" y="3532346"/>
            <a:ext cx="345758" cy="345758"/>
          </a:xfrm>
          <a:custGeom>
            <a:avLst/>
            <a:gdLst>
              <a:gd name="T0" fmla="*/ 706 w 898"/>
              <a:gd name="T1" fmla="*/ 479 h 898"/>
              <a:gd name="T2" fmla="*/ 652 w 898"/>
              <a:gd name="T3" fmla="*/ 556 h 898"/>
              <a:gd name="T4" fmla="*/ 632 w 898"/>
              <a:gd name="T5" fmla="*/ 551 h 898"/>
              <a:gd name="T6" fmla="*/ 576 w 898"/>
              <a:gd name="T7" fmla="*/ 477 h 898"/>
              <a:gd name="T8" fmla="*/ 571 w 898"/>
              <a:gd name="T9" fmla="*/ 398 h 898"/>
              <a:gd name="T10" fmla="*/ 628 w 898"/>
              <a:gd name="T11" fmla="*/ 129 h 898"/>
              <a:gd name="T12" fmla="*/ 643 w 898"/>
              <a:gd name="T13" fmla="*/ 114 h 898"/>
              <a:gd name="T14" fmla="*/ 658 w 898"/>
              <a:gd name="T15" fmla="*/ 129 h 898"/>
              <a:gd name="T16" fmla="*/ 717 w 898"/>
              <a:gd name="T17" fmla="*/ 398 h 898"/>
              <a:gd name="T18" fmla="*/ 621 w 898"/>
              <a:gd name="T19" fmla="*/ 758 h 898"/>
              <a:gd name="T20" fmla="*/ 589 w 898"/>
              <a:gd name="T21" fmla="*/ 727 h 898"/>
              <a:gd name="T22" fmla="*/ 589 w 898"/>
              <a:gd name="T23" fmla="*/ 680 h 898"/>
              <a:gd name="T24" fmla="*/ 621 w 898"/>
              <a:gd name="T25" fmla="*/ 648 h 898"/>
              <a:gd name="T26" fmla="*/ 667 w 898"/>
              <a:gd name="T27" fmla="*/ 648 h 898"/>
              <a:gd name="T28" fmla="*/ 699 w 898"/>
              <a:gd name="T29" fmla="*/ 680 h 898"/>
              <a:gd name="T30" fmla="*/ 699 w 898"/>
              <a:gd name="T31" fmla="*/ 727 h 898"/>
              <a:gd name="T32" fmla="*/ 667 w 898"/>
              <a:gd name="T33" fmla="*/ 758 h 898"/>
              <a:gd name="T34" fmla="*/ 536 w 898"/>
              <a:gd name="T35" fmla="*/ 294 h 898"/>
              <a:gd name="T36" fmla="*/ 479 w 898"/>
              <a:gd name="T37" fmla="*/ 546 h 898"/>
              <a:gd name="T38" fmla="*/ 461 w 898"/>
              <a:gd name="T39" fmla="*/ 558 h 898"/>
              <a:gd name="T40" fmla="*/ 450 w 898"/>
              <a:gd name="T41" fmla="*/ 299 h 898"/>
              <a:gd name="T42" fmla="*/ 390 w 898"/>
              <a:gd name="T43" fmla="*/ 287 h 898"/>
              <a:gd name="T44" fmla="*/ 398 w 898"/>
              <a:gd name="T45" fmla="*/ 211 h 898"/>
              <a:gd name="T46" fmla="*/ 454 w 898"/>
              <a:gd name="T47" fmla="*/ 118 h 898"/>
              <a:gd name="T48" fmla="*/ 475 w 898"/>
              <a:gd name="T49" fmla="*/ 118 h 898"/>
              <a:gd name="T50" fmla="*/ 530 w 898"/>
              <a:gd name="T51" fmla="*/ 211 h 898"/>
              <a:gd name="T52" fmla="*/ 465 w 898"/>
              <a:gd name="T53" fmla="*/ 763 h 898"/>
              <a:gd name="T54" fmla="*/ 422 w 898"/>
              <a:gd name="T55" fmla="*/ 745 h 898"/>
              <a:gd name="T56" fmla="*/ 405 w 898"/>
              <a:gd name="T57" fmla="*/ 703 h 898"/>
              <a:gd name="T58" fmla="*/ 422 w 898"/>
              <a:gd name="T59" fmla="*/ 661 h 898"/>
              <a:gd name="T60" fmla="*/ 465 w 898"/>
              <a:gd name="T61" fmla="*/ 643 h 898"/>
              <a:gd name="T62" fmla="*/ 506 w 898"/>
              <a:gd name="T63" fmla="*/ 661 h 898"/>
              <a:gd name="T64" fmla="*/ 525 w 898"/>
              <a:gd name="T65" fmla="*/ 703 h 898"/>
              <a:gd name="T66" fmla="*/ 506 w 898"/>
              <a:gd name="T67" fmla="*/ 745 h 898"/>
              <a:gd name="T68" fmla="*/ 465 w 898"/>
              <a:gd name="T69" fmla="*/ 763 h 898"/>
              <a:gd name="T70" fmla="*/ 318 w 898"/>
              <a:gd name="T71" fmla="*/ 419 h 898"/>
              <a:gd name="T72" fmla="*/ 263 w 898"/>
              <a:gd name="T73" fmla="*/ 556 h 898"/>
              <a:gd name="T74" fmla="*/ 242 w 898"/>
              <a:gd name="T75" fmla="*/ 551 h 898"/>
              <a:gd name="T76" fmla="*/ 186 w 898"/>
              <a:gd name="T77" fmla="*/ 417 h 898"/>
              <a:gd name="T78" fmla="*/ 181 w 898"/>
              <a:gd name="T79" fmla="*/ 339 h 898"/>
              <a:gd name="T80" fmla="*/ 240 w 898"/>
              <a:gd name="T81" fmla="*/ 129 h 898"/>
              <a:gd name="T82" fmla="*/ 255 w 898"/>
              <a:gd name="T83" fmla="*/ 114 h 898"/>
              <a:gd name="T84" fmla="*/ 270 w 898"/>
              <a:gd name="T85" fmla="*/ 129 h 898"/>
              <a:gd name="T86" fmla="*/ 329 w 898"/>
              <a:gd name="T87" fmla="*/ 339 h 898"/>
              <a:gd name="T88" fmla="*/ 231 w 898"/>
              <a:gd name="T89" fmla="*/ 758 h 898"/>
              <a:gd name="T90" fmla="*/ 200 w 898"/>
              <a:gd name="T91" fmla="*/ 727 h 898"/>
              <a:gd name="T92" fmla="*/ 200 w 898"/>
              <a:gd name="T93" fmla="*/ 680 h 898"/>
              <a:gd name="T94" fmla="*/ 231 w 898"/>
              <a:gd name="T95" fmla="*/ 648 h 898"/>
              <a:gd name="T96" fmla="*/ 278 w 898"/>
              <a:gd name="T97" fmla="*/ 648 h 898"/>
              <a:gd name="T98" fmla="*/ 311 w 898"/>
              <a:gd name="T99" fmla="*/ 680 h 898"/>
              <a:gd name="T100" fmla="*/ 311 w 898"/>
              <a:gd name="T101" fmla="*/ 727 h 898"/>
              <a:gd name="T102" fmla="*/ 278 w 898"/>
              <a:gd name="T103" fmla="*/ 758 h 898"/>
              <a:gd name="T104" fmla="*/ 10 w 898"/>
              <a:gd name="T105" fmla="*/ 2 h 898"/>
              <a:gd name="T106" fmla="*/ 1 w 898"/>
              <a:gd name="T107" fmla="*/ 886 h 898"/>
              <a:gd name="T108" fmla="*/ 883 w 898"/>
              <a:gd name="T109" fmla="*/ 898 h 898"/>
              <a:gd name="T110" fmla="*/ 898 w 898"/>
              <a:gd name="T111" fmla="*/ 883 h 898"/>
              <a:gd name="T112" fmla="*/ 886 w 898"/>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8" h="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EC5CCFB-F751-444D-8A40-86CAFE4EE608}"/>
              </a:ext>
            </a:extLst>
          </p:cNvPr>
          <p:cNvGraphicFramePr/>
          <p:nvPr>
            <p:extLst>
              <p:ext uri="{D42A27DB-BD31-4B8C-83A1-F6EECF244321}">
                <p14:modId xmlns:p14="http://schemas.microsoft.com/office/powerpoint/2010/main" val="1890575197"/>
              </p:ext>
            </p:extLst>
          </p:nvPr>
        </p:nvGraphicFramePr>
        <p:xfrm>
          <a:off x="1171575" y="209550"/>
          <a:ext cx="9848850" cy="57431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1087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33B776-CBEC-46C1-B728-98C6734EB4D0}"/>
              </a:ext>
            </a:extLst>
          </p:cNvPr>
          <p:cNvSpPr txBox="1"/>
          <p:nvPr/>
        </p:nvSpPr>
        <p:spPr>
          <a:xfrm>
            <a:off x="544435" y="456991"/>
            <a:ext cx="9651985"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3200" b="1" i="1" dirty="0">
                <a:solidFill>
                  <a:schemeClr val="accent2"/>
                </a:solidFill>
                <a:latin typeface="Garamond" panose="02020404030301010803" pitchFamily="18" charset="0"/>
                <a:cs typeface="Arial" panose="020B0604020202020204" pitchFamily="34" charset="0"/>
              </a:rPr>
              <a:t>CONCEPTUAL BACKGROUND OF THE  DOMAIN PROBLEM</a:t>
            </a:r>
            <a:endParaRPr lang="en-US" sz="3200" b="1" i="1" dirty="0">
              <a:solidFill>
                <a:schemeClr val="accent2"/>
              </a:solidFill>
              <a:latin typeface="Garamond" panose="02020404030301010803" pitchFamily="18" charset="0"/>
              <a:cs typeface="Arial" panose="020B0604020202020204" pitchFamily="34" charset="0"/>
            </a:endParaRPr>
          </a:p>
        </p:txBody>
      </p:sp>
      <p:sp>
        <p:nvSpPr>
          <p:cNvPr id="4" name="TextBox 3">
            <a:extLst>
              <a:ext uri="{FF2B5EF4-FFF2-40B4-BE49-F238E27FC236}">
                <a16:creationId xmlns:a16="http://schemas.microsoft.com/office/drawing/2014/main" id="{3D8A56FA-C775-453F-806D-E662A819BCA8}"/>
              </a:ext>
            </a:extLst>
          </p:cNvPr>
          <p:cNvSpPr txBox="1"/>
          <p:nvPr/>
        </p:nvSpPr>
        <p:spPr>
          <a:xfrm>
            <a:off x="337402" y="1570702"/>
            <a:ext cx="10086758"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IN" sz="1800" i="0" u="none" strike="noStrike" baseline="0" dirty="0">
              <a:solidFill>
                <a:srgbClr val="000000"/>
              </a:solidFill>
              <a:latin typeface="Times New Roman" panose="02020603050405020304" pitchFamily="18" charset="0"/>
              <a:cs typeface="Times New Roman" panose="02020603050405020304" pitchFamily="18" charset="0"/>
            </a:endParaRPr>
          </a:p>
          <a:p>
            <a:pPr algn="just"/>
            <a:r>
              <a:rPr lang="en-US" sz="1800" i="0" u="none" strike="noStrike" baseline="0" dirty="0">
                <a:solidFill>
                  <a:srgbClr val="000000"/>
                </a:solidFill>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Rockwell" panose="02060603020205020403" pitchFamily="18" charset="0"/>
              </a:rPr>
              <a:t>E-commerce companies offers various products the list is very long so we have decided to do rating prediction from the available reviews present in the e-commerce websites. To do that first we have to scrap the data from the websites. We need to convert the reviews into lower case, then we have to clean the data in which there are many unnecessary things which are no needed while analysis like unwanted spaces, unnecessary use of words, use of short words that they used to communicate in their daily life that is not required for the analysis prediction.</a:t>
            </a:r>
            <a:endParaRPr lang="en-IN" sz="1800" dirty="0">
              <a:solidFill>
                <a:srgbClr val="333333"/>
              </a:solidFill>
              <a:effectLst/>
              <a:latin typeface="Rockwell" panose="02060603020205020403" pitchFamily="18" charset="0"/>
              <a:ea typeface="Rockwell" panose="02060603020205020403" pitchFamily="18" charset="0"/>
              <a:cs typeface="Mangal" panose="02040503050203030202" pitchFamily="18" charset="0"/>
            </a:endParaRPr>
          </a:p>
        </p:txBody>
      </p:sp>
      <p:sp>
        <p:nvSpPr>
          <p:cNvPr id="6" name="Slide Number Placeholder 5"/>
          <p:cNvSpPr>
            <a:spLocks noGrp="1"/>
          </p:cNvSpPr>
          <p:nvPr>
            <p:ph type="sldNum" sz="quarter" idx="12"/>
          </p:nvPr>
        </p:nvSpPr>
        <p:spPr/>
        <p:txBody>
          <a:bodyPr/>
          <a:lstStyle/>
          <a:p>
            <a:fld id="{330EA680-D336-4FF7-8B7A-9848BB0A1C32}" type="slidenum">
              <a:rPr lang="en-US" smtClean="0"/>
              <a:t>4</a:t>
            </a:fld>
            <a:endParaRPr lang="en-US"/>
          </a:p>
        </p:txBody>
      </p:sp>
    </p:spTree>
    <p:extLst>
      <p:ext uri="{BB962C8B-B14F-4D97-AF65-F5344CB8AC3E}">
        <p14:creationId xmlns:p14="http://schemas.microsoft.com/office/powerpoint/2010/main" val="2829857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A5D1E-E8DC-4BD5-805E-3F16E9CBD27D}"/>
              </a:ext>
            </a:extLst>
          </p:cNvPr>
          <p:cNvSpPr>
            <a:spLocks noGrp="1"/>
          </p:cNvSpPr>
          <p:nvPr>
            <p:ph type="title"/>
          </p:nvPr>
        </p:nvSpPr>
        <p:spPr/>
        <p:txBody>
          <a:bodyPr/>
          <a:lstStyle/>
          <a:p>
            <a:r>
              <a:rPr lang="en-US" dirty="0"/>
              <a:t>Data Set Description</a:t>
            </a:r>
            <a:endParaRPr lang="en-IN" dirty="0"/>
          </a:p>
        </p:txBody>
      </p:sp>
      <p:sp>
        <p:nvSpPr>
          <p:cNvPr id="3" name="Content Placeholder 2">
            <a:extLst>
              <a:ext uri="{FF2B5EF4-FFF2-40B4-BE49-F238E27FC236}">
                <a16:creationId xmlns:a16="http://schemas.microsoft.com/office/drawing/2014/main" id="{C8BE7F3F-297E-4D6E-B9F7-970E87C17EDC}"/>
              </a:ext>
            </a:extLst>
          </p:cNvPr>
          <p:cNvSpPr>
            <a:spLocks noGrp="1"/>
          </p:cNvSpPr>
          <p:nvPr>
            <p:ph idx="1"/>
          </p:nvPr>
        </p:nvSpPr>
        <p:spPr/>
        <p:txBody>
          <a:bodyPr>
            <a:normAutofit/>
          </a:bodyPr>
          <a:lstStyle/>
          <a:p>
            <a:pPr>
              <a:lnSpc>
                <a:spcPct val="170000"/>
              </a:lnSpc>
              <a:buNone/>
            </a:pPr>
            <a:r>
              <a:rPr lang="en-US" sz="1400" b="1" dirty="0"/>
              <a:t> Features</a:t>
            </a:r>
            <a:r>
              <a:rPr lang="en-US" sz="1400" dirty="0"/>
              <a:t>:</a:t>
            </a:r>
          </a:p>
          <a:p>
            <a:pPr>
              <a:lnSpc>
                <a:spcPct val="170000"/>
              </a:lnSpc>
            </a:pPr>
            <a:r>
              <a:rPr lang="en-US" sz="1400" b="1" dirty="0"/>
              <a:t>Rating:</a:t>
            </a:r>
            <a:r>
              <a:rPr lang="en-US" sz="1400" dirty="0"/>
              <a:t> Rating provided by the customer.</a:t>
            </a:r>
          </a:p>
          <a:p>
            <a:pPr>
              <a:lnSpc>
                <a:spcPct val="170000"/>
              </a:lnSpc>
            </a:pPr>
            <a:r>
              <a:rPr lang="en-US" sz="1400" b="1" dirty="0" err="1"/>
              <a:t>Full_review</a:t>
            </a:r>
            <a:r>
              <a:rPr lang="en-US" sz="1400" dirty="0"/>
              <a:t>: Detailed written review provided by the customers.</a:t>
            </a:r>
          </a:p>
          <a:p>
            <a:pPr>
              <a:lnSpc>
                <a:spcPct val="170000"/>
              </a:lnSpc>
              <a:buNone/>
            </a:pPr>
            <a:r>
              <a:rPr lang="en-US" sz="2800" dirty="0"/>
              <a:t>The dataset has many null values.</a:t>
            </a:r>
          </a:p>
          <a:p>
            <a:r>
              <a:rPr lang="en-IN" sz="1200" dirty="0"/>
              <a:t>In rating there are 118 missing values.</a:t>
            </a:r>
          </a:p>
          <a:p>
            <a:r>
              <a:rPr lang="en-IN" sz="1200" dirty="0"/>
              <a:t>In </a:t>
            </a:r>
            <a:r>
              <a:rPr lang="en-IN" sz="1200" dirty="0" err="1"/>
              <a:t>Full_review</a:t>
            </a:r>
            <a:r>
              <a:rPr lang="en-IN" sz="1200" dirty="0"/>
              <a:t> there are 112 missing values.</a:t>
            </a:r>
          </a:p>
        </p:txBody>
      </p:sp>
      <p:pic>
        <p:nvPicPr>
          <p:cNvPr id="5" name="Picture 4">
            <a:extLst>
              <a:ext uri="{FF2B5EF4-FFF2-40B4-BE49-F238E27FC236}">
                <a16:creationId xmlns:a16="http://schemas.microsoft.com/office/drawing/2014/main" id="{A61EFEFD-EE41-4FC1-91E7-16BA3EA5C1D3}"/>
              </a:ext>
            </a:extLst>
          </p:cNvPr>
          <p:cNvPicPr>
            <a:picLocks noChangeAspect="1"/>
          </p:cNvPicPr>
          <p:nvPr/>
        </p:nvPicPr>
        <p:blipFill rotWithShape="1">
          <a:blip r:embed="rId2">
            <a:extLst>
              <a:ext uri="{28A0092B-C50C-407E-A947-70E740481C1C}">
                <a14:useLocalDpi xmlns:a14="http://schemas.microsoft.com/office/drawing/2010/main" val="0"/>
              </a:ext>
            </a:extLst>
          </a:blip>
          <a:srcRect l="17239" t="28248" r="47164" b="15605"/>
          <a:stretch/>
        </p:blipFill>
        <p:spPr>
          <a:xfrm>
            <a:off x="6591868" y="2076959"/>
            <a:ext cx="4339989" cy="3848669"/>
          </a:xfrm>
          <a:prstGeom prst="rect">
            <a:avLst/>
          </a:prstGeom>
        </p:spPr>
      </p:pic>
    </p:spTree>
    <p:extLst>
      <p:ext uri="{BB962C8B-B14F-4D97-AF65-F5344CB8AC3E}">
        <p14:creationId xmlns:p14="http://schemas.microsoft.com/office/powerpoint/2010/main" val="1349189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75A73-16A9-440A-A272-7C072931BB82}"/>
              </a:ext>
            </a:extLst>
          </p:cNvPr>
          <p:cNvSpPr>
            <a:spLocks noGrp="1"/>
          </p:cNvSpPr>
          <p:nvPr>
            <p:ph type="title"/>
          </p:nvPr>
        </p:nvSpPr>
        <p:spPr>
          <a:xfrm>
            <a:off x="838200" y="365125"/>
            <a:ext cx="10515600" cy="1325563"/>
          </a:xfrm>
        </p:spPr>
        <p:txBody>
          <a:bodyPr>
            <a:normAutofit/>
          </a:bodyPr>
          <a:lstStyle/>
          <a:p>
            <a:r>
              <a:rPr lang="en-US" dirty="0"/>
              <a:t>Visualization</a:t>
            </a:r>
            <a:br>
              <a:rPr lang="en-US" dirty="0"/>
            </a:br>
            <a:r>
              <a:rPr lang="en-US" dirty="0"/>
              <a:t> </a:t>
            </a:r>
            <a:endParaRPr lang="en-IN" dirty="0"/>
          </a:p>
        </p:txBody>
      </p:sp>
      <p:sp>
        <p:nvSpPr>
          <p:cNvPr id="3" name="Content Placeholder 2">
            <a:extLst>
              <a:ext uri="{FF2B5EF4-FFF2-40B4-BE49-F238E27FC236}">
                <a16:creationId xmlns:a16="http://schemas.microsoft.com/office/drawing/2014/main" id="{9810ED06-BE59-43C5-AA1B-4A3DC9B787CB}"/>
              </a:ext>
            </a:extLst>
          </p:cNvPr>
          <p:cNvSpPr>
            <a:spLocks noGrp="1"/>
          </p:cNvSpPr>
          <p:nvPr>
            <p:ph idx="1"/>
          </p:nvPr>
        </p:nvSpPr>
        <p:spPr>
          <a:xfrm>
            <a:off x="838200" y="981075"/>
            <a:ext cx="10515600" cy="5195888"/>
          </a:xfrm>
        </p:spPr>
        <p:txBody>
          <a:bodyPr/>
          <a:lstStyle/>
          <a:p>
            <a:r>
              <a:rPr lang="en-US" dirty="0"/>
              <a:t>Plot of rating provided by the customers</a:t>
            </a:r>
          </a:p>
          <a:p>
            <a:endParaRPr lang="en-IN" dirty="0"/>
          </a:p>
        </p:txBody>
      </p:sp>
      <p:pic>
        <p:nvPicPr>
          <p:cNvPr id="5" name="Picture 4">
            <a:extLst>
              <a:ext uri="{FF2B5EF4-FFF2-40B4-BE49-F238E27FC236}">
                <a16:creationId xmlns:a16="http://schemas.microsoft.com/office/drawing/2014/main" id="{B08F4084-E7C5-4380-893B-B0FA174FF03B}"/>
              </a:ext>
            </a:extLst>
          </p:cNvPr>
          <p:cNvPicPr>
            <a:picLocks noChangeAspect="1"/>
          </p:cNvPicPr>
          <p:nvPr/>
        </p:nvPicPr>
        <p:blipFill rotWithShape="1">
          <a:blip r:embed="rId2">
            <a:extLst>
              <a:ext uri="{28A0092B-C50C-407E-A947-70E740481C1C}">
                <a14:useLocalDpi xmlns:a14="http://schemas.microsoft.com/office/drawing/2010/main" val="0"/>
              </a:ext>
            </a:extLst>
          </a:blip>
          <a:srcRect l="18470" t="32030" r="47836" b="7943"/>
          <a:stretch/>
        </p:blipFill>
        <p:spPr>
          <a:xfrm>
            <a:off x="3577987" y="1673446"/>
            <a:ext cx="5036025" cy="5044156"/>
          </a:xfrm>
          <a:prstGeom prst="rect">
            <a:avLst/>
          </a:prstGeom>
        </p:spPr>
      </p:pic>
    </p:spTree>
    <p:extLst>
      <p:ext uri="{BB962C8B-B14F-4D97-AF65-F5344CB8AC3E}">
        <p14:creationId xmlns:p14="http://schemas.microsoft.com/office/powerpoint/2010/main" val="3976247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42BE0-67B3-4CE9-909C-0933DBBC7A6B}"/>
              </a:ext>
            </a:extLst>
          </p:cNvPr>
          <p:cNvSpPr>
            <a:spLocks noGrp="1"/>
          </p:cNvSpPr>
          <p:nvPr>
            <p:ph type="title"/>
          </p:nvPr>
        </p:nvSpPr>
        <p:spPr/>
        <p:txBody>
          <a:bodyPr/>
          <a:lstStyle/>
          <a:p>
            <a:r>
              <a:rPr lang="en-US" dirty="0"/>
              <a:t>Sentiments of the customers</a:t>
            </a:r>
            <a:endParaRPr lang="en-IN" dirty="0"/>
          </a:p>
        </p:txBody>
      </p:sp>
      <p:sp>
        <p:nvSpPr>
          <p:cNvPr id="3" name="Content Placeholder 2">
            <a:extLst>
              <a:ext uri="{FF2B5EF4-FFF2-40B4-BE49-F238E27FC236}">
                <a16:creationId xmlns:a16="http://schemas.microsoft.com/office/drawing/2014/main" id="{7362745F-DB75-4991-BE87-319B296B29E0}"/>
              </a:ext>
            </a:extLst>
          </p:cNvPr>
          <p:cNvSpPr>
            <a:spLocks noGrp="1"/>
          </p:cNvSpPr>
          <p:nvPr>
            <p:ph idx="1"/>
          </p:nvPr>
        </p:nvSpPr>
        <p:spPr/>
        <p:txBody>
          <a:bodyPr/>
          <a:lstStyle/>
          <a:p>
            <a:r>
              <a:rPr lang="en-US" dirty="0"/>
              <a:t>In this this will tell about the sentiment of the customers, whether they are satisfied or not.</a:t>
            </a:r>
          </a:p>
          <a:p>
            <a:r>
              <a:rPr lang="en-US" dirty="0"/>
              <a:t>From this plot it can be seen </a:t>
            </a:r>
          </a:p>
          <a:p>
            <a:pPr marL="0" indent="0">
              <a:buNone/>
            </a:pPr>
            <a:r>
              <a:rPr lang="en-US" dirty="0"/>
              <a:t>  that the customers are satisfied </a:t>
            </a:r>
          </a:p>
          <a:p>
            <a:pPr marL="0" indent="0">
              <a:buNone/>
            </a:pPr>
            <a:r>
              <a:rPr lang="en-US" dirty="0"/>
              <a:t>   with their purchase.</a:t>
            </a:r>
            <a:endParaRPr lang="en-IN" dirty="0"/>
          </a:p>
        </p:txBody>
      </p:sp>
      <p:pic>
        <p:nvPicPr>
          <p:cNvPr id="4" name="Picture 3">
            <a:extLst>
              <a:ext uri="{FF2B5EF4-FFF2-40B4-BE49-F238E27FC236}">
                <a16:creationId xmlns:a16="http://schemas.microsoft.com/office/drawing/2014/main" id="{E1DE2C77-A1FC-4DF8-AD41-AF462BAD08CC}"/>
              </a:ext>
            </a:extLst>
          </p:cNvPr>
          <p:cNvPicPr/>
          <p:nvPr/>
        </p:nvPicPr>
        <p:blipFill rotWithShape="1">
          <a:blip r:embed="rId2">
            <a:extLst>
              <a:ext uri="{28A0092B-C50C-407E-A947-70E740481C1C}">
                <a14:useLocalDpi xmlns:a14="http://schemas.microsoft.com/office/drawing/2010/main" val="0"/>
              </a:ext>
            </a:extLst>
          </a:blip>
          <a:srcRect l="18007" t="41453" r="56663" b="25428"/>
          <a:stretch/>
        </p:blipFill>
        <p:spPr bwMode="auto">
          <a:xfrm>
            <a:off x="5745707" y="2442949"/>
            <a:ext cx="5403378" cy="299471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44321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5BD3E-163E-4FF7-8207-A894F328EBC5}"/>
              </a:ext>
            </a:extLst>
          </p:cNvPr>
          <p:cNvSpPr>
            <a:spLocks noGrp="1"/>
          </p:cNvSpPr>
          <p:nvPr>
            <p:ph type="title"/>
          </p:nvPr>
        </p:nvSpPr>
        <p:spPr/>
        <p:txBody>
          <a:bodyPr/>
          <a:lstStyle/>
          <a:p>
            <a:r>
              <a:rPr lang="en-US" dirty="0"/>
              <a:t>Data Processing.</a:t>
            </a:r>
            <a:endParaRPr lang="en-IN" dirty="0"/>
          </a:p>
        </p:txBody>
      </p:sp>
      <p:sp>
        <p:nvSpPr>
          <p:cNvPr id="3" name="Content Placeholder 2">
            <a:extLst>
              <a:ext uri="{FF2B5EF4-FFF2-40B4-BE49-F238E27FC236}">
                <a16:creationId xmlns:a16="http://schemas.microsoft.com/office/drawing/2014/main" id="{254B7109-8988-4583-8B01-CE28E6406212}"/>
              </a:ext>
            </a:extLst>
          </p:cNvPr>
          <p:cNvSpPr>
            <a:spLocks noGrp="1"/>
          </p:cNvSpPr>
          <p:nvPr>
            <p:ph idx="1"/>
          </p:nvPr>
        </p:nvSpPr>
        <p:spPr/>
        <p:txBody>
          <a:bodyPr/>
          <a:lstStyle/>
          <a:p>
            <a:r>
              <a:rPr lang="en-US" dirty="0"/>
              <a:t>In this data there are missing values.</a:t>
            </a:r>
          </a:p>
          <a:p>
            <a:r>
              <a:rPr lang="en-US" dirty="0"/>
              <a:t>To check the missing values we use </a:t>
            </a:r>
          </a:p>
          <a:p>
            <a:pPr marL="0" indent="0">
              <a:buNone/>
            </a:pPr>
            <a:r>
              <a:rPr lang="en-US" dirty="0"/>
              <a:t>   the command.</a:t>
            </a:r>
          </a:p>
          <a:p>
            <a:endParaRPr lang="en-IN" dirty="0"/>
          </a:p>
        </p:txBody>
      </p:sp>
      <p:pic>
        <p:nvPicPr>
          <p:cNvPr id="6" name="Picture 5">
            <a:extLst>
              <a:ext uri="{FF2B5EF4-FFF2-40B4-BE49-F238E27FC236}">
                <a16:creationId xmlns:a16="http://schemas.microsoft.com/office/drawing/2014/main" id="{B5BC16FF-5BFA-42E6-ADF2-F1F7244ED2BD}"/>
              </a:ext>
            </a:extLst>
          </p:cNvPr>
          <p:cNvPicPr>
            <a:picLocks noChangeAspect="1"/>
          </p:cNvPicPr>
          <p:nvPr/>
        </p:nvPicPr>
        <p:blipFill rotWithShape="1">
          <a:blip r:embed="rId2">
            <a:extLst>
              <a:ext uri="{28A0092B-C50C-407E-A947-70E740481C1C}">
                <a14:useLocalDpi xmlns:a14="http://schemas.microsoft.com/office/drawing/2010/main" val="0"/>
              </a:ext>
            </a:extLst>
          </a:blip>
          <a:srcRect l="18694" t="28646" r="46604" b="16003"/>
          <a:stretch/>
        </p:blipFill>
        <p:spPr>
          <a:xfrm>
            <a:off x="6755641" y="1364776"/>
            <a:ext cx="4230806" cy="3794077"/>
          </a:xfrm>
          <a:prstGeom prst="rect">
            <a:avLst/>
          </a:prstGeom>
        </p:spPr>
      </p:pic>
    </p:spTree>
    <p:extLst>
      <p:ext uri="{BB962C8B-B14F-4D97-AF65-F5344CB8AC3E}">
        <p14:creationId xmlns:p14="http://schemas.microsoft.com/office/powerpoint/2010/main" val="2012916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C61C38-6DDE-4F53-B4E6-4E7A073C1B0B}"/>
              </a:ext>
            </a:extLst>
          </p:cNvPr>
          <p:cNvPicPr>
            <a:picLocks noChangeAspect="1"/>
          </p:cNvPicPr>
          <p:nvPr/>
        </p:nvPicPr>
        <p:blipFill rotWithShape="1">
          <a:blip r:embed="rId2">
            <a:extLst>
              <a:ext uri="{28A0092B-C50C-407E-A947-70E740481C1C}">
                <a14:useLocalDpi xmlns:a14="http://schemas.microsoft.com/office/drawing/2010/main" val="0"/>
              </a:ext>
            </a:extLst>
          </a:blip>
          <a:srcRect l="16567" t="27650" r="43694" b="9832"/>
          <a:stretch/>
        </p:blipFill>
        <p:spPr>
          <a:xfrm>
            <a:off x="982638" y="232012"/>
            <a:ext cx="6810233" cy="6023698"/>
          </a:xfrm>
          <a:prstGeom prst="rect">
            <a:avLst/>
          </a:prstGeom>
        </p:spPr>
      </p:pic>
    </p:spTree>
    <p:extLst>
      <p:ext uri="{BB962C8B-B14F-4D97-AF65-F5344CB8AC3E}">
        <p14:creationId xmlns:p14="http://schemas.microsoft.com/office/powerpoint/2010/main" val="675104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BC01A3-704A-49A6-8CC5-FEDAD22E3435}"/>
              </a:ext>
            </a:extLst>
          </p:cNvPr>
          <p:cNvPicPr>
            <a:picLocks noChangeAspect="1"/>
          </p:cNvPicPr>
          <p:nvPr/>
        </p:nvPicPr>
        <p:blipFill rotWithShape="1">
          <a:blip r:embed="rId2">
            <a:extLst>
              <a:ext uri="{28A0092B-C50C-407E-A947-70E740481C1C}">
                <a14:useLocalDpi xmlns:a14="http://schemas.microsoft.com/office/drawing/2010/main" val="0"/>
              </a:ext>
            </a:extLst>
          </a:blip>
          <a:srcRect l="18246" t="32430" r="43582" b="9832"/>
          <a:stretch/>
        </p:blipFill>
        <p:spPr>
          <a:xfrm>
            <a:off x="1269242" y="232011"/>
            <a:ext cx="6595684" cy="5609231"/>
          </a:xfrm>
          <a:prstGeom prst="rect">
            <a:avLst/>
          </a:prstGeom>
        </p:spPr>
      </p:pic>
    </p:spTree>
    <p:extLst>
      <p:ext uri="{BB962C8B-B14F-4D97-AF65-F5344CB8AC3E}">
        <p14:creationId xmlns:p14="http://schemas.microsoft.com/office/powerpoint/2010/main" val="4236945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3829FF-306F-4263-A2F6-CA1FFD0AA0A4}"/>
              </a:ext>
            </a:extLst>
          </p:cNvPr>
          <p:cNvPicPr>
            <a:picLocks noChangeAspect="1"/>
          </p:cNvPicPr>
          <p:nvPr/>
        </p:nvPicPr>
        <p:blipFill rotWithShape="1">
          <a:blip r:embed="rId2">
            <a:extLst>
              <a:ext uri="{28A0092B-C50C-407E-A947-70E740481C1C}">
                <a14:useLocalDpi xmlns:a14="http://schemas.microsoft.com/office/drawing/2010/main" val="0"/>
              </a:ext>
            </a:extLst>
          </a:blip>
          <a:srcRect l="17910" t="33823" r="39664" b="5882"/>
          <a:stretch/>
        </p:blipFill>
        <p:spPr>
          <a:xfrm>
            <a:off x="1023582" y="327546"/>
            <a:ext cx="7190705" cy="5745708"/>
          </a:xfrm>
          <a:prstGeom prst="rect">
            <a:avLst/>
          </a:prstGeom>
        </p:spPr>
      </p:pic>
    </p:spTree>
    <p:extLst>
      <p:ext uri="{BB962C8B-B14F-4D97-AF65-F5344CB8AC3E}">
        <p14:creationId xmlns:p14="http://schemas.microsoft.com/office/powerpoint/2010/main" val="202505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B018B3-D291-4A5C-A000-26467969F6C5}"/>
              </a:ext>
            </a:extLst>
          </p:cNvPr>
          <p:cNvPicPr>
            <a:picLocks noChangeAspect="1"/>
          </p:cNvPicPr>
          <p:nvPr/>
        </p:nvPicPr>
        <p:blipFill rotWithShape="1">
          <a:blip r:embed="rId2">
            <a:extLst>
              <a:ext uri="{28A0092B-C50C-407E-A947-70E740481C1C}">
                <a14:useLocalDpi xmlns:a14="http://schemas.microsoft.com/office/drawing/2010/main" val="0"/>
              </a:ext>
            </a:extLst>
          </a:blip>
          <a:srcRect l="16343" t="39797" r="37761" b="9631"/>
          <a:stretch/>
        </p:blipFill>
        <p:spPr>
          <a:xfrm>
            <a:off x="1676096" y="614149"/>
            <a:ext cx="7754507" cy="4804012"/>
          </a:xfrm>
          <a:prstGeom prst="rect">
            <a:avLst/>
          </a:prstGeom>
        </p:spPr>
      </p:pic>
    </p:spTree>
    <p:extLst>
      <p:ext uri="{BB962C8B-B14F-4D97-AF65-F5344CB8AC3E}">
        <p14:creationId xmlns:p14="http://schemas.microsoft.com/office/powerpoint/2010/main" val="3590421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6B788C-B05E-42BF-9AB7-5DB4C5E436E5}"/>
              </a:ext>
            </a:extLst>
          </p:cNvPr>
          <p:cNvPicPr>
            <a:picLocks noChangeAspect="1"/>
          </p:cNvPicPr>
          <p:nvPr/>
        </p:nvPicPr>
        <p:blipFill rotWithShape="1">
          <a:blip r:embed="rId2">
            <a:extLst>
              <a:ext uri="{28A0092B-C50C-407E-A947-70E740481C1C}">
                <a14:useLocalDpi xmlns:a14="http://schemas.microsoft.com/office/drawing/2010/main" val="0"/>
              </a:ext>
            </a:extLst>
          </a:blip>
          <a:srcRect l="17127" t="26855" r="44590" b="31732"/>
          <a:stretch/>
        </p:blipFill>
        <p:spPr>
          <a:xfrm>
            <a:off x="2088107" y="1842448"/>
            <a:ext cx="4667536" cy="2838734"/>
          </a:xfrm>
          <a:prstGeom prst="rect">
            <a:avLst/>
          </a:prstGeom>
        </p:spPr>
      </p:pic>
    </p:spTree>
    <p:extLst>
      <p:ext uri="{BB962C8B-B14F-4D97-AF65-F5344CB8AC3E}">
        <p14:creationId xmlns:p14="http://schemas.microsoft.com/office/powerpoint/2010/main" val="4118651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85B47B-F1CC-430D-AB6A-C4183A549825}"/>
              </a:ext>
            </a:extLst>
          </p:cNvPr>
          <p:cNvPicPr>
            <a:picLocks noChangeAspect="1"/>
          </p:cNvPicPr>
          <p:nvPr/>
        </p:nvPicPr>
        <p:blipFill rotWithShape="1">
          <a:blip r:embed="rId2">
            <a:extLst>
              <a:ext uri="{28A0092B-C50C-407E-A947-70E740481C1C}">
                <a14:useLocalDpi xmlns:a14="http://schemas.microsoft.com/office/drawing/2010/main" val="0"/>
              </a:ext>
            </a:extLst>
          </a:blip>
          <a:srcRect l="16903" t="25858" r="46045" b="5881"/>
          <a:stretch/>
        </p:blipFill>
        <p:spPr>
          <a:xfrm>
            <a:off x="1561088" y="436729"/>
            <a:ext cx="5808704" cy="6016459"/>
          </a:xfrm>
          <a:prstGeom prst="rect">
            <a:avLst/>
          </a:prstGeom>
        </p:spPr>
      </p:pic>
    </p:spTree>
    <p:extLst>
      <p:ext uri="{BB962C8B-B14F-4D97-AF65-F5344CB8AC3E}">
        <p14:creationId xmlns:p14="http://schemas.microsoft.com/office/powerpoint/2010/main" val="1429558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42F2F-86ED-4C0A-9007-E0DF0CE4850A}"/>
              </a:ext>
            </a:extLst>
          </p:cNvPr>
          <p:cNvSpPr>
            <a:spLocks noGrp="1"/>
          </p:cNvSpPr>
          <p:nvPr>
            <p:ph type="title"/>
          </p:nvPr>
        </p:nvSpPr>
        <p:spPr/>
        <p:txBody>
          <a:bodyPr/>
          <a:lstStyle/>
          <a:p>
            <a:r>
              <a:rPr lang="en-US" dirty="0"/>
              <a:t>Model Building</a:t>
            </a:r>
            <a:endParaRPr lang="en-IN" dirty="0"/>
          </a:p>
        </p:txBody>
      </p:sp>
      <p:pic>
        <p:nvPicPr>
          <p:cNvPr id="6" name="Picture 5">
            <a:extLst>
              <a:ext uri="{FF2B5EF4-FFF2-40B4-BE49-F238E27FC236}">
                <a16:creationId xmlns:a16="http://schemas.microsoft.com/office/drawing/2014/main" id="{386911B2-11F9-4438-9B89-13258F4427FD}"/>
              </a:ext>
            </a:extLst>
          </p:cNvPr>
          <p:cNvPicPr/>
          <p:nvPr/>
        </p:nvPicPr>
        <p:blipFill rotWithShape="1">
          <a:blip r:embed="rId2">
            <a:extLst>
              <a:ext uri="{28A0092B-C50C-407E-A947-70E740481C1C}">
                <a14:useLocalDpi xmlns:a14="http://schemas.microsoft.com/office/drawing/2010/main" val="0"/>
              </a:ext>
            </a:extLst>
          </a:blip>
          <a:srcRect l="16686" t="33196" r="42977" b="35256"/>
          <a:stretch/>
        </p:blipFill>
        <p:spPr bwMode="auto">
          <a:xfrm>
            <a:off x="2076009" y="1825625"/>
            <a:ext cx="7368242" cy="386651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78424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83F2295-5A2F-4EF7-8F5C-A86D3F7345FC}"/>
              </a:ext>
            </a:extLst>
          </p:cNvPr>
          <p:cNvPicPr/>
          <p:nvPr/>
        </p:nvPicPr>
        <p:blipFill rotWithShape="1">
          <a:blip r:embed="rId2">
            <a:extLst>
              <a:ext uri="{28A0092B-C50C-407E-A947-70E740481C1C}">
                <a14:useLocalDpi xmlns:a14="http://schemas.microsoft.com/office/drawing/2010/main" val="0"/>
              </a:ext>
            </a:extLst>
          </a:blip>
          <a:srcRect l="17887" t="27564" r="42977" b="41453"/>
          <a:stretch/>
        </p:blipFill>
        <p:spPr bwMode="auto">
          <a:xfrm>
            <a:off x="1730384" y="852359"/>
            <a:ext cx="7413616" cy="455215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09186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6F5459-D72A-4757-A669-16C70C2498DC}"/>
              </a:ext>
            </a:extLst>
          </p:cNvPr>
          <p:cNvPicPr/>
          <p:nvPr/>
        </p:nvPicPr>
        <p:blipFill rotWithShape="1">
          <a:blip r:embed="rId2">
            <a:extLst>
              <a:ext uri="{28A0092B-C50C-407E-A947-70E740481C1C}">
                <a14:useLocalDpi xmlns:a14="http://schemas.microsoft.com/office/drawing/2010/main" val="0"/>
              </a:ext>
            </a:extLst>
          </a:blip>
          <a:srcRect l="17647" t="27351" r="40696" b="41239"/>
          <a:stretch/>
        </p:blipFill>
        <p:spPr bwMode="auto">
          <a:xfrm>
            <a:off x="1512338" y="681037"/>
            <a:ext cx="8436880" cy="518472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28169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52F842-BF5A-4282-AAEE-4D20A09C007A}"/>
              </a:ext>
            </a:extLst>
          </p:cNvPr>
          <p:cNvPicPr/>
          <p:nvPr/>
        </p:nvPicPr>
        <p:blipFill rotWithShape="1">
          <a:blip r:embed="rId2">
            <a:extLst>
              <a:ext uri="{28A0092B-C50C-407E-A947-70E740481C1C}">
                <a14:useLocalDpi xmlns:a14="http://schemas.microsoft.com/office/drawing/2010/main" val="0"/>
              </a:ext>
            </a:extLst>
          </a:blip>
          <a:srcRect l="17287" t="32906" r="43337" b="36111"/>
          <a:stretch/>
        </p:blipFill>
        <p:spPr bwMode="auto">
          <a:xfrm>
            <a:off x="1468969" y="1074085"/>
            <a:ext cx="8179998" cy="470982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82140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6572C-95D1-4AD5-B1A5-D4BAE6C2A52E}"/>
              </a:ext>
            </a:extLst>
          </p:cNvPr>
          <p:cNvSpPr>
            <a:spLocks noGrp="1"/>
          </p:cNvSpPr>
          <p:nvPr>
            <p:ph type="title"/>
          </p:nvPr>
        </p:nvSpPr>
        <p:spPr>
          <a:xfrm>
            <a:off x="838200" y="-535635"/>
            <a:ext cx="10515600" cy="1325563"/>
          </a:xfrm>
        </p:spPr>
        <p:txBody>
          <a:bodyPr>
            <a:normAutofit/>
          </a:bodyPr>
          <a:lstStyle/>
          <a:p>
            <a:r>
              <a:rPr lang="en-US" sz="1800" b="1" dirty="0"/>
              <a:t>Cross validation</a:t>
            </a:r>
            <a:endParaRPr lang="en-IN" sz="1800" b="1" dirty="0"/>
          </a:p>
        </p:txBody>
      </p:sp>
      <p:pic>
        <p:nvPicPr>
          <p:cNvPr id="5" name="Picture 4">
            <a:extLst>
              <a:ext uri="{FF2B5EF4-FFF2-40B4-BE49-F238E27FC236}">
                <a16:creationId xmlns:a16="http://schemas.microsoft.com/office/drawing/2014/main" id="{41B88383-3172-4005-A320-207E87B541AD}"/>
              </a:ext>
            </a:extLst>
          </p:cNvPr>
          <p:cNvPicPr/>
          <p:nvPr/>
        </p:nvPicPr>
        <p:blipFill rotWithShape="1">
          <a:blip r:embed="rId2">
            <a:extLst>
              <a:ext uri="{28A0092B-C50C-407E-A947-70E740481C1C}">
                <a14:useLocalDpi xmlns:a14="http://schemas.microsoft.com/office/drawing/2010/main" val="0"/>
              </a:ext>
            </a:extLst>
          </a:blip>
          <a:srcRect l="18367" t="43590" r="48499" b="8332"/>
          <a:stretch/>
        </p:blipFill>
        <p:spPr bwMode="auto">
          <a:xfrm>
            <a:off x="-809647" y="351371"/>
            <a:ext cx="6746424" cy="3330042"/>
          </a:xfrm>
          <a:prstGeom prst="rect">
            <a:avLst/>
          </a:prstGeom>
          <a:noFill/>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0392CC86-6E21-4658-BF2C-508D9A065060}"/>
              </a:ext>
            </a:extLst>
          </p:cNvPr>
          <p:cNvPicPr/>
          <p:nvPr/>
        </p:nvPicPr>
        <p:blipFill rotWithShape="1">
          <a:blip r:embed="rId3">
            <a:extLst>
              <a:ext uri="{28A0092B-C50C-407E-A947-70E740481C1C}">
                <a14:useLocalDpi xmlns:a14="http://schemas.microsoft.com/office/drawing/2010/main" val="0"/>
              </a:ext>
            </a:extLst>
          </a:blip>
          <a:srcRect l="18487" t="31410" r="48380" b="20086"/>
          <a:stretch/>
        </p:blipFill>
        <p:spPr bwMode="auto">
          <a:xfrm>
            <a:off x="6360540" y="-279082"/>
            <a:ext cx="5390182" cy="3960495"/>
          </a:xfrm>
          <a:prstGeom prst="rect">
            <a:avLst/>
          </a:prstGeom>
          <a:noFill/>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F81E80CE-C08B-4C78-8B4B-4F4037CBF908}"/>
              </a:ext>
            </a:extLst>
          </p:cNvPr>
          <p:cNvPicPr/>
          <p:nvPr/>
        </p:nvPicPr>
        <p:blipFill rotWithShape="1">
          <a:blip r:embed="rId4">
            <a:extLst>
              <a:ext uri="{28A0092B-C50C-407E-A947-70E740481C1C}">
                <a14:useLocalDpi xmlns:a14="http://schemas.microsoft.com/office/drawing/2010/main" val="0"/>
              </a:ext>
            </a:extLst>
          </a:blip>
          <a:srcRect l="19328" t="36966" r="49220" b="14103"/>
          <a:stretch/>
        </p:blipFill>
        <p:spPr bwMode="auto">
          <a:xfrm>
            <a:off x="-477672" y="3681413"/>
            <a:ext cx="6309133" cy="4142105"/>
          </a:xfrm>
          <a:prstGeom prst="rect">
            <a:avLst/>
          </a:prstGeom>
          <a:noFill/>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0EA1B639-77BF-41F7-8277-FB8986AC36FB}"/>
              </a:ext>
            </a:extLst>
          </p:cNvPr>
          <p:cNvPicPr/>
          <p:nvPr/>
        </p:nvPicPr>
        <p:blipFill rotWithShape="1">
          <a:blip r:embed="rId5">
            <a:extLst>
              <a:ext uri="{28A0092B-C50C-407E-A947-70E740481C1C}">
                <a14:useLocalDpi xmlns:a14="http://schemas.microsoft.com/office/drawing/2010/main" val="0"/>
              </a:ext>
            </a:extLst>
          </a:blip>
          <a:srcRect l="19928" t="31837" r="49100" b="19017"/>
          <a:stretch/>
        </p:blipFill>
        <p:spPr bwMode="auto">
          <a:xfrm>
            <a:off x="6546849" y="3794490"/>
            <a:ext cx="5026451" cy="428561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14493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E1C29-4002-4F15-9893-2B9F9AEF113B}"/>
              </a:ext>
            </a:extLst>
          </p:cNvPr>
          <p:cNvSpPr>
            <a:spLocks noGrp="1"/>
          </p:cNvSpPr>
          <p:nvPr>
            <p:ph type="title"/>
          </p:nvPr>
        </p:nvSpPr>
        <p:spPr>
          <a:xfrm>
            <a:off x="838200" y="-249025"/>
            <a:ext cx="10515600" cy="1325563"/>
          </a:xfrm>
        </p:spPr>
        <p:txBody>
          <a:bodyPr>
            <a:normAutofit/>
          </a:bodyPr>
          <a:lstStyle/>
          <a:p>
            <a:r>
              <a:rPr lang="en-US" sz="2000" b="1" dirty="0"/>
              <a:t>Hyper-parameter tuning.</a:t>
            </a:r>
            <a:endParaRPr lang="en-IN" sz="2000" b="1" dirty="0"/>
          </a:p>
        </p:txBody>
      </p:sp>
      <p:pic>
        <p:nvPicPr>
          <p:cNvPr id="7" name="Picture 6">
            <a:extLst>
              <a:ext uri="{FF2B5EF4-FFF2-40B4-BE49-F238E27FC236}">
                <a16:creationId xmlns:a16="http://schemas.microsoft.com/office/drawing/2014/main" id="{3D0AFD84-6BA0-4C69-966C-BCEBA7DE8E98}"/>
              </a:ext>
            </a:extLst>
          </p:cNvPr>
          <p:cNvPicPr>
            <a:picLocks noChangeAspect="1"/>
          </p:cNvPicPr>
          <p:nvPr/>
        </p:nvPicPr>
        <p:blipFill rotWithShape="1">
          <a:blip r:embed="rId2">
            <a:extLst>
              <a:ext uri="{28A0092B-C50C-407E-A947-70E740481C1C}">
                <a14:useLocalDpi xmlns:a14="http://schemas.microsoft.com/office/drawing/2010/main" val="0"/>
              </a:ext>
            </a:extLst>
          </a:blip>
          <a:srcRect l="17351" t="44375" r="27463" b="21379"/>
          <a:stretch/>
        </p:blipFill>
        <p:spPr>
          <a:xfrm>
            <a:off x="838200" y="1120893"/>
            <a:ext cx="10253475" cy="3577277"/>
          </a:xfrm>
          <a:prstGeom prst="rect">
            <a:avLst/>
          </a:prstGeom>
        </p:spPr>
      </p:pic>
    </p:spTree>
    <p:extLst>
      <p:ext uri="{BB962C8B-B14F-4D97-AF65-F5344CB8AC3E}">
        <p14:creationId xmlns:p14="http://schemas.microsoft.com/office/powerpoint/2010/main" val="20821200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63601-E495-43AE-8267-C5BFE41E3BCE}"/>
              </a:ext>
            </a:extLst>
          </p:cNvPr>
          <p:cNvSpPr>
            <a:spLocks noGrp="1"/>
          </p:cNvSpPr>
          <p:nvPr>
            <p:ph type="title"/>
          </p:nvPr>
        </p:nvSpPr>
        <p:spPr>
          <a:xfrm>
            <a:off x="838200" y="-358209"/>
            <a:ext cx="10515600" cy="1325563"/>
          </a:xfrm>
        </p:spPr>
        <p:txBody>
          <a:bodyPr>
            <a:normAutofit/>
          </a:bodyPr>
          <a:lstStyle/>
          <a:p>
            <a:r>
              <a:rPr lang="en-US" sz="1800" b="1" dirty="0"/>
              <a:t>Prediction result after hyperparameter tuning.</a:t>
            </a:r>
            <a:endParaRPr lang="en-IN" sz="1800" b="1" dirty="0"/>
          </a:p>
        </p:txBody>
      </p:sp>
      <p:pic>
        <p:nvPicPr>
          <p:cNvPr id="5" name="Picture 4">
            <a:extLst>
              <a:ext uri="{FF2B5EF4-FFF2-40B4-BE49-F238E27FC236}">
                <a16:creationId xmlns:a16="http://schemas.microsoft.com/office/drawing/2014/main" id="{0BD151DD-546B-418C-9270-9651422863F5}"/>
              </a:ext>
            </a:extLst>
          </p:cNvPr>
          <p:cNvPicPr>
            <a:picLocks noChangeAspect="1"/>
          </p:cNvPicPr>
          <p:nvPr/>
        </p:nvPicPr>
        <p:blipFill rotWithShape="1">
          <a:blip r:embed="rId2">
            <a:extLst>
              <a:ext uri="{28A0092B-C50C-407E-A947-70E740481C1C}">
                <a14:useLocalDpi xmlns:a14="http://schemas.microsoft.com/office/drawing/2010/main" val="0"/>
              </a:ext>
            </a:extLst>
          </a:blip>
          <a:srcRect l="18135" t="27452" r="33731" b="12817"/>
          <a:stretch/>
        </p:blipFill>
        <p:spPr>
          <a:xfrm>
            <a:off x="1501252" y="542498"/>
            <a:ext cx="8274641" cy="5773003"/>
          </a:xfrm>
          <a:prstGeom prst="rect">
            <a:avLst/>
          </a:prstGeom>
        </p:spPr>
      </p:pic>
    </p:spTree>
    <p:extLst>
      <p:ext uri="{BB962C8B-B14F-4D97-AF65-F5344CB8AC3E}">
        <p14:creationId xmlns:p14="http://schemas.microsoft.com/office/powerpoint/2010/main" val="3108722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D1977-D48A-49FF-962A-9A844439C6F5}"/>
              </a:ext>
            </a:extLst>
          </p:cNvPr>
          <p:cNvSpPr>
            <a:spLocks noGrp="1"/>
          </p:cNvSpPr>
          <p:nvPr>
            <p:ph type="title"/>
          </p:nvPr>
        </p:nvSpPr>
        <p:spPr>
          <a:xfrm>
            <a:off x="838200" y="-344561"/>
            <a:ext cx="10515600" cy="1325563"/>
          </a:xfrm>
        </p:spPr>
        <p:txBody>
          <a:bodyPr>
            <a:normAutofit/>
          </a:bodyPr>
          <a:lstStyle/>
          <a:p>
            <a:r>
              <a:rPr lang="en-US" sz="2000" b="1" dirty="0"/>
              <a:t>Comparison between Real value and Predicted value</a:t>
            </a:r>
            <a:endParaRPr lang="en-IN" sz="2000" b="1" dirty="0"/>
          </a:p>
        </p:txBody>
      </p:sp>
      <p:pic>
        <p:nvPicPr>
          <p:cNvPr id="7" name="Picture 6">
            <a:extLst>
              <a:ext uri="{FF2B5EF4-FFF2-40B4-BE49-F238E27FC236}">
                <a16:creationId xmlns:a16="http://schemas.microsoft.com/office/drawing/2014/main" id="{ED0BFFED-AD69-462E-9E85-0B2B393F8F7E}"/>
              </a:ext>
            </a:extLst>
          </p:cNvPr>
          <p:cNvPicPr>
            <a:picLocks noChangeAspect="1"/>
          </p:cNvPicPr>
          <p:nvPr/>
        </p:nvPicPr>
        <p:blipFill rotWithShape="1">
          <a:blip r:embed="rId2">
            <a:extLst>
              <a:ext uri="{28A0092B-C50C-407E-A947-70E740481C1C}">
                <a14:useLocalDpi xmlns:a14="http://schemas.microsoft.com/office/drawing/2010/main" val="0"/>
              </a:ext>
            </a:extLst>
          </a:blip>
          <a:srcRect l="18135" t="25462" r="47948" b="7441"/>
          <a:stretch/>
        </p:blipFill>
        <p:spPr>
          <a:xfrm>
            <a:off x="3457470" y="706201"/>
            <a:ext cx="5350085" cy="5950423"/>
          </a:xfrm>
          <a:prstGeom prst="rect">
            <a:avLst/>
          </a:prstGeom>
        </p:spPr>
      </p:pic>
    </p:spTree>
    <p:extLst>
      <p:ext uri="{BB962C8B-B14F-4D97-AF65-F5344CB8AC3E}">
        <p14:creationId xmlns:p14="http://schemas.microsoft.com/office/powerpoint/2010/main" val="150143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FC16F-E928-4E98-A301-9E521FFFF336}"/>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97521F64-92D6-462D-99DD-13810230710B}"/>
              </a:ext>
            </a:extLst>
          </p:cNvPr>
          <p:cNvSpPr>
            <a:spLocks noGrp="1"/>
          </p:cNvSpPr>
          <p:nvPr>
            <p:ph idx="1"/>
          </p:nvPr>
        </p:nvSpPr>
        <p:spPr/>
        <p:txBody>
          <a:bodyPr>
            <a:normAutofit/>
          </a:bodyPr>
          <a:lstStyle/>
          <a:p>
            <a:r>
              <a:rPr lang="en-US" sz="2800" dirty="0"/>
              <a:t>The prediction from various models concludes that Random forest classifier is the best model for the prediction of the result. Which gives accuracy of 71% which in not the best but among all the models used it is the best model.</a:t>
            </a:r>
          </a:p>
          <a:p>
            <a:r>
              <a:rPr lang="en-US" sz="2800" dirty="0"/>
              <a:t>The model build after hyper-parametric tuning gives an accuracy for </a:t>
            </a:r>
            <a:r>
              <a:rPr lang="en-US" dirty="0"/>
              <a:t>59</a:t>
            </a:r>
            <a:r>
              <a:rPr lang="en-US" sz="2800" dirty="0"/>
              <a:t>%, which means that hyper-parametric is not the solution here. </a:t>
            </a:r>
          </a:p>
          <a:p>
            <a:endParaRPr lang="en-IN" dirty="0"/>
          </a:p>
        </p:txBody>
      </p:sp>
    </p:spTree>
    <p:extLst>
      <p:ext uri="{BB962C8B-B14F-4D97-AF65-F5344CB8AC3E}">
        <p14:creationId xmlns:p14="http://schemas.microsoft.com/office/powerpoint/2010/main" val="22153032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pattFill prst="divot">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2.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1416</TotalTime>
  <Words>478</Words>
  <Application>Microsoft Office PowerPoint</Application>
  <PresentationFormat>Widescreen</PresentationFormat>
  <Paragraphs>47</Paragraphs>
  <Slides>24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Century Gothic</vt:lpstr>
      <vt:lpstr>Garamond</vt:lpstr>
      <vt:lpstr>Rockwell</vt:lpstr>
      <vt:lpstr>Segoe UI Light</vt:lpstr>
      <vt:lpstr>Times New Roman</vt:lpstr>
      <vt:lpstr>Office Theme</vt:lpstr>
      <vt:lpstr>Rating Prediction Submitted by Tushar Kumar Patel</vt:lpstr>
      <vt:lpstr>Project analysis slide 2</vt:lpstr>
      <vt:lpstr>PowerPoint Presentation</vt:lpstr>
      <vt:lpstr>PowerPoint Presentation</vt:lpstr>
      <vt:lpstr>Data Set Description</vt:lpstr>
      <vt:lpstr>Visualization  </vt:lpstr>
      <vt:lpstr>Sentiments of the customers</vt:lpstr>
      <vt:lpstr>Data Processing.</vt:lpstr>
      <vt:lpstr>PowerPoint Presentation</vt:lpstr>
      <vt:lpstr>PowerPoint Presentation</vt:lpstr>
      <vt:lpstr>PowerPoint Presentation</vt:lpstr>
      <vt:lpstr>PowerPoint Presentation</vt:lpstr>
      <vt:lpstr>PowerPoint Presentation</vt:lpstr>
      <vt:lpstr>PowerPoint Presentation</vt:lpstr>
      <vt:lpstr>Model Building</vt:lpstr>
      <vt:lpstr>PowerPoint Presentation</vt:lpstr>
      <vt:lpstr>PowerPoint Presentation</vt:lpstr>
      <vt:lpstr>PowerPoint Presentation</vt:lpstr>
      <vt:lpstr>Cross validation</vt:lpstr>
      <vt:lpstr>Hyper-parameter tuning.</vt:lpstr>
      <vt:lpstr>Prediction result after hyperparameter tuning.</vt:lpstr>
      <vt:lpstr>Comparison between Real value and Predicted value</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Credit Defaulter Submitted by Tushar Kumar Patel</dc:title>
  <dc:creator>rean26</dc:creator>
  <cp:lastModifiedBy>rean26</cp:lastModifiedBy>
  <cp:revision>8</cp:revision>
  <dcterms:created xsi:type="dcterms:W3CDTF">2021-08-31T13:48:51Z</dcterms:created>
  <dcterms:modified xsi:type="dcterms:W3CDTF">2021-11-19T18:16:29Z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