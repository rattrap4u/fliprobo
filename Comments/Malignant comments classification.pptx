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handoutMasterIdLst>
    <p:handoutMasterId r:id="rId24"/>
  </p:handoutMasterIdLst>
  <p:sldIdLst>
    <p:sldId id="256" r:id="rId5"/>
    <p:sldId id="276" r:id="rId6"/>
    <p:sldId id="291" r:id="rId7"/>
    <p:sldId id="316" r:id="rId8"/>
    <p:sldId id="258" r:id="rId9"/>
    <p:sldId id="260" r:id="rId10"/>
    <p:sldId id="261" r:id="rId11"/>
    <p:sldId id="262" r:id="rId12"/>
    <p:sldId id="264" r:id="rId13"/>
    <p:sldId id="410" r:id="rId14"/>
    <p:sldId id="265" r:id="rId15"/>
    <p:sldId id="266" r:id="rId16"/>
    <p:sldId id="267" r:id="rId17"/>
    <p:sldId id="271" r:id="rId18"/>
    <p:sldId id="275" r:id="rId19"/>
    <p:sldId id="406" r:id="rId20"/>
    <p:sldId id="407" r:id="rId21"/>
    <p:sldId id="28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97C820B-E27A-4AE0-97BC-07937DB1E3E6}">
          <p14:sldIdLst>
            <p14:sldId id="256"/>
            <p14:sldId id="276"/>
            <p14:sldId id="291"/>
            <p14:sldId id="316"/>
            <p14:sldId id="258"/>
            <p14:sldId id="260"/>
            <p14:sldId id="261"/>
            <p14:sldId id="262"/>
            <p14:sldId id="264"/>
            <p14:sldId id="410"/>
            <p14:sldId id="265"/>
            <p14:sldId id="266"/>
            <p14:sldId id="267"/>
            <p14:sldId id="271"/>
            <p14:sldId id="275"/>
            <p14:sldId id="406"/>
            <p14:sldId id="407"/>
            <p14:sldId id="285"/>
          </p14:sldIdLst>
        </p14:section>
      </p14:sectionLst>
    </p:ext>
    <p:ext uri="{EFAFB233-063F-42B5-8137-9DF3F51BA10A}">
      <p15:sldGuideLst xmlns:p15="http://schemas.microsoft.com/office/powerpoint/2012/main">
        <p15:guide id="1" orient="horz" pos="2328" userDrawn="1">
          <p15:clr>
            <a:srgbClr val="A4A3A4"/>
          </p15:clr>
        </p15:guide>
        <p15:guide id="2" pos="3863" userDrawn="1">
          <p15:clr>
            <a:srgbClr val="A4A3A4"/>
          </p15:clr>
        </p15:guide>
        <p15:guide id="3" pos="7537" userDrawn="1">
          <p15:clr>
            <a:srgbClr val="A4A3A4"/>
          </p15:clr>
        </p15:guide>
        <p15:guide id="4" pos="75" userDrawn="1">
          <p15:clr>
            <a:srgbClr val="A4A3A4"/>
          </p15:clr>
        </p15:guide>
        <p15:guide id="5" orient="horz" pos="618"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an26" initials="r_26" lastIdx="1" clrIdx="0">
    <p:extLst>
      <p:ext uri="{19B8F6BF-5375-455C-9EA6-DF929625EA0E}">
        <p15:presenceInfo xmlns:p15="http://schemas.microsoft.com/office/powerpoint/2012/main" userId="rean26"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49" autoAdjust="0"/>
    <p:restoredTop sz="95314" autoAdjust="0"/>
  </p:normalViewPr>
  <p:slideViewPr>
    <p:cSldViewPr snapToGrid="0" showGuides="1">
      <p:cViewPr varScale="1">
        <p:scale>
          <a:sx n="63" d="100"/>
          <a:sy n="63" d="100"/>
        </p:scale>
        <p:origin x="84" y="408"/>
      </p:cViewPr>
      <p:guideLst>
        <p:guide orient="horz" pos="2328"/>
        <p:guide pos="3863"/>
        <p:guide pos="7537"/>
        <p:guide pos="75"/>
        <p:guide orient="horz" pos="618"/>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EFAA9B-3CFE-4FE6-BF10-85D3FA9B4D6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4C7ECC28-3D71-4031-83C2-ADB36B9AD2D3}">
      <dgm:prSet phldrT="[Text]" custT="1"/>
      <dgm:spPr/>
      <dgm:t>
        <a:bodyPr/>
        <a:lstStyle/>
        <a:p>
          <a:r>
            <a:rPr lang="en-US" sz="4000" b="1" dirty="0"/>
            <a:t>Introduction</a:t>
          </a:r>
          <a:endParaRPr lang="en-IN" sz="4000" b="1" dirty="0"/>
        </a:p>
      </dgm:t>
    </dgm:pt>
    <dgm:pt modelId="{6CBDC37F-2FE4-400F-8732-DEA7811254DD}" type="parTrans" cxnId="{CD6063AC-325A-471B-B44D-30681E7C51E3}">
      <dgm:prSet/>
      <dgm:spPr/>
      <dgm:t>
        <a:bodyPr/>
        <a:lstStyle/>
        <a:p>
          <a:endParaRPr lang="en-IN"/>
        </a:p>
      </dgm:t>
    </dgm:pt>
    <dgm:pt modelId="{A769BF86-D11E-4359-AA8B-E9BE9140499D}" type="sibTrans" cxnId="{CD6063AC-325A-471B-B44D-30681E7C51E3}">
      <dgm:prSet/>
      <dgm:spPr/>
      <dgm:t>
        <a:bodyPr/>
        <a:lstStyle/>
        <a:p>
          <a:endParaRPr lang="en-IN"/>
        </a:p>
      </dgm:t>
    </dgm:pt>
    <dgm:pt modelId="{CFBCD687-B49E-4187-BBE0-D417F755DF64}">
      <dgm:prSet phldrT="[Text]" custT="1"/>
      <dgm:spPr/>
      <dgm:t>
        <a:bodyPr/>
        <a:lstStyle/>
        <a:p>
          <a:pPr algn="just"/>
          <a:endParaRPr lang="en-IN" sz="1200" dirty="0"/>
        </a:p>
      </dgm:t>
    </dgm:pt>
    <dgm:pt modelId="{3B7B24EE-9D08-4D5C-87D9-E82504C74C19}" type="parTrans" cxnId="{4540C12E-3BFD-4BE9-9979-FA5C32460034}">
      <dgm:prSet/>
      <dgm:spPr/>
      <dgm:t>
        <a:bodyPr/>
        <a:lstStyle/>
        <a:p>
          <a:endParaRPr lang="en-IN"/>
        </a:p>
      </dgm:t>
    </dgm:pt>
    <dgm:pt modelId="{B8E1A0CB-7C68-4B3B-AC3E-63C148235CF3}" type="sibTrans" cxnId="{4540C12E-3BFD-4BE9-9979-FA5C32460034}">
      <dgm:prSet/>
      <dgm:spPr/>
      <dgm:t>
        <a:bodyPr/>
        <a:lstStyle/>
        <a:p>
          <a:endParaRPr lang="en-IN"/>
        </a:p>
      </dgm:t>
    </dgm:pt>
    <dgm:pt modelId="{B8C7BFBF-7B36-4D9F-BEE8-9DE57A3DE33A}">
      <dgm:prSet phldrT="[Text]" custT="1"/>
      <dgm:spPr/>
      <dgm:t>
        <a:bodyPr/>
        <a:lstStyle/>
        <a:p>
          <a:pPr algn="just">
            <a:tabLst>
              <a:tab pos="9144000" algn="l"/>
            </a:tabLst>
          </a:pPr>
          <a:r>
            <a:rPr lang="en-IN" sz="1400" dirty="0"/>
            <a:t>The proliferation of social media enables people to express their opinions widely online. However, at the same time, this has resulted in the emergence of conflict and hate, making online environments uninviting for users. Although researchers have found that hate is a problem across multiple platforms, there is a lack of models for online hate detection.</a:t>
          </a:r>
        </a:p>
      </dgm:t>
    </dgm:pt>
    <dgm:pt modelId="{5C79660B-0D7B-4C4F-A40C-0DF7D83AE6A4}" type="sibTrans" cxnId="{490A86B9-0285-4EB9-BD71-6C428ED27071}">
      <dgm:prSet/>
      <dgm:spPr/>
      <dgm:t>
        <a:bodyPr/>
        <a:lstStyle/>
        <a:p>
          <a:endParaRPr lang="en-IN"/>
        </a:p>
      </dgm:t>
    </dgm:pt>
    <dgm:pt modelId="{A31050FE-9279-4320-A2DF-7661700A81B1}" type="parTrans" cxnId="{490A86B9-0285-4EB9-BD71-6C428ED27071}">
      <dgm:prSet/>
      <dgm:spPr/>
      <dgm:t>
        <a:bodyPr/>
        <a:lstStyle/>
        <a:p>
          <a:endParaRPr lang="en-IN"/>
        </a:p>
      </dgm:t>
    </dgm:pt>
    <dgm:pt modelId="{F29276B3-BFAB-49CB-B50E-B7D30CD6608E}">
      <dgm:prSet custT="1"/>
      <dgm:spPr/>
      <dgm:t>
        <a:bodyPr/>
        <a:lstStyle/>
        <a:p>
          <a:pPr algn="just"/>
          <a:r>
            <a:rPr lang="en-IN" sz="1400" dirty="0"/>
            <a:t>Online hate, described as abusive language, aggression, cyberbullying, hatefulness and many others has been identified as a major threat on online social media platforms. Social media platforms are the most prominent grounds for such toxic behaviour. </a:t>
          </a:r>
        </a:p>
      </dgm:t>
    </dgm:pt>
    <dgm:pt modelId="{07CFFD9C-29A8-4F0B-98EE-B8D4FC56BCF5}" type="parTrans" cxnId="{ACF00DC3-BEE3-409D-8F5D-D8C3726C3ECD}">
      <dgm:prSet/>
      <dgm:spPr/>
      <dgm:t>
        <a:bodyPr/>
        <a:lstStyle/>
        <a:p>
          <a:endParaRPr lang="en-IN"/>
        </a:p>
      </dgm:t>
    </dgm:pt>
    <dgm:pt modelId="{C24809FE-54C0-4823-97D8-5FCC0F166CA0}" type="sibTrans" cxnId="{ACF00DC3-BEE3-409D-8F5D-D8C3726C3ECD}">
      <dgm:prSet/>
      <dgm:spPr/>
      <dgm:t>
        <a:bodyPr/>
        <a:lstStyle/>
        <a:p>
          <a:endParaRPr lang="en-IN"/>
        </a:p>
      </dgm:t>
    </dgm:pt>
    <dgm:pt modelId="{89060B9B-E080-437A-8E22-705294F34A6B}">
      <dgm:prSet custT="1"/>
      <dgm:spPr/>
      <dgm:t>
        <a:bodyPr/>
        <a:lstStyle/>
        <a:p>
          <a:pPr algn="just"/>
          <a:r>
            <a:rPr lang="en-IN" sz="1400" dirty="0"/>
            <a:t>There has been a remarkable increase in the cases of cyberbullying and trolls on various social media platforms. Many celebrities and influences are facing backlashes from people and have to come across hateful and offensive comments. This can take a toll on anyone and affect them mentally leading to depression, mental illness, self-hatred and suicidal thoughts. </a:t>
          </a:r>
        </a:p>
      </dgm:t>
    </dgm:pt>
    <dgm:pt modelId="{4482F998-077C-4B21-BA68-BD3D8CF4C622}" type="parTrans" cxnId="{94E53811-BF5C-4F18-8D36-331D49F33083}">
      <dgm:prSet/>
      <dgm:spPr/>
      <dgm:t>
        <a:bodyPr/>
        <a:lstStyle/>
        <a:p>
          <a:endParaRPr lang="en-IN"/>
        </a:p>
      </dgm:t>
    </dgm:pt>
    <dgm:pt modelId="{D1D64444-A900-4D4D-A2FE-34FAB52D1E0E}" type="sibTrans" cxnId="{94E53811-BF5C-4F18-8D36-331D49F33083}">
      <dgm:prSet/>
      <dgm:spPr/>
      <dgm:t>
        <a:bodyPr/>
        <a:lstStyle/>
        <a:p>
          <a:endParaRPr lang="en-IN"/>
        </a:p>
      </dgm:t>
    </dgm:pt>
    <dgm:pt modelId="{DF6A79E3-8B4A-43F7-9BC2-C5E466A0DF0D}">
      <dgm:prSet custT="1"/>
      <dgm:spPr/>
      <dgm:t>
        <a:bodyPr/>
        <a:lstStyle/>
        <a:p>
          <a:pPr algn="just"/>
          <a:r>
            <a:rPr lang="en-IN" sz="1400" dirty="0"/>
            <a:t>Internet comments are bastions of hatred and vitriol. While online anonymity has provided a new outlet for aggression and hate speech, machine learning can be used to fight it. The problem we sought to solve was the tagging of internet comments that are aggressive towards other users. This means that insults to third parties such as celebrities will be tagged as unoffensive, but “u are an idiot” is clearly offensive.</a:t>
          </a:r>
        </a:p>
      </dgm:t>
    </dgm:pt>
    <dgm:pt modelId="{D4FF3633-CD8C-4A53-840D-E61BDA41206B}" type="parTrans" cxnId="{475FD54B-E5CE-48C6-8040-BFBC6DA52788}">
      <dgm:prSet/>
      <dgm:spPr/>
      <dgm:t>
        <a:bodyPr/>
        <a:lstStyle/>
        <a:p>
          <a:endParaRPr lang="en-IN"/>
        </a:p>
      </dgm:t>
    </dgm:pt>
    <dgm:pt modelId="{D79FBF35-9295-4386-BEDC-C2C755494C8F}" type="sibTrans" cxnId="{475FD54B-E5CE-48C6-8040-BFBC6DA52788}">
      <dgm:prSet/>
      <dgm:spPr/>
      <dgm:t>
        <a:bodyPr/>
        <a:lstStyle/>
        <a:p>
          <a:endParaRPr lang="en-IN"/>
        </a:p>
      </dgm:t>
    </dgm:pt>
    <dgm:pt modelId="{ADE5E09D-793D-4320-9D7E-E726584A8B1C}">
      <dgm:prSet custT="1"/>
      <dgm:spPr/>
      <dgm:t>
        <a:bodyPr/>
        <a:lstStyle/>
        <a:p>
          <a:pPr algn="just"/>
          <a:r>
            <a:rPr lang="en-IN" sz="1400" dirty="0"/>
            <a:t>Our goal is to build a prototype of online hate and abuse comment classifier which can used to classify hate and offensive comments so that it can be controlled and restricted from spreading hatred and cyberbullying.</a:t>
          </a:r>
        </a:p>
      </dgm:t>
    </dgm:pt>
    <dgm:pt modelId="{804C01EB-5FC9-4589-B918-D33F20E36F0C}" type="parTrans" cxnId="{6ECD6648-4FA3-4A63-8126-2AACF19E6D61}">
      <dgm:prSet/>
      <dgm:spPr/>
      <dgm:t>
        <a:bodyPr/>
        <a:lstStyle/>
        <a:p>
          <a:endParaRPr lang="en-IN"/>
        </a:p>
      </dgm:t>
    </dgm:pt>
    <dgm:pt modelId="{1389A9D1-61B1-4F14-A95D-B6D2C9058AD5}" type="sibTrans" cxnId="{6ECD6648-4FA3-4A63-8126-2AACF19E6D61}">
      <dgm:prSet/>
      <dgm:spPr/>
      <dgm:t>
        <a:bodyPr/>
        <a:lstStyle/>
        <a:p>
          <a:endParaRPr lang="en-IN"/>
        </a:p>
      </dgm:t>
    </dgm:pt>
    <dgm:pt modelId="{847B3061-EDA3-4EFA-A1AD-0265F3AD463B}">
      <dgm:prSet phldrT="[Text]" custT="1"/>
      <dgm:spPr/>
      <dgm:t>
        <a:bodyPr/>
        <a:lstStyle/>
        <a:p>
          <a:pPr algn="just"/>
          <a:endParaRPr lang="en-IN" sz="1400" dirty="0"/>
        </a:p>
      </dgm:t>
    </dgm:pt>
    <dgm:pt modelId="{A5C47B54-2FA7-48A8-B41A-B8782AD550C1}" type="parTrans" cxnId="{BD9E5435-50BF-44B6-A3C1-71FD489D673D}">
      <dgm:prSet/>
      <dgm:spPr/>
      <dgm:t>
        <a:bodyPr/>
        <a:lstStyle/>
        <a:p>
          <a:endParaRPr lang="en-IN"/>
        </a:p>
      </dgm:t>
    </dgm:pt>
    <dgm:pt modelId="{6A1ECFF3-A43A-4E67-8E25-4B1F1706AA47}" type="sibTrans" cxnId="{BD9E5435-50BF-44B6-A3C1-71FD489D673D}">
      <dgm:prSet/>
      <dgm:spPr/>
      <dgm:t>
        <a:bodyPr/>
        <a:lstStyle/>
        <a:p>
          <a:endParaRPr lang="en-IN"/>
        </a:p>
      </dgm:t>
    </dgm:pt>
    <dgm:pt modelId="{CF01BC83-A917-43D5-BAC7-E66BBDF2F652}">
      <dgm:prSet custT="1"/>
      <dgm:spPr/>
      <dgm:t>
        <a:bodyPr/>
        <a:lstStyle/>
        <a:p>
          <a:pPr algn="just"/>
          <a:endParaRPr lang="en-IN" sz="1400" dirty="0"/>
        </a:p>
      </dgm:t>
    </dgm:pt>
    <dgm:pt modelId="{F3E1325A-EE9E-47A5-94D3-0F1301A01FFD}" type="parTrans" cxnId="{0FE7FB4E-71F1-4A6F-BF9F-E2F4E43D47C1}">
      <dgm:prSet/>
      <dgm:spPr/>
      <dgm:t>
        <a:bodyPr/>
        <a:lstStyle/>
        <a:p>
          <a:endParaRPr lang="en-IN"/>
        </a:p>
      </dgm:t>
    </dgm:pt>
    <dgm:pt modelId="{10F21B6F-CD91-4068-9050-55EF0CC89633}" type="sibTrans" cxnId="{0FE7FB4E-71F1-4A6F-BF9F-E2F4E43D47C1}">
      <dgm:prSet/>
      <dgm:spPr/>
      <dgm:t>
        <a:bodyPr/>
        <a:lstStyle/>
        <a:p>
          <a:endParaRPr lang="en-IN"/>
        </a:p>
      </dgm:t>
    </dgm:pt>
    <dgm:pt modelId="{2E2E2D84-D01D-4073-A77B-FAC46F9A98FC}">
      <dgm:prSet custT="1"/>
      <dgm:spPr/>
      <dgm:t>
        <a:bodyPr/>
        <a:lstStyle/>
        <a:p>
          <a:pPr algn="just"/>
          <a:endParaRPr lang="en-IN" sz="1400" dirty="0"/>
        </a:p>
      </dgm:t>
    </dgm:pt>
    <dgm:pt modelId="{58A2F8CA-FA9E-4C31-9AA1-2ED7E0BFB9DF}" type="parTrans" cxnId="{C7C9F678-F0B0-45D2-AF3B-0D17C7DC417E}">
      <dgm:prSet/>
      <dgm:spPr/>
      <dgm:t>
        <a:bodyPr/>
        <a:lstStyle/>
        <a:p>
          <a:endParaRPr lang="en-IN"/>
        </a:p>
      </dgm:t>
    </dgm:pt>
    <dgm:pt modelId="{D43A75D8-E0FE-47B6-9733-B56999DB95A2}" type="sibTrans" cxnId="{C7C9F678-F0B0-45D2-AF3B-0D17C7DC417E}">
      <dgm:prSet/>
      <dgm:spPr/>
      <dgm:t>
        <a:bodyPr/>
        <a:lstStyle/>
        <a:p>
          <a:endParaRPr lang="en-IN"/>
        </a:p>
      </dgm:t>
    </dgm:pt>
    <dgm:pt modelId="{19A76161-E716-4C51-AC8F-AEC2037C30E2}">
      <dgm:prSet custT="1"/>
      <dgm:spPr/>
      <dgm:t>
        <a:bodyPr/>
        <a:lstStyle/>
        <a:p>
          <a:pPr algn="just"/>
          <a:endParaRPr lang="en-IN" sz="1400" dirty="0"/>
        </a:p>
      </dgm:t>
    </dgm:pt>
    <dgm:pt modelId="{E07BCE29-9B64-4C66-90BF-1A94EE435CFB}" type="parTrans" cxnId="{80279B8F-578F-4AF7-A630-9975F35F2EAA}">
      <dgm:prSet/>
      <dgm:spPr/>
      <dgm:t>
        <a:bodyPr/>
        <a:lstStyle/>
        <a:p>
          <a:endParaRPr lang="en-IN"/>
        </a:p>
      </dgm:t>
    </dgm:pt>
    <dgm:pt modelId="{9924EB93-B647-41D7-A214-DBB48A13FF78}" type="sibTrans" cxnId="{80279B8F-578F-4AF7-A630-9975F35F2EAA}">
      <dgm:prSet/>
      <dgm:spPr/>
      <dgm:t>
        <a:bodyPr/>
        <a:lstStyle/>
        <a:p>
          <a:endParaRPr lang="en-IN"/>
        </a:p>
      </dgm:t>
    </dgm:pt>
    <dgm:pt modelId="{3383EB6A-94CD-4F5B-912B-C9BA22EE2B80}" type="pres">
      <dgm:prSet presAssocID="{EBEFAA9B-3CFE-4FE6-BF10-85D3FA9B4D61}" presName="linear" presStyleCnt="0">
        <dgm:presLayoutVars>
          <dgm:animLvl val="lvl"/>
          <dgm:resizeHandles val="exact"/>
        </dgm:presLayoutVars>
      </dgm:prSet>
      <dgm:spPr/>
    </dgm:pt>
    <dgm:pt modelId="{0CECCBEA-FE88-4181-8497-87F6F3F92ECB}" type="pres">
      <dgm:prSet presAssocID="{4C7ECC28-3D71-4031-83C2-ADB36B9AD2D3}" presName="parentText" presStyleLbl="node1" presStyleIdx="0" presStyleCnt="1" custScaleY="65261" custLinFactY="-100000" custLinFactNeighborX="371" custLinFactNeighborY="-113081">
        <dgm:presLayoutVars>
          <dgm:chMax val="0"/>
          <dgm:bulletEnabled val="1"/>
        </dgm:presLayoutVars>
      </dgm:prSet>
      <dgm:spPr/>
    </dgm:pt>
    <dgm:pt modelId="{AB910E16-752A-4743-9EA8-C9F680447FE0}" type="pres">
      <dgm:prSet presAssocID="{4C7ECC28-3D71-4031-83C2-ADB36B9AD2D3}" presName="childText" presStyleLbl="revTx" presStyleIdx="0" presStyleCnt="1" custAng="0" custScaleY="246923" custLinFactNeighborY="28184">
        <dgm:presLayoutVars>
          <dgm:bulletEnabled val="1"/>
        </dgm:presLayoutVars>
      </dgm:prSet>
      <dgm:spPr/>
    </dgm:pt>
  </dgm:ptLst>
  <dgm:cxnLst>
    <dgm:cxn modelId="{4CC16E0A-C093-4788-9FD6-3F5868AF50E7}" type="presOf" srcId="{847B3061-EDA3-4EFA-A1AD-0265F3AD463B}" destId="{AB910E16-752A-4743-9EA8-C9F680447FE0}" srcOrd="0" destOrd="2" presId="urn:microsoft.com/office/officeart/2005/8/layout/vList2"/>
    <dgm:cxn modelId="{94E53811-BF5C-4F18-8D36-331D49F33083}" srcId="{4C7ECC28-3D71-4031-83C2-ADB36B9AD2D3}" destId="{89060B9B-E080-437A-8E22-705294F34A6B}" srcOrd="5" destOrd="0" parTransId="{4482F998-077C-4B21-BA68-BD3D8CF4C622}" sibTransId="{D1D64444-A900-4D4D-A2FE-34FAB52D1E0E}"/>
    <dgm:cxn modelId="{6D41612C-C801-41AB-858F-15DC475C3817}" type="presOf" srcId="{CFBCD687-B49E-4187-BBE0-D417F755DF64}" destId="{AB910E16-752A-4743-9EA8-C9F680447FE0}" srcOrd="0" destOrd="0" presId="urn:microsoft.com/office/officeart/2005/8/layout/vList2"/>
    <dgm:cxn modelId="{4540C12E-3BFD-4BE9-9979-FA5C32460034}" srcId="{4C7ECC28-3D71-4031-83C2-ADB36B9AD2D3}" destId="{CFBCD687-B49E-4187-BBE0-D417F755DF64}" srcOrd="0" destOrd="0" parTransId="{3B7B24EE-9D08-4D5C-87D9-E82504C74C19}" sibTransId="{B8E1A0CB-7C68-4B3B-AC3E-63C148235CF3}"/>
    <dgm:cxn modelId="{BD9E5435-50BF-44B6-A3C1-71FD489D673D}" srcId="{4C7ECC28-3D71-4031-83C2-ADB36B9AD2D3}" destId="{847B3061-EDA3-4EFA-A1AD-0265F3AD463B}" srcOrd="2" destOrd="0" parTransId="{A5C47B54-2FA7-48A8-B41A-B8782AD550C1}" sibTransId="{6A1ECFF3-A43A-4E67-8E25-4B1F1706AA47}"/>
    <dgm:cxn modelId="{1299D35D-BF13-42A8-A66B-A50E0D8C125B}" type="presOf" srcId="{F29276B3-BFAB-49CB-B50E-B7D30CD6608E}" destId="{AB910E16-752A-4743-9EA8-C9F680447FE0}" srcOrd="0" destOrd="3" presId="urn:microsoft.com/office/officeart/2005/8/layout/vList2"/>
    <dgm:cxn modelId="{43EF5343-AE1B-4EF3-A4E0-D5A8B356E414}" type="presOf" srcId="{4C7ECC28-3D71-4031-83C2-ADB36B9AD2D3}" destId="{0CECCBEA-FE88-4181-8497-87F6F3F92ECB}" srcOrd="0" destOrd="0" presId="urn:microsoft.com/office/officeart/2005/8/layout/vList2"/>
    <dgm:cxn modelId="{5BAB2F65-51A8-4748-A718-7878480150F5}" type="presOf" srcId="{2E2E2D84-D01D-4073-A77B-FAC46F9A98FC}" destId="{AB910E16-752A-4743-9EA8-C9F680447FE0}" srcOrd="0" destOrd="6" presId="urn:microsoft.com/office/officeart/2005/8/layout/vList2"/>
    <dgm:cxn modelId="{6ECD6648-4FA3-4A63-8126-2AACF19E6D61}" srcId="{4C7ECC28-3D71-4031-83C2-ADB36B9AD2D3}" destId="{ADE5E09D-793D-4320-9D7E-E726584A8B1C}" srcOrd="9" destOrd="0" parTransId="{804C01EB-5FC9-4589-B918-D33F20E36F0C}" sibTransId="{1389A9D1-61B1-4F14-A95D-B6D2C9058AD5}"/>
    <dgm:cxn modelId="{475FD54B-E5CE-48C6-8040-BFBC6DA52788}" srcId="{4C7ECC28-3D71-4031-83C2-ADB36B9AD2D3}" destId="{DF6A79E3-8B4A-43F7-9BC2-C5E466A0DF0D}" srcOrd="7" destOrd="0" parTransId="{D4FF3633-CD8C-4A53-840D-E61BDA41206B}" sibTransId="{D79FBF35-9295-4386-BEDC-C2C755494C8F}"/>
    <dgm:cxn modelId="{0FE7FB4E-71F1-4A6F-BF9F-E2F4E43D47C1}" srcId="{4C7ECC28-3D71-4031-83C2-ADB36B9AD2D3}" destId="{CF01BC83-A917-43D5-BAC7-E66BBDF2F652}" srcOrd="4" destOrd="0" parTransId="{F3E1325A-EE9E-47A5-94D3-0F1301A01FFD}" sibTransId="{10F21B6F-CD91-4068-9050-55EF0CC89633}"/>
    <dgm:cxn modelId="{621AFD50-795D-4596-B087-9C0EFCD49562}" type="presOf" srcId="{DF6A79E3-8B4A-43F7-9BC2-C5E466A0DF0D}" destId="{AB910E16-752A-4743-9EA8-C9F680447FE0}" srcOrd="0" destOrd="7" presId="urn:microsoft.com/office/officeart/2005/8/layout/vList2"/>
    <dgm:cxn modelId="{C7C9F678-F0B0-45D2-AF3B-0D17C7DC417E}" srcId="{4C7ECC28-3D71-4031-83C2-ADB36B9AD2D3}" destId="{2E2E2D84-D01D-4073-A77B-FAC46F9A98FC}" srcOrd="6" destOrd="0" parTransId="{58A2F8CA-FA9E-4C31-9AA1-2ED7E0BFB9DF}" sibTransId="{D43A75D8-E0FE-47B6-9733-B56999DB95A2}"/>
    <dgm:cxn modelId="{725A957C-5004-488C-9E45-F96CCC321CD7}" type="presOf" srcId="{CF01BC83-A917-43D5-BAC7-E66BBDF2F652}" destId="{AB910E16-752A-4743-9EA8-C9F680447FE0}" srcOrd="0" destOrd="4" presId="urn:microsoft.com/office/officeart/2005/8/layout/vList2"/>
    <dgm:cxn modelId="{CAFE9381-18E9-4AD5-9F3E-CE38363FF823}" type="presOf" srcId="{89060B9B-E080-437A-8E22-705294F34A6B}" destId="{AB910E16-752A-4743-9EA8-C9F680447FE0}" srcOrd="0" destOrd="5" presId="urn:microsoft.com/office/officeart/2005/8/layout/vList2"/>
    <dgm:cxn modelId="{80279B8F-578F-4AF7-A630-9975F35F2EAA}" srcId="{4C7ECC28-3D71-4031-83C2-ADB36B9AD2D3}" destId="{19A76161-E716-4C51-AC8F-AEC2037C30E2}" srcOrd="8" destOrd="0" parTransId="{E07BCE29-9B64-4C66-90BF-1A94EE435CFB}" sibTransId="{9924EB93-B647-41D7-A214-DBB48A13FF78}"/>
    <dgm:cxn modelId="{537CA9AA-FBF6-43D2-8FA7-7FC0DE34773D}" type="presOf" srcId="{EBEFAA9B-3CFE-4FE6-BF10-85D3FA9B4D61}" destId="{3383EB6A-94CD-4F5B-912B-C9BA22EE2B80}" srcOrd="0" destOrd="0" presId="urn:microsoft.com/office/officeart/2005/8/layout/vList2"/>
    <dgm:cxn modelId="{CD6063AC-325A-471B-B44D-30681E7C51E3}" srcId="{EBEFAA9B-3CFE-4FE6-BF10-85D3FA9B4D61}" destId="{4C7ECC28-3D71-4031-83C2-ADB36B9AD2D3}" srcOrd="0" destOrd="0" parTransId="{6CBDC37F-2FE4-400F-8732-DEA7811254DD}" sibTransId="{A769BF86-D11E-4359-AA8B-E9BE9140499D}"/>
    <dgm:cxn modelId="{490A86B9-0285-4EB9-BD71-6C428ED27071}" srcId="{4C7ECC28-3D71-4031-83C2-ADB36B9AD2D3}" destId="{B8C7BFBF-7B36-4D9F-BEE8-9DE57A3DE33A}" srcOrd="1" destOrd="0" parTransId="{A31050FE-9279-4320-A2DF-7661700A81B1}" sibTransId="{5C79660B-0D7B-4C4F-A40C-0DF7D83AE6A4}"/>
    <dgm:cxn modelId="{ACF00DC3-BEE3-409D-8F5D-D8C3726C3ECD}" srcId="{4C7ECC28-3D71-4031-83C2-ADB36B9AD2D3}" destId="{F29276B3-BFAB-49CB-B50E-B7D30CD6608E}" srcOrd="3" destOrd="0" parTransId="{07CFFD9C-29A8-4F0B-98EE-B8D4FC56BCF5}" sibTransId="{C24809FE-54C0-4823-97D8-5FCC0F166CA0}"/>
    <dgm:cxn modelId="{CA2F6BDC-4EB2-4036-8DD7-68F107492F81}" type="presOf" srcId="{19A76161-E716-4C51-AC8F-AEC2037C30E2}" destId="{AB910E16-752A-4743-9EA8-C9F680447FE0}" srcOrd="0" destOrd="8" presId="urn:microsoft.com/office/officeart/2005/8/layout/vList2"/>
    <dgm:cxn modelId="{FAB5D3E5-64B7-4C7D-B40B-D313F2480154}" type="presOf" srcId="{B8C7BFBF-7B36-4D9F-BEE8-9DE57A3DE33A}" destId="{AB910E16-752A-4743-9EA8-C9F680447FE0}" srcOrd="0" destOrd="1" presId="urn:microsoft.com/office/officeart/2005/8/layout/vList2"/>
    <dgm:cxn modelId="{E66158E9-BBD0-4EEF-893E-F37926CFA1D3}" type="presOf" srcId="{ADE5E09D-793D-4320-9D7E-E726584A8B1C}" destId="{AB910E16-752A-4743-9EA8-C9F680447FE0}" srcOrd="0" destOrd="9" presId="urn:microsoft.com/office/officeart/2005/8/layout/vList2"/>
    <dgm:cxn modelId="{C5DE0F31-E222-496A-8C35-312C7D52799D}" type="presParOf" srcId="{3383EB6A-94CD-4F5B-912B-C9BA22EE2B80}" destId="{0CECCBEA-FE88-4181-8497-87F6F3F92ECB}" srcOrd="0" destOrd="0" presId="urn:microsoft.com/office/officeart/2005/8/layout/vList2"/>
    <dgm:cxn modelId="{4671761B-E73C-4BC7-9895-9FD4641B7479}" type="presParOf" srcId="{3383EB6A-94CD-4F5B-912B-C9BA22EE2B80}" destId="{AB910E16-752A-4743-9EA8-C9F680447FE0}"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ECCBEA-FE88-4181-8497-87F6F3F92ECB}">
      <dsp:nvSpPr>
        <dsp:cNvPr id="0" name=""/>
        <dsp:cNvSpPr/>
      </dsp:nvSpPr>
      <dsp:spPr>
        <a:xfrm>
          <a:off x="0" y="0"/>
          <a:ext cx="9848850" cy="6010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b="1" kern="1200" dirty="0"/>
            <a:t>Introduction</a:t>
          </a:r>
          <a:endParaRPr lang="en-IN" sz="4000" b="1" kern="1200" dirty="0"/>
        </a:p>
      </dsp:txBody>
      <dsp:txXfrm>
        <a:off x="29341" y="29341"/>
        <a:ext cx="9790168" cy="542377"/>
      </dsp:txXfrm>
    </dsp:sp>
    <dsp:sp modelId="{AB910E16-752A-4743-9EA8-C9F680447FE0}">
      <dsp:nvSpPr>
        <dsp:cNvPr id="0" name=""/>
        <dsp:cNvSpPr/>
      </dsp:nvSpPr>
      <dsp:spPr>
        <a:xfrm>
          <a:off x="0" y="605727"/>
          <a:ext cx="9848850" cy="513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701" tIns="15240" rIns="85344" bIns="15240" numCol="1" spcCol="1270" anchor="t" anchorCtr="0">
          <a:noAutofit/>
        </a:bodyPr>
        <a:lstStyle/>
        <a:p>
          <a:pPr marL="114300" lvl="1" indent="-114300" algn="just" defTabSz="533400">
            <a:lnSpc>
              <a:spcPct val="90000"/>
            </a:lnSpc>
            <a:spcBef>
              <a:spcPct val="0"/>
            </a:spcBef>
            <a:spcAft>
              <a:spcPct val="20000"/>
            </a:spcAft>
            <a:buChar char="•"/>
          </a:pPr>
          <a:endParaRPr lang="en-IN" sz="1200" kern="1200" dirty="0"/>
        </a:p>
        <a:p>
          <a:pPr marL="114300" lvl="1" indent="-114300" algn="just" defTabSz="622300">
            <a:lnSpc>
              <a:spcPct val="90000"/>
            </a:lnSpc>
            <a:spcBef>
              <a:spcPct val="0"/>
            </a:spcBef>
            <a:spcAft>
              <a:spcPct val="20000"/>
            </a:spcAft>
            <a:buChar char="•"/>
            <a:tabLst>
              <a:tab pos="9144000" algn="l"/>
            </a:tabLst>
          </a:pPr>
          <a:r>
            <a:rPr lang="en-IN" sz="1400" kern="1200" dirty="0"/>
            <a:t>The proliferation of social media enables people to express their opinions widely online. However, at the same time, this has resulted in the emergence of conflict and hate, making online environments uninviting for users. Although researchers have found that hate is a problem across multiple platforms, there is a lack of models for online hate detection.</a:t>
          </a:r>
        </a:p>
        <a:p>
          <a:pPr marL="114300" lvl="1" indent="-114300" algn="just" defTabSz="622300">
            <a:lnSpc>
              <a:spcPct val="90000"/>
            </a:lnSpc>
            <a:spcBef>
              <a:spcPct val="0"/>
            </a:spcBef>
            <a:spcAft>
              <a:spcPct val="20000"/>
            </a:spcAft>
            <a:buChar char="•"/>
          </a:pPr>
          <a:endParaRPr lang="en-IN" sz="1400" kern="1200" dirty="0"/>
        </a:p>
        <a:p>
          <a:pPr marL="114300" lvl="1" indent="-114300" algn="just" defTabSz="622300">
            <a:lnSpc>
              <a:spcPct val="90000"/>
            </a:lnSpc>
            <a:spcBef>
              <a:spcPct val="0"/>
            </a:spcBef>
            <a:spcAft>
              <a:spcPct val="20000"/>
            </a:spcAft>
            <a:buChar char="•"/>
          </a:pPr>
          <a:r>
            <a:rPr lang="en-IN" sz="1400" kern="1200" dirty="0"/>
            <a:t>Online hate, described as abusive language, aggression, cyberbullying, hatefulness and many others has been identified as a major threat on online social media platforms. Social media platforms are the most prominent grounds for such toxic behaviour. </a:t>
          </a:r>
        </a:p>
        <a:p>
          <a:pPr marL="114300" lvl="1" indent="-114300" algn="just" defTabSz="622300">
            <a:lnSpc>
              <a:spcPct val="90000"/>
            </a:lnSpc>
            <a:spcBef>
              <a:spcPct val="0"/>
            </a:spcBef>
            <a:spcAft>
              <a:spcPct val="20000"/>
            </a:spcAft>
            <a:buChar char="•"/>
          </a:pPr>
          <a:endParaRPr lang="en-IN" sz="1400" kern="1200" dirty="0"/>
        </a:p>
        <a:p>
          <a:pPr marL="114300" lvl="1" indent="-114300" algn="just" defTabSz="622300">
            <a:lnSpc>
              <a:spcPct val="90000"/>
            </a:lnSpc>
            <a:spcBef>
              <a:spcPct val="0"/>
            </a:spcBef>
            <a:spcAft>
              <a:spcPct val="20000"/>
            </a:spcAft>
            <a:buChar char="•"/>
          </a:pPr>
          <a:r>
            <a:rPr lang="en-IN" sz="1400" kern="1200" dirty="0"/>
            <a:t>There has been a remarkable increase in the cases of cyberbullying and trolls on various social media platforms. Many celebrities and influences are facing backlashes from people and have to come across hateful and offensive comments. This can take a toll on anyone and affect them mentally leading to depression, mental illness, self-hatred and suicidal thoughts. </a:t>
          </a:r>
        </a:p>
        <a:p>
          <a:pPr marL="114300" lvl="1" indent="-114300" algn="just" defTabSz="622300">
            <a:lnSpc>
              <a:spcPct val="90000"/>
            </a:lnSpc>
            <a:spcBef>
              <a:spcPct val="0"/>
            </a:spcBef>
            <a:spcAft>
              <a:spcPct val="20000"/>
            </a:spcAft>
            <a:buChar char="•"/>
          </a:pPr>
          <a:endParaRPr lang="en-IN" sz="1400" kern="1200" dirty="0"/>
        </a:p>
        <a:p>
          <a:pPr marL="114300" lvl="1" indent="-114300" algn="just" defTabSz="622300">
            <a:lnSpc>
              <a:spcPct val="90000"/>
            </a:lnSpc>
            <a:spcBef>
              <a:spcPct val="0"/>
            </a:spcBef>
            <a:spcAft>
              <a:spcPct val="20000"/>
            </a:spcAft>
            <a:buChar char="•"/>
          </a:pPr>
          <a:r>
            <a:rPr lang="en-IN" sz="1400" kern="1200" dirty="0"/>
            <a:t>Internet comments are bastions of hatred and vitriol. While online anonymity has provided a new outlet for aggression and hate speech, machine learning can be used to fight it. The problem we sought to solve was the tagging of internet comments that are aggressive towards other users. This means that insults to third parties such as celebrities will be tagged as unoffensive, but “u are an idiot” is clearly offensive.</a:t>
          </a:r>
        </a:p>
        <a:p>
          <a:pPr marL="114300" lvl="1" indent="-114300" algn="just" defTabSz="622300">
            <a:lnSpc>
              <a:spcPct val="90000"/>
            </a:lnSpc>
            <a:spcBef>
              <a:spcPct val="0"/>
            </a:spcBef>
            <a:spcAft>
              <a:spcPct val="20000"/>
            </a:spcAft>
            <a:buChar char="•"/>
          </a:pPr>
          <a:endParaRPr lang="en-IN" sz="1400" kern="1200" dirty="0"/>
        </a:p>
        <a:p>
          <a:pPr marL="114300" lvl="1" indent="-114300" algn="just" defTabSz="622300">
            <a:lnSpc>
              <a:spcPct val="90000"/>
            </a:lnSpc>
            <a:spcBef>
              <a:spcPct val="0"/>
            </a:spcBef>
            <a:spcAft>
              <a:spcPct val="20000"/>
            </a:spcAft>
            <a:buChar char="•"/>
          </a:pPr>
          <a:r>
            <a:rPr lang="en-IN" sz="1400" kern="1200" dirty="0"/>
            <a:t>Our goal is to build a prototype of online hate and abuse comment classifier which can used to classify hate and offensive comments so that it can be controlled and restricted from spreading hatred and cyberbullying.</a:t>
          </a:r>
        </a:p>
      </dsp:txBody>
      <dsp:txXfrm>
        <a:off x="0" y="605727"/>
        <a:ext cx="9848850" cy="513746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10/15/2021</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10/15/2021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18</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10/15/2021</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10/15/2021</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10/15/2021</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10/15/2021</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10/15/2021</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10/15/2021</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10/15/2021</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10/15/2021</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10/15/2021</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10/15/2021</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10/15/2021</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10/15/2021</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4000" y="1928532"/>
            <a:ext cx="9144000" cy="3046988"/>
          </a:xfrm>
        </p:spPr>
        <p:txBody>
          <a:bodyPr lIns="0" tIns="0" rIns="0" bIns="0" anchor="t">
            <a:spAutoFit/>
          </a:bodyPr>
          <a:lstStyle/>
          <a:p>
            <a:r>
              <a:rPr lang="en-US" b="1" dirty="0">
                <a:solidFill>
                  <a:schemeClr val="bg1"/>
                </a:solidFill>
              </a:rPr>
              <a:t>Malignant Comments Classification</a:t>
            </a:r>
            <a:br>
              <a:rPr lang="en-US" dirty="0">
                <a:solidFill>
                  <a:schemeClr val="bg1"/>
                </a:solidFill>
              </a:rPr>
            </a:br>
            <a:r>
              <a:rPr lang="en-US" sz="4000" dirty="0">
                <a:solidFill>
                  <a:schemeClr val="accent4"/>
                </a:solidFill>
              </a:rPr>
              <a:t>Submitted by</a:t>
            </a:r>
            <a:br>
              <a:rPr lang="en-US" sz="4000" dirty="0">
                <a:solidFill>
                  <a:schemeClr val="accent4"/>
                </a:solidFill>
              </a:rPr>
            </a:br>
            <a:r>
              <a:rPr lang="en-US" b="1" dirty="0">
                <a:solidFill>
                  <a:schemeClr val="bg1"/>
                </a:solidFill>
              </a:rPr>
              <a:t>Tushar Kumar Patel</a:t>
            </a:r>
            <a:endParaRPr lang="en-US" dirty="0">
              <a:solidFill>
                <a:schemeClr val="accent4"/>
              </a:solidFill>
            </a:endParaRP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402010" y="4930120"/>
            <a:ext cx="1387979" cy="1252400"/>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364CFD90-D0E1-4BC3-9D8B-7503E2632C39}"/>
              </a:ext>
              <a:ext uri="{C183D7F6-B498-43B3-948B-1728B52AA6E4}">
                <adec:decorative xmlns:adec="http://schemas.microsoft.com/office/drawing/2017/decorative" val="1"/>
              </a:ext>
            </a:extLst>
          </p:cNvPr>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Project 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3ECCC05-FF78-40FA-84FF-172821D8B58A}"/>
              </a:ext>
              <a:ext uri="{C183D7F6-B498-43B3-948B-1728B52AA6E4}">
                <adec:decorative xmlns:adec="http://schemas.microsoft.com/office/drawing/2017/decorative" val="1"/>
              </a:ext>
            </a:extLst>
          </p:cNvPr>
          <p:cNvSpPr/>
          <p:nvPr/>
        </p:nvSpPr>
        <p:spPr>
          <a:xfrm>
            <a:off x="4922136" y="2660650"/>
            <a:ext cx="2475660" cy="229552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Malignant Comments Classification</a:t>
            </a:r>
          </a:p>
        </p:txBody>
      </p:sp>
      <p:sp>
        <p:nvSpPr>
          <p:cNvPr id="16" name="Rectangle: Rounded Corners 15">
            <a:extLst>
              <a:ext uri="{FF2B5EF4-FFF2-40B4-BE49-F238E27FC236}">
                <a16:creationId xmlns:a16="http://schemas.microsoft.com/office/drawing/2014/main" id="{D6178536-4D8A-4FF2-BBDC-4B3E7E0FCF26}"/>
              </a:ext>
              <a:ext uri="{C183D7F6-B498-43B3-948B-1728B52AA6E4}">
                <adec:decorative xmlns:adec="http://schemas.microsoft.com/office/drawing/2017/decorative" val="1"/>
              </a:ext>
            </a:extLst>
          </p:cNvPr>
          <p:cNvSpPr/>
          <p:nvPr/>
        </p:nvSpPr>
        <p:spPr>
          <a:xfrm>
            <a:off x="6943725" y="161387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Visualization</a:t>
            </a:r>
          </a:p>
        </p:txBody>
      </p:sp>
      <p:sp>
        <p:nvSpPr>
          <p:cNvPr id="15" name="Oval 14">
            <a:extLst>
              <a:ext uri="{FF2B5EF4-FFF2-40B4-BE49-F238E27FC236}">
                <a16:creationId xmlns:a16="http://schemas.microsoft.com/office/drawing/2014/main" id="{416F1356-9015-4B5C-9C64-3C1D963E5F59}"/>
              </a:ext>
              <a:ext uri="{C183D7F6-B498-43B3-948B-1728B52AA6E4}">
                <adec:decorative xmlns:adec="http://schemas.microsoft.com/office/drawing/2017/decorative" val="1"/>
              </a:ext>
            </a:extLst>
          </p:cNvPr>
          <p:cNvSpPr/>
          <p:nvPr/>
        </p:nvSpPr>
        <p:spPr>
          <a:xfrm>
            <a:off x="6832600" y="151447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B7F2E37-0ACF-4E8A-9C1D-EC5B65BA2906}"/>
              </a:ext>
              <a:ext uri="{C183D7F6-B498-43B3-948B-1728B52AA6E4}">
                <adec:decorative xmlns:adec="http://schemas.microsoft.com/office/drawing/2017/decorative" val="1"/>
              </a:ext>
            </a:extLst>
          </p:cNvPr>
          <p:cNvSpPr/>
          <p:nvPr/>
        </p:nvSpPr>
        <p:spPr>
          <a:xfrm>
            <a:off x="7693025" y="333472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Model</a:t>
            </a:r>
          </a:p>
        </p:txBody>
      </p:sp>
      <p:sp>
        <p:nvSpPr>
          <p:cNvPr id="20" name="Oval 19">
            <a:extLst>
              <a:ext uri="{FF2B5EF4-FFF2-40B4-BE49-F238E27FC236}">
                <a16:creationId xmlns:a16="http://schemas.microsoft.com/office/drawing/2014/main" id="{88F812F5-70AF-4FBD-80D9-D59B3C456D5E}"/>
              </a:ext>
              <a:ext uri="{C183D7F6-B498-43B3-948B-1728B52AA6E4}">
                <adec:decorative xmlns:adec="http://schemas.microsoft.com/office/drawing/2017/decorative" val="1"/>
              </a:ext>
            </a:extLst>
          </p:cNvPr>
          <p:cNvSpPr/>
          <p:nvPr/>
        </p:nvSpPr>
        <p:spPr>
          <a:xfrm>
            <a:off x="7490264" y="323532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Rounded Corners 20">
            <a:extLst>
              <a:ext uri="{FF2B5EF4-FFF2-40B4-BE49-F238E27FC236}">
                <a16:creationId xmlns:a16="http://schemas.microsoft.com/office/drawing/2014/main" id="{952C5002-7E64-4069-ACA0-6876E54A9B46}"/>
              </a:ext>
              <a:ext uri="{C183D7F6-B498-43B3-948B-1728B52AA6E4}">
                <adec:decorative xmlns:adec="http://schemas.microsoft.com/office/drawing/2017/decorative" val="1"/>
              </a:ext>
            </a:extLst>
          </p:cNvPr>
          <p:cNvSpPr/>
          <p:nvPr/>
        </p:nvSpPr>
        <p:spPr>
          <a:xfrm>
            <a:off x="6943725" y="5154978"/>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Conclusion</a:t>
            </a:r>
          </a:p>
        </p:txBody>
      </p:sp>
      <p:sp>
        <p:nvSpPr>
          <p:cNvPr id="22" name="Oval 21">
            <a:extLst>
              <a:ext uri="{FF2B5EF4-FFF2-40B4-BE49-F238E27FC236}">
                <a16:creationId xmlns:a16="http://schemas.microsoft.com/office/drawing/2014/main" id="{A49C5F3A-6F0D-4A0F-AE6E-92F342C22ACD}"/>
              </a:ext>
              <a:ext uri="{C183D7F6-B498-43B3-948B-1728B52AA6E4}">
                <adec:decorative xmlns:adec="http://schemas.microsoft.com/office/drawing/2017/decorative" val="1"/>
              </a:ext>
            </a:extLst>
          </p:cNvPr>
          <p:cNvSpPr/>
          <p:nvPr/>
        </p:nvSpPr>
        <p:spPr>
          <a:xfrm>
            <a:off x="6832600" y="5055576"/>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94A75A79-A67A-4A23-8588-7FC5EB9A5183}"/>
              </a:ext>
              <a:ext uri="{C183D7F6-B498-43B3-948B-1728B52AA6E4}">
                <adec:decorative xmlns:adec="http://schemas.microsoft.com/office/drawing/2017/decorative" val="1"/>
              </a:ext>
            </a:extLst>
          </p:cNvPr>
          <p:cNvSpPr/>
          <p:nvPr/>
        </p:nvSpPr>
        <p:spPr>
          <a:xfrm>
            <a:off x="1587500" y="161387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Inrtoduction</a:t>
            </a:r>
            <a:endParaRPr lang="en-US" sz="1600" dirty="0"/>
          </a:p>
        </p:txBody>
      </p:sp>
      <p:sp>
        <p:nvSpPr>
          <p:cNvPr id="26" name="Oval 25">
            <a:extLst>
              <a:ext uri="{FF2B5EF4-FFF2-40B4-BE49-F238E27FC236}">
                <a16:creationId xmlns:a16="http://schemas.microsoft.com/office/drawing/2014/main" id="{BBC62739-FA35-49F8-8929-743B31F55A69}"/>
              </a:ext>
              <a:ext uri="{C183D7F6-B498-43B3-948B-1728B52AA6E4}">
                <adec:decorative xmlns:adec="http://schemas.microsoft.com/office/drawing/2017/decorative" val="1"/>
              </a:ext>
            </a:extLst>
          </p:cNvPr>
          <p:cNvSpPr/>
          <p:nvPr/>
        </p:nvSpPr>
        <p:spPr>
          <a:xfrm>
            <a:off x="4419600" y="151447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71BB375D-5EE6-4428-9817-2C7DB6B94332}"/>
              </a:ext>
              <a:ext uri="{C183D7F6-B498-43B3-948B-1728B52AA6E4}">
                <adec:decorative xmlns:adec="http://schemas.microsoft.com/office/drawing/2017/decorative" val="1"/>
              </a:ext>
            </a:extLst>
          </p:cNvPr>
          <p:cNvSpPr/>
          <p:nvPr/>
        </p:nvSpPr>
        <p:spPr>
          <a:xfrm>
            <a:off x="838200" y="333472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Dataset and Features</a:t>
            </a:r>
          </a:p>
        </p:txBody>
      </p:sp>
      <p:sp>
        <p:nvSpPr>
          <p:cNvPr id="28" name="Oval 27">
            <a:extLst>
              <a:ext uri="{FF2B5EF4-FFF2-40B4-BE49-F238E27FC236}">
                <a16:creationId xmlns:a16="http://schemas.microsoft.com/office/drawing/2014/main" id="{B3A511B7-C7F3-4107-9962-1E10D2E087DD}"/>
              </a:ext>
              <a:ext uri="{C183D7F6-B498-43B3-948B-1728B52AA6E4}">
                <adec:decorative xmlns:adec="http://schemas.microsoft.com/office/drawing/2017/decorative" val="1"/>
              </a:ext>
            </a:extLst>
          </p:cNvPr>
          <p:cNvSpPr/>
          <p:nvPr/>
        </p:nvSpPr>
        <p:spPr>
          <a:xfrm>
            <a:off x="3670300" y="323532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D4D7D4B6-62C2-45AB-89A5-3A41DA021FD2}"/>
              </a:ext>
              <a:ext uri="{C183D7F6-B498-43B3-948B-1728B52AA6E4}">
                <adec:decorative xmlns:adec="http://schemas.microsoft.com/office/drawing/2017/decorative" val="1"/>
              </a:ext>
            </a:extLst>
          </p:cNvPr>
          <p:cNvSpPr/>
          <p:nvPr/>
        </p:nvSpPr>
        <p:spPr>
          <a:xfrm>
            <a:off x="1587500" y="5154978"/>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Processing</a:t>
            </a:r>
          </a:p>
        </p:txBody>
      </p:sp>
      <p:sp>
        <p:nvSpPr>
          <p:cNvPr id="30" name="Oval 29">
            <a:extLst>
              <a:ext uri="{FF2B5EF4-FFF2-40B4-BE49-F238E27FC236}">
                <a16:creationId xmlns:a16="http://schemas.microsoft.com/office/drawing/2014/main" id="{83902602-D4BC-4D44-AC14-BB55A86C5D06}"/>
              </a:ext>
              <a:ext uri="{C183D7F6-B498-43B3-948B-1728B52AA6E4}">
                <adec:decorative xmlns:adec="http://schemas.microsoft.com/office/drawing/2017/decorative" val="1"/>
              </a:ext>
            </a:extLst>
          </p:cNvPr>
          <p:cNvSpPr/>
          <p:nvPr/>
        </p:nvSpPr>
        <p:spPr>
          <a:xfrm>
            <a:off x="4419600" y="5055576"/>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1" name="Group 30" descr="Icons of bar chart and line graph.">
            <a:extLst>
              <a:ext uri="{FF2B5EF4-FFF2-40B4-BE49-F238E27FC236}">
                <a16:creationId xmlns:a16="http://schemas.microsoft.com/office/drawing/2014/main" id="{044C3643-8A0E-47C1-BEB8-C73203B5E58D}"/>
              </a:ext>
            </a:extLst>
          </p:cNvPr>
          <p:cNvGrpSpPr/>
          <p:nvPr/>
        </p:nvGrpSpPr>
        <p:grpSpPr>
          <a:xfrm>
            <a:off x="7133464" y="1774031"/>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56E8F5A5-5318-470B-8F42-337C264086A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6AA1356D-8F1B-4281-BEC5-5B4EBF7467B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6FB02354-C73F-4DCF-8004-E9CCA66963EA}"/>
              </a:ext>
            </a:extLst>
          </p:cNvPr>
          <p:cNvSpPr>
            <a:spLocks noEditPoints="1"/>
          </p:cNvSpPr>
          <p:nvPr/>
        </p:nvSpPr>
        <p:spPr bwMode="auto">
          <a:xfrm>
            <a:off x="4717582" y="1774031"/>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4665" descr="Icon of graph. ">
            <a:extLst>
              <a:ext uri="{FF2B5EF4-FFF2-40B4-BE49-F238E27FC236}">
                <a16:creationId xmlns:a16="http://schemas.microsoft.com/office/drawing/2014/main" id="{557E39B2-E017-4E5C-B53E-DDE3B9D4C92C}"/>
              </a:ext>
            </a:extLst>
          </p:cNvPr>
          <p:cNvSpPr>
            <a:spLocks/>
          </p:cNvSpPr>
          <p:nvPr/>
        </p:nvSpPr>
        <p:spPr bwMode="auto">
          <a:xfrm>
            <a:off x="7877961" y="3531386"/>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36" name="Group 35" descr="Icon of human being and gear. ">
            <a:extLst>
              <a:ext uri="{FF2B5EF4-FFF2-40B4-BE49-F238E27FC236}">
                <a16:creationId xmlns:a16="http://schemas.microsoft.com/office/drawing/2014/main" id="{ECC5F635-1712-4572-A9EC-F94E2199DDBD}"/>
              </a:ext>
            </a:extLst>
          </p:cNvPr>
          <p:cNvGrpSpPr/>
          <p:nvPr/>
        </p:nvGrpSpPr>
        <p:grpSpPr>
          <a:xfrm>
            <a:off x="7133464" y="5355478"/>
            <a:ext cx="338073" cy="339996"/>
            <a:chOff x="6450013" y="5349875"/>
            <a:chExt cx="279399" cy="280988"/>
          </a:xfrm>
          <a:solidFill>
            <a:schemeClr val="bg1"/>
          </a:solidFill>
        </p:grpSpPr>
        <p:sp>
          <p:nvSpPr>
            <p:cNvPr id="37" name="Freeform 3673">
              <a:extLst>
                <a:ext uri="{FF2B5EF4-FFF2-40B4-BE49-F238E27FC236}">
                  <a16:creationId xmlns:a16="http://schemas.microsoft.com/office/drawing/2014/main" id="{D1391604-D4EC-48A8-AE57-EDF194392FB1}"/>
                </a:ext>
              </a:extLst>
            </p:cNvPr>
            <p:cNvSpPr>
              <a:spLocks/>
            </p:cNvSpPr>
            <p:nvPr/>
          </p:nvSpPr>
          <p:spPr bwMode="auto">
            <a:xfrm>
              <a:off x="6450013" y="5349875"/>
              <a:ext cx="182562" cy="238125"/>
            </a:xfrm>
            <a:custGeom>
              <a:avLst/>
              <a:gdLst>
                <a:gd name="T0" fmla="*/ 379 w 459"/>
                <a:gd name="T1" fmla="*/ 550 h 602"/>
                <a:gd name="T2" fmla="*/ 380 w 459"/>
                <a:gd name="T3" fmla="*/ 519 h 602"/>
                <a:gd name="T4" fmla="*/ 345 w 459"/>
                <a:gd name="T5" fmla="*/ 495 h 602"/>
                <a:gd name="T6" fmla="*/ 397 w 459"/>
                <a:gd name="T7" fmla="*/ 400 h 602"/>
                <a:gd name="T8" fmla="*/ 408 w 459"/>
                <a:gd name="T9" fmla="*/ 395 h 602"/>
                <a:gd name="T10" fmla="*/ 450 w 459"/>
                <a:gd name="T11" fmla="*/ 406 h 602"/>
                <a:gd name="T12" fmla="*/ 412 w 459"/>
                <a:gd name="T13" fmla="*/ 384 h 602"/>
                <a:gd name="T14" fmla="*/ 376 w 459"/>
                <a:gd name="T15" fmla="*/ 370 h 602"/>
                <a:gd name="T16" fmla="*/ 361 w 459"/>
                <a:gd name="T17" fmla="*/ 307 h 602"/>
                <a:gd name="T18" fmla="*/ 379 w 459"/>
                <a:gd name="T19" fmla="*/ 288 h 602"/>
                <a:gd name="T20" fmla="*/ 397 w 459"/>
                <a:gd name="T21" fmla="*/ 252 h 602"/>
                <a:gd name="T22" fmla="*/ 406 w 459"/>
                <a:gd name="T23" fmla="*/ 214 h 602"/>
                <a:gd name="T24" fmla="*/ 415 w 459"/>
                <a:gd name="T25" fmla="*/ 202 h 602"/>
                <a:gd name="T26" fmla="*/ 420 w 459"/>
                <a:gd name="T27" fmla="*/ 183 h 602"/>
                <a:gd name="T28" fmla="*/ 416 w 459"/>
                <a:gd name="T29" fmla="*/ 152 h 602"/>
                <a:gd name="T30" fmla="*/ 412 w 459"/>
                <a:gd name="T31" fmla="*/ 121 h 602"/>
                <a:gd name="T32" fmla="*/ 420 w 459"/>
                <a:gd name="T33" fmla="*/ 78 h 602"/>
                <a:gd name="T34" fmla="*/ 415 w 459"/>
                <a:gd name="T35" fmla="*/ 45 h 602"/>
                <a:gd name="T36" fmla="*/ 403 w 459"/>
                <a:gd name="T37" fmla="*/ 27 h 602"/>
                <a:gd name="T38" fmla="*/ 382 w 459"/>
                <a:gd name="T39" fmla="*/ 15 h 602"/>
                <a:gd name="T40" fmla="*/ 341 w 459"/>
                <a:gd name="T41" fmla="*/ 3 h 602"/>
                <a:gd name="T42" fmla="*/ 291 w 459"/>
                <a:gd name="T43" fmla="*/ 0 h 602"/>
                <a:gd name="T44" fmla="*/ 245 w 459"/>
                <a:gd name="T45" fmla="*/ 9 h 602"/>
                <a:gd name="T46" fmla="*/ 213 w 459"/>
                <a:gd name="T47" fmla="*/ 27 h 602"/>
                <a:gd name="T48" fmla="*/ 201 w 459"/>
                <a:gd name="T49" fmla="*/ 42 h 602"/>
                <a:gd name="T50" fmla="*/ 181 w 459"/>
                <a:gd name="T51" fmla="*/ 44 h 602"/>
                <a:gd name="T52" fmla="*/ 163 w 459"/>
                <a:gd name="T53" fmla="*/ 56 h 602"/>
                <a:gd name="T54" fmla="*/ 155 w 459"/>
                <a:gd name="T55" fmla="*/ 87 h 602"/>
                <a:gd name="T56" fmla="*/ 164 w 459"/>
                <a:gd name="T57" fmla="*/ 138 h 602"/>
                <a:gd name="T58" fmla="*/ 159 w 459"/>
                <a:gd name="T59" fmla="*/ 144 h 602"/>
                <a:gd name="T60" fmla="*/ 150 w 459"/>
                <a:gd name="T61" fmla="*/ 162 h 602"/>
                <a:gd name="T62" fmla="*/ 149 w 459"/>
                <a:gd name="T63" fmla="*/ 184 h 602"/>
                <a:gd name="T64" fmla="*/ 154 w 459"/>
                <a:gd name="T65" fmla="*/ 201 h 602"/>
                <a:gd name="T66" fmla="*/ 163 w 459"/>
                <a:gd name="T67" fmla="*/ 214 h 602"/>
                <a:gd name="T68" fmla="*/ 169 w 459"/>
                <a:gd name="T69" fmla="*/ 237 h 602"/>
                <a:gd name="T70" fmla="*/ 179 w 459"/>
                <a:gd name="T71" fmla="*/ 271 h 602"/>
                <a:gd name="T72" fmla="*/ 203 w 459"/>
                <a:gd name="T73" fmla="*/ 306 h 602"/>
                <a:gd name="T74" fmla="*/ 215 w 459"/>
                <a:gd name="T75" fmla="*/ 364 h 602"/>
                <a:gd name="T76" fmla="*/ 171 w 459"/>
                <a:gd name="T77" fmla="*/ 381 h 602"/>
                <a:gd name="T78" fmla="*/ 106 w 459"/>
                <a:gd name="T79" fmla="*/ 401 h 602"/>
                <a:gd name="T80" fmla="*/ 46 w 459"/>
                <a:gd name="T81" fmla="*/ 428 h 602"/>
                <a:gd name="T82" fmla="*/ 22 w 459"/>
                <a:gd name="T83" fmla="*/ 449 h 602"/>
                <a:gd name="T84" fmla="*/ 10 w 459"/>
                <a:gd name="T85" fmla="*/ 479 h 602"/>
                <a:gd name="T86" fmla="*/ 2 w 459"/>
                <a:gd name="T87" fmla="*/ 540 h 602"/>
                <a:gd name="T88" fmla="*/ 1 w 459"/>
                <a:gd name="T89" fmla="*/ 594 h 602"/>
                <a:gd name="T90" fmla="*/ 11 w 459"/>
                <a:gd name="T91" fmla="*/ 602 h 602"/>
                <a:gd name="T92" fmla="*/ 345 w 459"/>
                <a:gd name="T93" fmla="*/ 589 h 602"/>
                <a:gd name="T94" fmla="*/ 352 w 459"/>
                <a:gd name="T95" fmla="*/ 577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9" h="602">
                  <a:moveTo>
                    <a:pt x="352" y="577"/>
                  </a:moveTo>
                  <a:lnTo>
                    <a:pt x="380" y="560"/>
                  </a:lnTo>
                  <a:lnTo>
                    <a:pt x="379" y="550"/>
                  </a:lnTo>
                  <a:lnTo>
                    <a:pt x="379" y="540"/>
                  </a:lnTo>
                  <a:lnTo>
                    <a:pt x="379" y="530"/>
                  </a:lnTo>
                  <a:lnTo>
                    <a:pt x="380" y="519"/>
                  </a:lnTo>
                  <a:lnTo>
                    <a:pt x="352" y="503"/>
                  </a:lnTo>
                  <a:lnTo>
                    <a:pt x="348" y="499"/>
                  </a:lnTo>
                  <a:lnTo>
                    <a:pt x="345" y="495"/>
                  </a:lnTo>
                  <a:lnTo>
                    <a:pt x="345" y="490"/>
                  </a:lnTo>
                  <a:lnTo>
                    <a:pt x="346" y="486"/>
                  </a:lnTo>
                  <a:lnTo>
                    <a:pt x="397" y="400"/>
                  </a:lnTo>
                  <a:lnTo>
                    <a:pt x="399" y="397"/>
                  </a:lnTo>
                  <a:lnTo>
                    <a:pt x="403" y="395"/>
                  </a:lnTo>
                  <a:lnTo>
                    <a:pt x="408" y="395"/>
                  </a:lnTo>
                  <a:lnTo>
                    <a:pt x="413" y="396"/>
                  </a:lnTo>
                  <a:lnTo>
                    <a:pt x="441" y="413"/>
                  </a:lnTo>
                  <a:lnTo>
                    <a:pt x="450" y="406"/>
                  </a:lnTo>
                  <a:lnTo>
                    <a:pt x="459" y="401"/>
                  </a:lnTo>
                  <a:lnTo>
                    <a:pt x="424" y="388"/>
                  </a:lnTo>
                  <a:lnTo>
                    <a:pt x="412" y="384"/>
                  </a:lnTo>
                  <a:lnTo>
                    <a:pt x="400" y="379"/>
                  </a:lnTo>
                  <a:lnTo>
                    <a:pt x="389" y="375"/>
                  </a:lnTo>
                  <a:lnTo>
                    <a:pt x="376" y="370"/>
                  </a:lnTo>
                  <a:lnTo>
                    <a:pt x="368" y="368"/>
                  </a:lnTo>
                  <a:lnTo>
                    <a:pt x="361" y="364"/>
                  </a:lnTo>
                  <a:lnTo>
                    <a:pt x="361" y="307"/>
                  </a:lnTo>
                  <a:lnTo>
                    <a:pt x="366" y="302"/>
                  </a:lnTo>
                  <a:lnTo>
                    <a:pt x="372" y="297"/>
                  </a:lnTo>
                  <a:lnTo>
                    <a:pt x="379" y="288"/>
                  </a:lnTo>
                  <a:lnTo>
                    <a:pt x="385" y="279"/>
                  </a:lnTo>
                  <a:lnTo>
                    <a:pt x="391" y="266"/>
                  </a:lnTo>
                  <a:lnTo>
                    <a:pt x="397" y="252"/>
                  </a:lnTo>
                  <a:lnTo>
                    <a:pt x="400" y="235"/>
                  </a:lnTo>
                  <a:lnTo>
                    <a:pt x="402" y="216"/>
                  </a:lnTo>
                  <a:lnTo>
                    <a:pt x="406" y="214"/>
                  </a:lnTo>
                  <a:lnTo>
                    <a:pt x="409" y="211"/>
                  </a:lnTo>
                  <a:lnTo>
                    <a:pt x="412" y="207"/>
                  </a:lnTo>
                  <a:lnTo>
                    <a:pt x="415" y="202"/>
                  </a:lnTo>
                  <a:lnTo>
                    <a:pt x="417" y="197"/>
                  </a:lnTo>
                  <a:lnTo>
                    <a:pt x="418" y="191"/>
                  </a:lnTo>
                  <a:lnTo>
                    <a:pt x="420" y="183"/>
                  </a:lnTo>
                  <a:lnTo>
                    <a:pt x="420" y="175"/>
                  </a:lnTo>
                  <a:lnTo>
                    <a:pt x="420" y="164"/>
                  </a:lnTo>
                  <a:lnTo>
                    <a:pt x="416" y="152"/>
                  </a:lnTo>
                  <a:lnTo>
                    <a:pt x="412" y="144"/>
                  </a:lnTo>
                  <a:lnTo>
                    <a:pt x="406" y="137"/>
                  </a:lnTo>
                  <a:lnTo>
                    <a:pt x="412" y="121"/>
                  </a:lnTo>
                  <a:lnTo>
                    <a:pt x="417" y="101"/>
                  </a:lnTo>
                  <a:lnTo>
                    <a:pt x="420" y="89"/>
                  </a:lnTo>
                  <a:lnTo>
                    <a:pt x="420" y="78"/>
                  </a:lnTo>
                  <a:lnTo>
                    <a:pt x="420" y="65"/>
                  </a:lnTo>
                  <a:lnTo>
                    <a:pt x="417" y="53"/>
                  </a:lnTo>
                  <a:lnTo>
                    <a:pt x="415" y="45"/>
                  </a:lnTo>
                  <a:lnTo>
                    <a:pt x="412" y="39"/>
                  </a:lnTo>
                  <a:lnTo>
                    <a:pt x="407" y="34"/>
                  </a:lnTo>
                  <a:lnTo>
                    <a:pt x="403" y="27"/>
                  </a:lnTo>
                  <a:lnTo>
                    <a:pt x="397" y="24"/>
                  </a:lnTo>
                  <a:lnTo>
                    <a:pt x="390" y="18"/>
                  </a:lnTo>
                  <a:lnTo>
                    <a:pt x="382" y="15"/>
                  </a:lnTo>
                  <a:lnTo>
                    <a:pt x="376" y="12"/>
                  </a:lnTo>
                  <a:lnTo>
                    <a:pt x="359" y="7"/>
                  </a:lnTo>
                  <a:lnTo>
                    <a:pt x="341" y="3"/>
                  </a:lnTo>
                  <a:lnTo>
                    <a:pt x="325" y="0"/>
                  </a:lnTo>
                  <a:lnTo>
                    <a:pt x="307" y="0"/>
                  </a:lnTo>
                  <a:lnTo>
                    <a:pt x="291" y="0"/>
                  </a:lnTo>
                  <a:lnTo>
                    <a:pt x="276" y="2"/>
                  </a:lnTo>
                  <a:lnTo>
                    <a:pt x="260" y="6"/>
                  </a:lnTo>
                  <a:lnTo>
                    <a:pt x="245" y="9"/>
                  </a:lnTo>
                  <a:lnTo>
                    <a:pt x="231" y="16"/>
                  </a:lnTo>
                  <a:lnTo>
                    <a:pt x="218" y="22"/>
                  </a:lnTo>
                  <a:lnTo>
                    <a:pt x="213" y="27"/>
                  </a:lnTo>
                  <a:lnTo>
                    <a:pt x="209" y="31"/>
                  </a:lnTo>
                  <a:lnTo>
                    <a:pt x="204" y="36"/>
                  </a:lnTo>
                  <a:lnTo>
                    <a:pt x="201" y="42"/>
                  </a:lnTo>
                  <a:lnTo>
                    <a:pt x="194" y="42"/>
                  </a:lnTo>
                  <a:lnTo>
                    <a:pt x="187" y="43"/>
                  </a:lnTo>
                  <a:lnTo>
                    <a:pt x="181" y="44"/>
                  </a:lnTo>
                  <a:lnTo>
                    <a:pt x="176" y="45"/>
                  </a:lnTo>
                  <a:lnTo>
                    <a:pt x="168" y="51"/>
                  </a:lnTo>
                  <a:lnTo>
                    <a:pt x="163" y="56"/>
                  </a:lnTo>
                  <a:lnTo>
                    <a:pt x="158" y="65"/>
                  </a:lnTo>
                  <a:lnTo>
                    <a:pt x="155" y="75"/>
                  </a:lnTo>
                  <a:lnTo>
                    <a:pt x="155" y="87"/>
                  </a:lnTo>
                  <a:lnTo>
                    <a:pt x="155" y="98"/>
                  </a:lnTo>
                  <a:lnTo>
                    <a:pt x="159" y="120"/>
                  </a:lnTo>
                  <a:lnTo>
                    <a:pt x="164" y="138"/>
                  </a:lnTo>
                  <a:lnTo>
                    <a:pt x="164" y="139"/>
                  </a:lnTo>
                  <a:lnTo>
                    <a:pt x="164" y="139"/>
                  </a:lnTo>
                  <a:lnTo>
                    <a:pt x="159" y="144"/>
                  </a:lnTo>
                  <a:lnTo>
                    <a:pt x="154" y="151"/>
                  </a:lnTo>
                  <a:lnTo>
                    <a:pt x="151" y="156"/>
                  </a:lnTo>
                  <a:lnTo>
                    <a:pt x="150" y="162"/>
                  </a:lnTo>
                  <a:lnTo>
                    <a:pt x="149" y="170"/>
                  </a:lnTo>
                  <a:lnTo>
                    <a:pt x="149" y="176"/>
                  </a:lnTo>
                  <a:lnTo>
                    <a:pt x="149" y="184"/>
                  </a:lnTo>
                  <a:lnTo>
                    <a:pt x="150" y="191"/>
                  </a:lnTo>
                  <a:lnTo>
                    <a:pt x="151" y="196"/>
                  </a:lnTo>
                  <a:lnTo>
                    <a:pt x="154" y="201"/>
                  </a:lnTo>
                  <a:lnTo>
                    <a:pt x="156" y="206"/>
                  </a:lnTo>
                  <a:lnTo>
                    <a:pt x="159" y="210"/>
                  </a:lnTo>
                  <a:lnTo>
                    <a:pt x="163" y="214"/>
                  </a:lnTo>
                  <a:lnTo>
                    <a:pt x="167" y="216"/>
                  </a:lnTo>
                  <a:lnTo>
                    <a:pt x="168" y="227"/>
                  </a:lnTo>
                  <a:lnTo>
                    <a:pt x="169" y="237"/>
                  </a:lnTo>
                  <a:lnTo>
                    <a:pt x="172" y="246"/>
                  </a:lnTo>
                  <a:lnTo>
                    <a:pt x="174" y="255"/>
                  </a:lnTo>
                  <a:lnTo>
                    <a:pt x="179" y="271"/>
                  </a:lnTo>
                  <a:lnTo>
                    <a:pt x="187" y="286"/>
                  </a:lnTo>
                  <a:lnTo>
                    <a:pt x="195" y="297"/>
                  </a:lnTo>
                  <a:lnTo>
                    <a:pt x="203" y="306"/>
                  </a:lnTo>
                  <a:lnTo>
                    <a:pt x="210" y="314"/>
                  </a:lnTo>
                  <a:lnTo>
                    <a:pt x="215" y="319"/>
                  </a:lnTo>
                  <a:lnTo>
                    <a:pt x="215" y="364"/>
                  </a:lnTo>
                  <a:lnTo>
                    <a:pt x="201" y="369"/>
                  </a:lnTo>
                  <a:lnTo>
                    <a:pt x="186" y="375"/>
                  </a:lnTo>
                  <a:lnTo>
                    <a:pt x="171" y="381"/>
                  </a:lnTo>
                  <a:lnTo>
                    <a:pt x="155" y="384"/>
                  </a:lnTo>
                  <a:lnTo>
                    <a:pt x="129" y="393"/>
                  </a:lnTo>
                  <a:lnTo>
                    <a:pt x="106" y="401"/>
                  </a:lnTo>
                  <a:lnTo>
                    <a:pt x="83" y="410"/>
                  </a:lnTo>
                  <a:lnTo>
                    <a:pt x="64" y="419"/>
                  </a:lnTo>
                  <a:lnTo>
                    <a:pt x="46" y="428"/>
                  </a:lnTo>
                  <a:lnTo>
                    <a:pt x="32" y="438"/>
                  </a:lnTo>
                  <a:lnTo>
                    <a:pt x="27" y="444"/>
                  </a:lnTo>
                  <a:lnTo>
                    <a:pt x="22" y="449"/>
                  </a:lnTo>
                  <a:lnTo>
                    <a:pt x="18" y="455"/>
                  </a:lnTo>
                  <a:lnTo>
                    <a:pt x="15" y="460"/>
                  </a:lnTo>
                  <a:lnTo>
                    <a:pt x="10" y="479"/>
                  </a:lnTo>
                  <a:lnTo>
                    <a:pt x="6" y="499"/>
                  </a:lnTo>
                  <a:lnTo>
                    <a:pt x="4" y="521"/>
                  </a:lnTo>
                  <a:lnTo>
                    <a:pt x="2" y="540"/>
                  </a:lnTo>
                  <a:lnTo>
                    <a:pt x="0" y="573"/>
                  </a:lnTo>
                  <a:lnTo>
                    <a:pt x="0" y="589"/>
                  </a:lnTo>
                  <a:lnTo>
                    <a:pt x="1" y="594"/>
                  </a:lnTo>
                  <a:lnTo>
                    <a:pt x="4" y="598"/>
                  </a:lnTo>
                  <a:lnTo>
                    <a:pt x="7" y="600"/>
                  </a:lnTo>
                  <a:lnTo>
                    <a:pt x="11" y="602"/>
                  </a:lnTo>
                  <a:lnTo>
                    <a:pt x="350" y="602"/>
                  </a:lnTo>
                  <a:lnTo>
                    <a:pt x="346" y="594"/>
                  </a:lnTo>
                  <a:lnTo>
                    <a:pt x="345" y="589"/>
                  </a:lnTo>
                  <a:lnTo>
                    <a:pt x="345" y="585"/>
                  </a:lnTo>
                  <a:lnTo>
                    <a:pt x="348" y="581"/>
                  </a:lnTo>
                  <a:lnTo>
                    <a:pt x="352" y="5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3674">
              <a:extLst>
                <a:ext uri="{FF2B5EF4-FFF2-40B4-BE49-F238E27FC236}">
                  <a16:creationId xmlns:a16="http://schemas.microsoft.com/office/drawing/2014/main" id="{44A4D0F8-0767-41BC-BE62-0AED99EC8B25}"/>
                </a:ext>
              </a:extLst>
            </p:cNvPr>
            <p:cNvSpPr>
              <a:spLocks noEditPoints="1"/>
            </p:cNvSpPr>
            <p:nvPr/>
          </p:nvSpPr>
          <p:spPr bwMode="auto">
            <a:xfrm>
              <a:off x="6597650" y="5497513"/>
              <a:ext cx="131762" cy="133350"/>
            </a:xfrm>
            <a:custGeom>
              <a:avLst/>
              <a:gdLst>
                <a:gd name="T0" fmla="*/ 151 w 332"/>
                <a:gd name="T1" fmla="*/ 243 h 336"/>
                <a:gd name="T2" fmla="*/ 129 w 332"/>
                <a:gd name="T3" fmla="*/ 235 h 336"/>
                <a:gd name="T4" fmla="*/ 111 w 332"/>
                <a:gd name="T5" fmla="*/ 222 h 336"/>
                <a:gd name="T6" fmla="*/ 97 w 332"/>
                <a:gd name="T7" fmla="*/ 204 h 336"/>
                <a:gd name="T8" fmla="*/ 89 w 332"/>
                <a:gd name="T9" fmla="*/ 182 h 336"/>
                <a:gd name="T10" fmla="*/ 88 w 332"/>
                <a:gd name="T11" fmla="*/ 159 h 336"/>
                <a:gd name="T12" fmla="*/ 94 w 332"/>
                <a:gd name="T13" fmla="*/ 136 h 336"/>
                <a:gd name="T14" fmla="*/ 106 w 332"/>
                <a:gd name="T15" fmla="*/ 117 h 336"/>
                <a:gd name="T16" fmla="*/ 122 w 332"/>
                <a:gd name="T17" fmla="*/ 103 h 336"/>
                <a:gd name="T18" fmla="*/ 143 w 332"/>
                <a:gd name="T19" fmla="*/ 92 h 336"/>
                <a:gd name="T20" fmla="*/ 166 w 332"/>
                <a:gd name="T21" fmla="*/ 89 h 336"/>
                <a:gd name="T22" fmla="*/ 189 w 332"/>
                <a:gd name="T23" fmla="*/ 92 h 336"/>
                <a:gd name="T24" fmla="*/ 210 w 332"/>
                <a:gd name="T25" fmla="*/ 103 h 336"/>
                <a:gd name="T26" fmla="*/ 226 w 332"/>
                <a:gd name="T27" fmla="*/ 117 h 336"/>
                <a:gd name="T28" fmla="*/ 238 w 332"/>
                <a:gd name="T29" fmla="*/ 136 h 336"/>
                <a:gd name="T30" fmla="*/ 243 w 332"/>
                <a:gd name="T31" fmla="*/ 159 h 336"/>
                <a:gd name="T32" fmla="*/ 242 w 332"/>
                <a:gd name="T33" fmla="*/ 182 h 336"/>
                <a:gd name="T34" fmla="*/ 234 w 332"/>
                <a:gd name="T35" fmla="*/ 204 h 336"/>
                <a:gd name="T36" fmla="*/ 221 w 332"/>
                <a:gd name="T37" fmla="*/ 222 h 336"/>
                <a:gd name="T38" fmla="*/ 203 w 332"/>
                <a:gd name="T39" fmla="*/ 235 h 336"/>
                <a:gd name="T40" fmla="*/ 181 w 332"/>
                <a:gd name="T41" fmla="*/ 243 h 336"/>
                <a:gd name="T42" fmla="*/ 306 w 332"/>
                <a:gd name="T43" fmla="*/ 204 h 336"/>
                <a:gd name="T44" fmla="*/ 300 w 332"/>
                <a:gd name="T45" fmla="*/ 195 h 336"/>
                <a:gd name="T46" fmla="*/ 302 w 332"/>
                <a:gd name="T47" fmla="*/ 167 h 336"/>
                <a:gd name="T48" fmla="*/ 300 w 332"/>
                <a:gd name="T49" fmla="*/ 139 h 336"/>
                <a:gd name="T50" fmla="*/ 306 w 332"/>
                <a:gd name="T51" fmla="*/ 130 h 336"/>
                <a:gd name="T52" fmla="*/ 269 w 332"/>
                <a:gd name="T53" fmla="*/ 64 h 336"/>
                <a:gd name="T54" fmla="*/ 257 w 332"/>
                <a:gd name="T55" fmla="*/ 65 h 336"/>
                <a:gd name="T56" fmla="*/ 242 w 332"/>
                <a:gd name="T57" fmla="*/ 53 h 336"/>
                <a:gd name="T58" fmla="*/ 215 w 332"/>
                <a:gd name="T59" fmla="*/ 35 h 336"/>
                <a:gd name="T60" fmla="*/ 207 w 332"/>
                <a:gd name="T61" fmla="*/ 27 h 336"/>
                <a:gd name="T62" fmla="*/ 135 w 332"/>
                <a:gd name="T63" fmla="*/ 0 h 336"/>
                <a:gd name="T64" fmla="*/ 133 w 332"/>
                <a:gd name="T65" fmla="*/ 31 h 336"/>
                <a:gd name="T66" fmla="*/ 113 w 332"/>
                <a:gd name="T67" fmla="*/ 41 h 336"/>
                <a:gd name="T68" fmla="*/ 77 w 332"/>
                <a:gd name="T69" fmla="*/ 63 h 336"/>
                <a:gd name="T70" fmla="*/ 67 w 332"/>
                <a:gd name="T71" fmla="*/ 65 h 336"/>
                <a:gd name="T72" fmla="*/ 0 w 332"/>
                <a:gd name="T73" fmla="*/ 114 h 336"/>
                <a:gd name="T74" fmla="*/ 31 w 332"/>
                <a:gd name="T75" fmla="*/ 135 h 336"/>
                <a:gd name="T76" fmla="*/ 30 w 332"/>
                <a:gd name="T77" fmla="*/ 154 h 336"/>
                <a:gd name="T78" fmla="*/ 31 w 332"/>
                <a:gd name="T79" fmla="*/ 191 h 336"/>
                <a:gd name="T80" fmla="*/ 29 w 332"/>
                <a:gd name="T81" fmla="*/ 202 h 336"/>
                <a:gd name="T82" fmla="*/ 38 w 332"/>
                <a:gd name="T83" fmla="*/ 284 h 336"/>
                <a:gd name="T84" fmla="*/ 71 w 332"/>
                <a:gd name="T85" fmla="*/ 267 h 336"/>
                <a:gd name="T86" fmla="*/ 89 w 332"/>
                <a:gd name="T87" fmla="*/ 279 h 336"/>
                <a:gd name="T88" fmla="*/ 139 w 332"/>
                <a:gd name="T89" fmla="*/ 300 h 336"/>
                <a:gd name="T90" fmla="*/ 146 w 332"/>
                <a:gd name="T91" fmla="*/ 308 h 336"/>
                <a:gd name="T92" fmla="*/ 207 w 332"/>
                <a:gd name="T93" fmla="*/ 336 h 336"/>
                <a:gd name="T94" fmla="*/ 208 w 332"/>
                <a:gd name="T95" fmla="*/ 306 h 336"/>
                <a:gd name="T96" fmla="*/ 223 w 332"/>
                <a:gd name="T97" fmla="*/ 297 h 336"/>
                <a:gd name="T98" fmla="*/ 246 w 332"/>
                <a:gd name="T99" fmla="*/ 279 h 336"/>
                <a:gd name="T100" fmla="*/ 257 w 332"/>
                <a:gd name="T101" fmla="*/ 268 h 336"/>
                <a:gd name="T102" fmla="*/ 269 w 332"/>
                <a:gd name="T103" fmla="*/ 270 h 336"/>
                <a:gd name="T104" fmla="*/ 306 w 332"/>
                <a:gd name="T105" fmla="*/ 20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32" h="336">
                  <a:moveTo>
                    <a:pt x="166" y="245"/>
                  </a:moveTo>
                  <a:lnTo>
                    <a:pt x="158" y="244"/>
                  </a:lnTo>
                  <a:lnTo>
                    <a:pt x="151" y="243"/>
                  </a:lnTo>
                  <a:lnTo>
                    <a:pt x="143" y="241"/>
                  </a:lnTo>
                  <a:lnTo>
                    <a:pt x="135" y="239"/>
                  </a:lnTo>
                  <a:lnTo>
                    <a:pt x="129" y="235"/>
                  </a:lnTo>
                  <a:lnTo>
                    <a:pt x="122" y="231"/>
                  </a:lnTo>
                  <a:lnTo>
                    <a:pt x="116" y="227"/>
                  </a:lnTo>
                  <a:lnTo>
                    <a:pt x="111" y="222"/>
                  </a:lnTo>
                  <a:lnTo>
                    <a:pt x="106" y="217"/>
                  </a:lnTo>
                  <a:lnTo>
                    <a:pt x="101" y="211"/>
                  </a:lnTo>
                  <a:lnTo>
                    <a:pt x="97" y="204"/>
                  </a:lnTo>
                  <a:lnTo>
                    <a:pt x="94" y="198"/>
                  </a:lnTo>
                  <a:lnTo>
                    <a:pt x="92" y="190"/>
                  </a:lnTo>
                  <a:lnTo>
                    <a:pt x="89" y="182"/>
                  </a:lnTo>
                  <a:lnTo>
                    <a:pt x="88" y="175"/>
                  </a:lnTo>
                  <a:lnTo>
                    <a:pt x="88" y="167"/>
                  </a:lnTo>
                  <a:lnTo>
                    <a:pt x="88" y="159"/>
                  </a:lnTo>
                  <a:lnTo>
                    <a:pt x="89" y="151"/>
                  </a:lnTo>
                  <a:lnTo>
                    <a:pt x="92" y="144"/>
                  </a:lnTo>
                  <a:lnTo>
                    <a:pt x="94" y="136"/>
                  </a:lnTo>
                  <a:lnTo>
                    <a:pt x="97" y="130"/>
                  </a:lnTo>
                  <a:lnTo>
                    <a:pt x="101" y="123"/>
                  </a:lnTo>
                  <a:lnTo>
                    <a:pt x="106" y="117"/>
                  </a:lnTo>
                  <a:lnTo>
                    <a:pt x="111" y="112"/>
                  </a:lnTo>
                  <a:lnTo>
                    <a:pt x="116" y="106"/>
                  </a:lnTo>
                  <a:lnTo>
                    <a:pt x="122" y="103"/>
                  </a:lnTo>
                  <a:lnTo>
                    <a:pt x="129" y="99"/>
                  </a:lnTo>
                  <a:lnTo>
                    <a:pt x="135" y="95"/>
                  </a:lnTo>
                  <a:lnTo>
                    <a:pt x="143" y="92"/>
                  </a:lnTo>
                  <a:lnTo>
                    <a:pt x="151" y="90"/>
                  </a:lnTo>
                  <a:lnTo>
                    <a:pt x="158" y="90"/>
                  </a:lnTo>
                  <a:lnTo>
                    <a:pt x="166" y="89"/>
                  </a:lnTo>
                  <a:lnTo>
                    <a:pt x="174" y="90"/>
                  </a:lnTo>
                  <a:lnTo>
                    <a:pt x="181" y="90"/>
                  </a:lnTo>
                  <a:lnTo>
                    <a:pt x="189" y="92"/>
                  </a:lnTo>
                  <a:lnTo>
                    <a:pt x="196" y="95"/>
                  </a:lnTo>
                  <a:lnTo>
                    <a:pt x="203" y="99"/>
                  </a:lnTo>
                  <a:lnTo>
                    <a:pt x="210" y="103"/>
                  </a:lnTo>
                  <a:lnTo>
                    <a:pt x="215" y="106"/>
                  </a:lnTo>
                  <a:lnTo>
                    <a:pt x="221" y="112"/>
                  </a:lnTo>
                  <a:lnTo>
                    <a:pt x="226" y="117"/>
                  </a:lnTo>
                  <a:lnTo>
                    <a:pt x="230" y="123"/>
                  </a:lnTo>
                  <a:lnTo>
                    <a:pt x="234" y="130"/>
                  </a:lnTo>
                  <a:lnTo>
                    <a:pt x="238" y="136"/>
                  </a:lnTo>
                  <a:lnTo>
                    <a:pt x="241" y="144"/>
                  </a:lnTo>
                  <a:lnTo>
                    <a:pt x="242" y="151"/>
                  </a:lnTo>
                  <a:lnTo>
                    <a:pt x="243" y="159"/>
                  </a:lnTo>
                  <a:lnTo>
                    <a:pt x="244" y="167"/>
                  </a:lnTo>
                  <a:lnTo>
                    <a:pt x="243" y="175"/>
                  </a:lnTo>
                  <a:lnTo>
                    <a:pt x="242" y="182"/>
                  </a:lnTo>
                  <a:lnTo>
                    <a:pt x="241" y="190"/>
                  </a:lnTo>
                  <a:lnTo>
                    <a:pt x="238" y="198"/>
                  </a:lnTo>
                  <a:lnTo>
                    <a:pt x="234" y="204"/>
                  </a:lnTo>
                  <a:lnTo>
                    <a:pt x="230" y="211"/>
                  </a:lnTo>
                  <a:lnTo>
                    <a:pt x="226" y="217"/>
                  </a:lnTo>
                  <a:lnTo>
                    <a:pt x="221" y="222"/>
                  </a:lnTo>
                  <a:lnTo>
                    <a:pt x="215" y="227"/>
                  </a:lnTo>
                  <a:lnTo>
                    <a:pt x="210" y="231"/>
                  </a:lnTo>
                  <a:lnTo>
                    <a:pt x="203" y="235"/>
                  </a:lnTo>
                  <a:lnTo>
                    <a:pt x="196" y="239"/>
                  </a:lnTo>
                  <a:lnTo>
                    <a:pt x="189" y="241"/>
                  </a:lnTo>
                  <a:lnTo>
                    <a:pt x="181" y="243"/>
                  </a:lnTo>
                  <a:lnTo>
                    <a:pt x="174" y="244"/>
                  </a:lnTo>
                  <a:lnTo>
                    <a:pt x="166" y="245"/>
                  </a:lnTo>
                  <a:close/>
                  <a:moveTo>
                    <a:pt x="306" y="204"/>
                  </a:moveTo>
                  <a:lnTo>
                    <a:pt x="302" y="202"/>
                  </a:lnTo>
                  <a:lnTo>
                    <a:pt x="301" y="199"/>
                  </a:lnTo>
                  <a:lnTo>
                    <a:pt x="300" y="195"/>
                  </a:lnTo>
                  <a:lnTo>
                    <a:pt x="300" y="191"/>
                  </a:lnTo>
                  <a:lnTo>
                    <a:pt x="302" y="180"/>
                  </a:lnTo>
                  <a:lnTo>
                    <a:pt x="302" y="167"/>
                  </a:lnTo>
                  <a:lnTo>
                    <a:pt x="302" y="154"/>
                  </a:lnTo>
                  <a:lnTo>
                    <a:pt x="300" y="142"/>
                  </a:lnTo>
                  <a:lnTo>
                    <a:pt x="300" y="139"/>
                  </a:lnTo>
                  <a:lnTo>
                    <a:pt x="301" y="135"/>
                  </a:lnTo>
                  <a:lnTo>
                    <a:pt x="302" y="132"/>
                  </a:lnTo>
                  <a:lnTo>
                    <a:pt x="306" y="130"/>
                  </a:lnTo>
                  <a:lnTo>
                    <a:pt x="332" y="114"/>
                  </a:lnTo>
                  <a:lnTo>
                    <a:pt x="293" y="50"/>
                  </a:lnTo>
                  <a:lnTo>
                    <a:pt x="269" y="64"/>
                  </a:lnTo>
                  <a:lnTo>
                    <a:pt x="265" y="65"/>
                  </a:lnTo>
                  <a:lnTo>
                    <a:pt x="261" y="65"/>
                  </a:lnTo>
                  <a:lnTo>
                    <a:pt x="257" y="65"/>
                  </a:lnTo>
                  <a:lnTo>
                    <a:pt x="255" y="63"/>
                  </a:lnTo>
                  <a:lnTo>
                    <a:pt x="251" y="59"/>
                  </a:lnTo>
                  <a:lnTo>
                    <a:pt x="242" y="53"/>
                  </a:lnTo>
                  <a:lnTo>
                    <a:pt x="233" y="45"/>
                  </a:lnTo>
                  <a:lnTo>
                    <a:pt x="224" y="40"/>
                  </a:lnTo>
                  <a:lnTo>
                    <a:pt x="215" y="35"/>
                  </a:lnTo>
                  <a:lnTo>
                    <a:pt x="211" y="33"/>
                  </a:lnTo>
                  <a:lnTo>
                    <a:pt x="208" y="31"/>
                  </a:lnTo>
                  <a:lnTo>
                    <a:pt x="207" y="27"/>
                  </a:lnTo>
                  <a:lnTo>
                    <a:pt x="207" y="24"/>
                  </a:lnTo>
                  <a:lnTo>
                    <a:pt x="207" y="0"/>
                  </a:lnTo>
                  <a:lnTo>
                    <a:pt x="135" y="0"/>
                  </a:lnTo>
                  <a:lnTo>
                    <a:pt x="135" y="24"/>
                  </a:lnTo>
                  <a:lnTo>
                    <a:pt x="134" y="27"/>
                  </a:lnTo>
                  <a:lnTo>
                    <a:pt x="133" y="31"/>
                  </a:lnTo>
                  <a:lnTo>
                    <a:pt x="130" y="33"/>
                  </a:lnTo>
                  <a:lnTo>
                    <a:pt x="126" y="35"/>
                  </a:lnTo>
                  <a:lnTo>
                    <a:pt x="113" y="41"/>
                  </a:lnTo>
                  <a:lnTo>
                    <a:pt x="101" y="47"/>
                  </a:lnTo>
                  <a:lnTo>
                    <a:pt x="88" y="55"/>
                  </a:lnTo>
                  <a:lnTo>
                    <a:pt x="77" y="63"/>
                  </a:lnTo>
                  <a:lnTo>
                    <a:pt x="75" y="65"/>
                  </a:lnTo>
                  <a:lnTo>
                    <a:pt x="71" y="65"/>
                  </a:lnTo>
                  <a:lnTo>
                    <a:pt x="67" y="65"/>
                  </a:lnTo>
                  <a:lnTo>
                    <a:pt x="63" y="64"/>
                  </a:lnTo>
                  <a:lnTo>
                    <a:pt x="38" y="50"/>
                  </a:lnTo>
                  <a:lnTo>
                    <a:pt x="0" y="114"/>
                  </a:lnTo>
                  <a:lnTo>
                    <a:pt x="26" y="130"/>
                  </a:lnTo>
                  <a:lnTo>
                    <a:pt x="29" y="132"/>
                  </a:lnTo>
                  <a:lnTo>
                    <a:pt x="31" y="135"/>
                  </a:lnTo>
                  <a:lnTo>
                    <a:pt x="33" y="139"/>
                  </a:lnTo>
                  <a:lnTo>
                    <a:pt x="31" y="142"/>
                  </a:lnTo>
                  <a:lnTo>
                    <a:pt x="30" y="154"/>
                  </a:lnTo>
                  <a:lnTo>
                    <a:pt x="30" y="167"/>
                  </a:lnTo>
                  <a:lnTo>
                    <a:pt x="30" y="178"/>
                  </a:lnTo>
                  <a:lnTo>
                    <a:pt x="31" y="191"/>
                  </a:lnTo>
                  <a:lnTo>
                    <a:pt x="33" y="195"/>
                  </a:lnTo>
                  <a:lnTo>
                    <a:pt x="31" y="199"/>
                  </a:lnTo>
                  <a:lnTo>
                    <a:pt x="29" y="202"/>
                  </a:lnTo>
                  <a:lnTo>
                    <a:pt x="26" y="204"/>
                  </a:lnTo>
                  <a:lnTo>
                    <a:pt x="0" y="220"/>
                  </a:lnTo>
                  <a:lnTo>
                    <a:pt x="38" y="284"/>
                  </a:lnTo>
                  <a:lnTo>
                    <a:pt x="63" y="270"/>
                  </a:lnTo>
                  <a:lnTo>
                    <a:pt x="67" y="268"/>
                  </a:lnTo>
                  <a:lnTo>
                    <a:pt x="71" y="267"/>
                  </a:lnTo>
                  <a:lnTo>
                    <a:pt x="75" y="268"/>
                  </a:lnTo>
                  <a:lnTo>
                    <a:pt x="77" y="271"/>
                  </a:lnTo>
                  <a:lnTo>
                    <a:pt x="89" y="279"/>
                  </a:lnTo>
                  <a:lnTo>
                    <a:pt x="106" y="286"/>
                  </a:lnTo>
                  <a:lnTo>
                    <a:pt x="124" y="295"/>
                  </a:lnTo>
                  <a:lnTo>
                    <a:pt x="139" y="300"/>
                  </a:lnTo>
                  <a:lnTo>
                    <a:pt x="142" y="303"/>
                  </a:lnTo>
                  <a:lnTo>
                    <a:pt x="144" y="306"/>
                  </a:lnTo>
                  <a:lnTo>
                    <a:pt x="146" y="308"/>
                  </a:lnTo>
                  <a:lnTo>
                    <a:pt x="147" y="312"/>
                  </a:lnTo>
                  <a:lnTo>
                    <a:pt x="147" y="336"/>
                  </a:lnTo>
                  <a:lnTo>
                    <a:pt x="207" y="336"/>
                  </a:lnTo>
                  <a:lnTo>
                    <a:pt x="207" y="312"/>
                  </a:lnTo>
                  <a:lnTo>
                    <a:pt x="207" y="308"/>
                  </a:lnTo>
                  <a:lnTo>
                    <a:pt x="208" y="306"/>
                  </a:lnTo>
                  <a:lnTo>
                    <a:pt x="211" y="303"/>
                  </a:lnTo>
                  <a:lnTo>
                    <a:pt x="215" y="300"/>
                  </a:lnTo>
                  <a:lnTo>
                    <a:pt x="223" y="297"/>
                  </a:lnTo>
                  <a:lnTo>
                    <a:pt x="230" y="291"/>
                  </a:lnTo>
                  <a:lnTo>
                    <a:pt x="238" y="285"/>
                  </a:lnTo>
                  <a:lnTo>
                    <a:pt x="246" y="279"/>
                  </a:lnTo>
                  <a:lnTo>
                    <a:pt x="250" y="275"/>
                  </a:lnTo>
                  <a:lnTo>
                    <a:pt x="255" y="271"/>
                  </a:lnTo>
                  <a:lnTo>
                    <a:pt x="257" y="268"/>
                  </a:lnTo>
                  <a:lnTo>
                    <a:pt x="261" y="267"/>
                  </a:lnTo>
                  <a:lnTo>
                    <a:pt x="265" y="268"/>
                  </a:lnTo>
                  <a:lnTo>
                    <a:pt x="269" y="270"/>
                  </a:lnTo>
                  <a:lnTo>
                    <a:pt x="295" y="284"/>
                  </a:lnTo>
                  <a:lnTo>
                    <a:pt x="332" y="220"/>
                  </a:lnTo>
                  <a:lnTo>
                    <a:pt x="306"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9" name="Group 38" descr="Icon of gears. ">
            <a:extLst>
              <a:ext uri="{FF2B5EF4-FFF2-40B4-BE49-F238E27FC236}">
                <a16:creationId xmlns:a16="http://schemas.microsoft.com/office/drawing/2014/main" id="{5BC0E3F0-447D-4721-AB1F-C8243BA36671}"/>
              </a:ext>
            </a:extLst>
          </p:cNvPr>
          <p:cNvGrpSpPr/>
          <p:nvPr/>
        </p:nvGrpSpPr>
        <p:grpSpPr>
          <a:xfrm>
            <a:off x="4717582" y="5353558"/>
            <a:ext cx="343837" cy="343837"/>
            <a:chOff x="7613650" y="1387475"/>
            <a:chExt cx="284163" cy="284163"/>
          </a:xfrm>
          <a:solidFill>
            <a:schemeClr val="bg1"/>
          </a:solidFill>
        </p:grpSpPr>
        <p:sp>
          <p:nvSpPr>
            <p:cNvPr id="40" name="Freeform 4359">
              <a:extLst>
                <a:ext uri="{FF2B5EF4-FFF2-40B4-BE49-F238E27FC236}">
                  <a16:creationId xmlns:a16="http://schemas.microsoft.com/office/drawing/2014/main" id="{351831F3-9830-4A23-8B34-11A3FCCA027E}"/>
                </a:ext>
              </a:extLst>
            </p:cNvPr>
            <p:cNvSpPr>
              <a:spLocks noEditPoints="1"/>
            </p:cNvSpPr>
            <p:nvPr/>
          </p:nvSpPr>
          <p:spPr bwMode="auto">
            <a:xfrm>
              <a:off x="7613650" y="1471613"/>
              <a:ext cx="200025" cy="200025"/>
            </a:xfrm>
            <a:custGeom>
              <a:avLst/>
              <a:gdLst>
                <a:gd name="T0" fmla="*/ 276 w 629"/>
                <a:gd name="T1" fmla="*/ 436 h 629"/>
                <a:gd name="T2" fmla="*/ 233 w 629"/>
                <a:gd name="T3" fmla="*/ 411 h 629"/>
                <a:gd name="T4" fmla="*/ 202 w 629"/>
                <a:gd name="T5" fmla="*/ 374 h 629"/>
                <a:gd name="T6" fmla="*/ 187 w 629"/>
                <a:gd name="T7" fmla="*/ 325 h 629"/>
                <a:gd name="T8" fmla="*/ 192 w 629"/>
                <a:gd name="T9" fmla="*/ 274 h 629"/>
                <a:gd name="T10" fmla="*/ 216 w 629"/>
                <a:gd name="T11" fmla="*/ 231 h 629"/>
                <a:gd name="T12" fmla="*/ 253 w 629"/>
                <a:gd name="T13" fmla="*/ 199 h 629"/>
                <a:gd name="T14" fmla="*/ 301 w 629"/>
                <a:gd name="T15" fmla="*/ 184 h 629"/>
                <a:gd name="T16" fmla="*/ 352 w 629"/>
                <a:gd name="T17" fmla="*/ 190 h 629"/>
                <a:gd name="T18" fmla="*/ 395 w 629"/>
                <a:gd name="T19" fmla="*/ 213 h 629"/>
                <a:gd name="T20" fmla="*/ 426 w 629"/>
                <a:gd name="T21" fmla="*/ 252 h 629"/>
                <a:gd name="T22" fmla="*/ 441 w 629"/>
                <a:gd name="T23" fmla="*/ 300 h 629"/>
                <a:gd name="T24" fmla="*/ 436 w 629"/>
                <a:gd name="T25" fmla="*/ 350 h 629"/>
                <a:gd name="T26" fmla="*/ 413 w 629"/>
                <a:gd name="T27" fmla="*/ 394 h 629"/>
                <a:gd name="T28" fmla="*/ 375 w 629"/>
                <a:gd name="T29" fmla="*/ 425 h 629"/>
                <a:gd name="T30" fmla="*/ 327 w 629"/>
                <a:gd name="T31" fmla="*/ 440 h 629"/>
                <a:gd name="T32" fmla="*/ 572 w 629"/>
                <a:gd name="T33" fmla="*/ 346 h 629"/>
                <a:gd name="T34" fmla="*/ 574 w 629"/>
                <a:gd name="T35" fmla="*/ 302 h 629"/>
                <a:gd name="T36" fmla="*/ 620 w 629"/>
                <a:gd name="T37" fmla="*/ 241 h 629"/>
                <a:gd name="T38" fmla="*/ 628 w 629"/>
                <a:gd name="T39" fmla="*/ 231 h 629"/>
                <a:gd name="T40" fmla="*/ 625 w 629"/>
                <a:gd name="T41" fmla="*/ 219 h 629"/>
                <a:gd name="T42" fmla="*/ 544 w 629"/>
                <a:gd name="T43" fmla="*/ 84 h 629"/>
                <a:gd name="T44" fmla="*/ 532 w 629"/>
                <a:gd name="T45" fmla="*/ 83 h 629"/>
                <a:gd name="T46" fmla="*/ 447 w 629"/>
                <a:gd name="T47" fmla="*/ 88 h 629"/>
                <a:gd name="T48" fmla="*/ 407 w 629"/>
                <a:gd name="T49" fmla="*/ 69 h 629"/>
                <a:gd name="T50" fmla="*/ 404 w 629"/>
                <a:gd name="T51" fmla="*/ 7 h 629"/>
                <a:gd name="T52" fmla="*/ 395 w 629"/>
                <a:gd name="T53" fmla="*/ 0 h 629"/>
                <a:gd name="T54" fmla="*/ 235 w 629"/>
                <a:gd name="T55" fmla="*/ 1 h 629"/>
                <a:gd name="T56" fmla="*/ 227 w 629"/>
                <a:gd name="T57" fmla="*/ 10 h 629"/>
                <a:gd name="T58" fmla="*/ 216 w 629"/>
                <a:gd name="T59" fmla="*/ 72 h 629"/>
                <a:gd name="T60" fmla="*/ 177 w 629"/>
                <a:gd name="T61" fmla="*/ 91 h 629"/>
                <a:gd name="T62" fmla="*/ 98 w 629"/>
                <a:gd name="T63" fmla="*/ 84 h 629"/>
                <a:gd name="T64" fmla="*/ 87 w 629"/>
                <a:gd name="T65" fmla="*/ 83 h 629"/>
                <a:gd name="T66" fmla="*/ 78 w 629"/>
                <a:gd name="T67" fmla="*/ 90 h 629"/>
                <a:gd name="T68" fmla="*/ 1 w 629"/>
                <a:gd name="T69" fmla="*/ 228 h 629"/>
                <a:gd name="T70" fmla="*/ 57 w 629"/>
                <a:gd name="T71" fmla="*/ 269 h 629"/>
                <a:gd name="T72" fmla="*/ 54 w 629"/>
                <a:gd name="T73" fmla="*/ 313 h 629"/>
                <a:gd name="T74" fmla="*/ 57 w 629"/>
                <a:gd name="T75" fmla="*/ 355 h 629"/>
                <a:gd name="T76" fmla="*/ 2 w 629"/>
                <a:gd name="T77" fmla="*/ 391 h 629"/>
                <a:gd name="T78" fmla="*/ 1 w 629"/>
                <a:gd name="T79" fmla="*/ 402 h 629"/>
                <a:gd name="T80" fmla="*/ 86 w 629"/>
                <a:gd name="T81" fmla="*/ 543 h 629"/>
                <a:gd name="T82" fmla="*/ 98 w 629"/>
                <a:gd name="T83" fmla="*/ 542 h 629"/>
                <a:gd name="T84" fmla="*/ 177 w 629"/>
                <a:gd name="T85" fmla="*/ 533 h 629"/>
                <a:gd name="T86" fmla="*/ 216 w 629"/>
                <a:gd name="T87" fmla="*/ 552 h 629"/>
                <a:gd name="T88" fmla="*/ 227 w 629"/>
                <a:gd name="T89" fmla="*/ 620 h 629"/>
                <a:gd name="T90" fmla="*/ 235 w 629"/>
                <a:gd name="T91" fmla="*/ 628 h 629"/>
                <a:gd name="T92" fmla="*/ 395 w 629"/>
                <a:gd name="T93" fmla="*/ 629 h 629"/>
                <a:gd name="T94" fmla="*/ 404 w 629"/>
                <a:gd name="T95" fmla="*/ 623 h 629"/>
                <a:gd name="T96" fmla="*/ 407 w 629"/>
                <a:gd name="T97" fmla="*/ 556 h 629"/>
                <a:gd name="T98" fmla="*/ 447 w 629"/>
                <a:gd name="T99" fmla="*/ 538 h 629"/>
                <a:gd name="T100" fmla="*/ 533 w 629"/>
                <a:gd name="T101" fmla="*/ 543 h 629"/>
                <a:gd name="T102" fmla="*/ 545 w 629"/>
                <a:gd name="T103" fmla="*/ 543 h 629"/>
                <a:gd name="T104" fmla="*/ 627 w 629"/>
                <a:gd name="T105" fmla="*/ 405 h 629"/>
                <a:gd name="T106" fmla="*/ 628 w 629"/>
                <a:gd name="T107" fmla="*/ 394 h 629"/>
                <a:gd name="T108" fmla="*/ 621 w 629"/>
                <a:gd name="T109" fmla="*/ 38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9" h="629">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4360">
              <a:extLst>
                <a:ext uri="{FF2B5EF4-FFF2-40B4-BE49-F238E27FC236}">
                  <a16:creationId xmlns:a16="http://schemas.microsoft.com/office/drawing/2014/main" id="{CDB8F87B-81A2-480F-ADA8-BFB5FD890ACD}"/>
                </a:ext>
              </a:extLst>
            </p:cNvPr>
            <p:cNvSpPr>
              <a:spLocks noEditPoints="1"/>
            </p:cNvSpPr>
            <p:nvPr/>
          </p:nvSpPr>
          <p:spPr bwMode="auto">
            <a:xfrm>
              <a:off x="7781925" y="1387475"/>
              <a:ext cx="115888" cy="117475"/>
            </a:xfrm>
            <a:custGeom>
              <a:avLst/>
              <a:gdLst>
                <a:gd name="T0" fmla="*/ 160 w 362"/>
                <a:gd name="T1" fmla="*/ 252 h 369"/>
                <a:gd name="T2" fmla="*/ 135 w 362"/>
                <a:gd name="T3" fmla="*/ 238 h 369"/>
                <a:gd name="T4" fmla="*/ 118 w 362"/>
                <a:gd name="T5" fmla="*/ 218 h 369"/>
                <a:gd name="T6" fmla="*/ 109 w 362"/>
                <a:gd name="T7" fmla="*/ 190 h 369"/>
                <a:gd name="T8" fmla="*/ 113 w 362"/>
                <a:gd name="T9" fmla="*/ 162 h 369"/>
                <a:gd name="T10" fmla="*/ 125 w 362"/>
                <a:gd name="T11" fmla="*/ 138 h 369"/>
                <a:gd name="T12" fmla="*/ 147 w 362"/>
                <a:gd name="T13" fmla="*/ 121 h 369"/>
                <a:gd name="T14" fmla="*/ 174 w 362"/>
                <a:gd name="T15" fmla="*/ 112 h 369"/>
                <a:gd name="T16" fmla="*/ 202 w 362"/>
                <a:gd name="T17" fmla="*/ 114 h 369"/>
                <a:gd name="T18" fmla="*/ 226 w 362"/>
                <a:gd name="T19" fmla="*/ 128 h 369"/>
                <a:gd name="T20" fmla="*/ 244 w 362"/>
                <a:gd name="T21" fmla="*/ 149 h 369"/>
                <a:gd name="T22" fmla="*/ 252 w 362"/>
                <a:gd name="T23" fmla="*/ 176 h 369"/>
                <a:gd name="T24" fmla="*/ 250 w 362"/>
                <a:gd name="T25" fmla="*/ 205 h 369"/>
                <a:gd name="T26" fmla="*/ 236 w 362"/>
                <a:gd name="T27" fmla="*/ 229 h 369"/>
                <a:gd name="T28" fmla="*/ 215 w 362"/>
                <a:gd name="T29" fmla="*/ 247 h 369"/>
                <a:gd name="T30" fmla="*/ 189 w 362"/>
                <a:gd name="T31" fmla="*/ 254 h 369"/>
                <a:gd name="T32" fmla="*/ 328 w 362"/>
                <a:gd name="T33" fmla="*/ 195 h 369"/>
                <a:gd name="T34" fmla="*/ 354 w 362"/>
                <a:gd name="T35" fmla="*/ 144 h 369"/>
                <a:gd name="T36" fmla="*/ 361 w 362"/>
                <a:gd name="T37" fmla="*/ 136 h 369"/>
                <a:gd name="T38" fmla="*/ 360 w 362"/>
                <a:gd name="T39" fmla="*/ 124 h 369"/>
                <a:gd name="T40" fmla="*/ 316 w 362"/>
                <a:gd name="T41" fmla="*/ 53 h 369"/>
                <a:gd name="T42" fmla="*/ 304 w 362"/>
                <a:gd name="T43" fmla="*/ 52 h 369"/>
                <a:gd name="T44" fmla="*/ 256 w 362"/>
                <a:gd name="T45" fmla="*/ 56 h 369"/>
                <a:gd name="T46" fmla="*/ 236 w 362"/>
                <a:gd name="T47" fmla="*/ 10 h 369"/>
                <a:gd name="T48" fmla="*/ 229 w 362"/>
                <a:gd name="T49" fmla="*/ 2 h 369"/>
                <a:gd name="T50" fmla="*/ 146 w 362"/>
                <a:gd name="T51" fmla="*/ 0 h 369"/>
                <a:gd name="T52" fmla="*/ 135 w 362"/>
                <a:gd name="T53" fmla="*/ 3 h 369"/>
                <a:gd name="T54" fmla="*/ 131 w 362"/>
                <a:gd name="T55" fmla="*/ 14 h 369"/>
                <a:gd name="T56" fmla="*/ 99 w 362"/>
                <a:gd name="T57" fmla="*/ 63 h 369"/>
                <a:gd name="T58" fmla="*/ 55 w 362"/>
                <a:gd name="T59" fmla="*/ 51 h 369"/>
                <a:gd name="T60" fmla="*/ 44 w 362"/>
                <a:gd name="T61" fmla="*/ 54 h 369"/>
                <a:gd name="T62" fmla="*/ 1 w 362"/>
                <a:gd name="T63" fmla="*/ 126 h 369"/>
                <a:gd name="T64" fmla="*/ 2 w 362"/>
                <a:gd name="T65" fmla="*/ 139 h 369"/>
                <a:gd name="T66" fmla="*/ 36 w 362"/>
                <a:gd name="T67" fmla="*/ 160 h 369"/>
                <a:gd name="T68" fmla="*/ 36 w 362"/>
                <a:gd name="T69" fmla="*/ 207 h 369"/>
                <a:gd name="T70" fmla="*/ 1 w 362"/>
                <a:gd name="T71" fmla="*/ 230 h 369"/>
                <a:gd name="T72" fmla="*/ 1 w 362"/>
                <a:gd name="T73" fmla="*/ 240 h 369"/>
                <a:gd name="T74" fmla="*/ 44 w 362"/>
                <a:gd name="T75" fmla="*/ 313 h 369"/>
                <a:gd name="T76" fmla="*/ 60 w 362"/>
                <a:gd name="T77" fmla="*/ 314 h 369"/>
                <a:gd name="T78" fmla="*/ 120 w 362"/>
                <a:gd name="T79" fmla="*/ 316 h 369"/>
                <a:gd name="T80" fmla="*/ 132 w 362"/>
                <a:gd name="T81" fmla="*/ 359 h 369"/>
                <a:gd name="T82" fmla="*/ 140 w 362"/>
                <a:gd name="T83" fmla="*/ 368 h 369"/>
                <a:gd name="T84" fmla="*/ 225 w 362"/>
                <a:gd name="T85" fmla="*/ 368 h 369"/>
                <a:gd name="T86" fmla="*/ 233 w 362"/>
                <a:gd name="T87" fmla="*/ 361 h 369"/>
                <a:gd name="T88" fmla="*/ 237 w 362"/>
                <a:gd name="T89" fmla="*/ 321 h 369"/>
                <a:gd name="T90" fmla="*/ 274 w 362"/>
                <a:gd name="T91" fmla="*/ 298 h 369"/>
                <a:gd name="T92" fmla="*/ 310 w 362"/>
                <a:gd name="T93" fmla="*/ 316 h 369"/>
                <a:gd name="T94" fmla="*/ 360 w 362"/>
                <a:gd name="T95" fmla="*/ 243 h 369"/>
                <a:gd name="T96" fmla="*/ 362 w 362"/>
                <a:gd name="T97" fmla="*/ 232 h 369"/>
                <a:gd name="T98" fmla="*/ 354 w 362"/>
                <a:gd name="T99" fmla="*/ 223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2" h="369">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2" name="Freeform 4346" descr="Icon of box and whisker chart. ">
            <a:extLst>
              <a:ext uri="{FF2B5EF4-FFF2-40B4-BE49-F238E27FC236}">
                <a16:creationId xmlns:a16="http://schemas.microsoft.com/office/drawing/2014/main" id="{D131817A-5B27-4718-8BAC-45C9CEDA45D9}"/>
              </a:ext>
            </a:extLst>
          </p:cNvPr>
          <p:cNvSpPr>
            <a:spLocks noEditPoints="1"/>
          </p:cNvSpPr>
          <p:nvPr/>
        </p:nvSpPr>
        <p:spPr bwMode="auto">
          <a:xfrm>
            <a:off x="3967321" y="3532346"/>
            <a:ext cx="345758" cy="345758"/>
          </a:xfrm>
          <a:custGeom>
            <a:avLst/>
            <a:gdLst>
              <a:gd name="T0" fmla="*/ 706 w 898"/>
              <a:gd name="T1" fmla="*/ 479 h 898"/>
              <a:gd name="T2" fmla="*/ 652 w 898"/>
              <a:gd name="T3" fmla="*/ 556 h 898"/>
              <a:gd name="T4" fmla="*/ 632 w 898"/>
              <a:gd name="T5" fmla="*/ 551 h 898"/>
              <a:gd name="T6" fmla="*/ 576 w 898"/>
              <a:gd name="T7" fmla="*/ 477 h 898"/>
              <a:gd name="T8" fmla="*/ 571 w 898"/>
              <a:gd name="T9" fmla="*/ 398 h 898"/>
              <a:gd name="T10" fmla="*/ 628 w 898"/>
              <a:gd name="T11" fmla="*/ 129 h 898"/>
              <a:gd name="T12" fmla="*/ 643 w 898"/>
              <a:gd name="T13" fmla="*/ 114 h 898"/>
              <a:gd name="T14" fmla="*/ 658 w 898"/>
              <a:gd name="T15" fmla="*/ 129 h 898"/>
              <a:gd name="T16" fmla="*/ 717 w 898"/>
              <a:gd name="T17" fmla="*/ 398 h 898"/>
              <a:gd name="T18" fmla="*/ 621 w 898"/>
              <a:gd name="T19" fmla="*/ 758 h 898"/>
              <a:gd name="T20" fmla="*/ 589 w 898"/>
              <a:gd name="T21" fmla="*/ 727 h 898"/>
              <a:gd name="T22" fmla="*/ 589 w 898"/>
              <a:gd name="T23" fmla="*/ 680 h 898"/>
              <a:gd name="T24" fmla="*/ 621 w 898"/>
              <a:gd name="T25" fmla="*/ 648 h 898"/>
              <a:gd name="T26" fmla="*/ 667 w 898"/>
              <a:gd name="T27" fmla="*/ 648 h 898"/>
              <a:gd name="T28" fmla="*/ 699 w 898"/>
              <a:gd name="T29" fmla="*/ 680 h 898"/>
              <a:gd name="T30" fmla="*/ 699 w 898"/>
              <a:gd name="T31" fmla="*/ 727 h 898"/>
              <a:gd name="T32" fmla="*/ 667 w 898"/>
              <a:gd name="T33" fmla="*/ 758 h 898"/>
              <a:gd name="T34" fmla="*/ 536 w 898"/>
              <a:gd name="T35" fmla="*/ 294 h 898"/>
              <a:gd name="T36" fmla="*/ 479 w 898"/>
              <a:gd name="T37" fmla="*/ 546 h 898"/>
              <a:gd name="T38" fmla="*/ 461 w 898"/>
              <a:gd name="T39" fmla="*/ 558 h 898"/>
              <a:gd name="T40" fmla="*/ 450 w 898"/>
              <a:gd name="T41" fmla="*/ 299 h 898"/>
              <a:gd name="T42" fmla="*/ 390 w 898"/>
              <a:gd name="T43" fmla="*/ 287 h 898"/>
              <a:gd name="T44" fmla="*/ 398 w 898"/>
              <a:gd name="T45" fmla="*/ 211 h 898"/>
              <a:gd name="T46" fmla="*/ 454 w 898"/>
              <a:gd name="T47" fmla="*/ 118 h 898"/>
              <a:gd name="T48" fmla="*/ 475 w 898"/>
              <a:gd name="T49" fmla="*/ 118 h 898"/>
              <a:gd name="T50" fmla="*/ 530 w 898"/>
              <a:gd name="T51" fmla="*/ 211 h 898"/>
              <a:gd name="T52" fmla="*/ 465 w 898"/>
              <a:gd name="T53" fmla="*/ 763 h 898"/>
              <a:gd name="T54" fmla="*/ 422 w 898"/>
              <a:gd name="T55" fmla="*/ 745 h 898"/>
              <a:gd name="T56" fmla="*/ 405 w 898"/>
              <a:gd name="T57" fmla="*/ 703 h 898"/>
              <a:gd name="T58" fmla="*/ 422 w 898"/>
              <a:gd name="T59" fmla="*/ 661 h 898"/>
              <a:gd name="T60" fmla="*/ 465 w 898"/>
              <a:gd name="T61" fmla="*/ 643 h 898"/>
              <a:gd name="T62" fmla="*/ 506 w 898"/>
              <a:gd name="T63" fmla="*/ 661 h 898"/>
              <a:gd name="T64" fmla="*/ 525 w 898"/>
              <a:gd name="T65" fmla="*/ 703 h 898"/>
              <a:gd name="T66" fmla="*/ 506 w 898"/>
              <a:gd name="T67" fmla="*/ 745 h 898"/>
              <a:gd name="T68" fmla="*/ 465 w 898"/>
              <a:gd name="T69" fmla="*/ 763 h 898"/>
              <a:gd name="T70" fmla="*/ 318 w 898"/>
              <a:gd name="T71" fmla="*/ 419 h 898"/>
              <a:gd name="T72" fmla="*/ 263 w 898"/>
              <a:gd name="T73" fmla="*/ 556 h 898"/>
              <a:gd name="T74" fmla="*/ 242 w 898"/>
              <a:gd name="T75" fmla="*/ 551 h 898"/>
              <a:gd name="T76" fmla="*/ 186 w 898"/>
              <a:gd name="T77" fmla="*/ 417 h 898"/>
              <a:gd name="T78" fmla="*/ 181 w 898"/>
              <a:gd name="T79" fmla="*/ 339 h 898"/>
              <a:gd name="T80" fmla="*/ 240 w 898"/>
              <a:gd name="T81" fmla="*/ 129 h 898"/>
              <a:gd name="T82" fmla="*/ 255 w 898"/>
              <a:gd name="T83" fmla="*/ 114 h 898"/>
              <a:gd name="T84" fmla="*/ 270 w 898"/>
              <a:gd name="T85" fmla="*/ 129 h 898"/>
              <a:gd name="T86" fmla="*/ 329 w 898"/>
              <a:gd name="T87" fmla="*/ 339 h 898"/>
              <a:gd name="T88" fmla="*/ 231 w 898"/>
              <a:gd name="T89" fmla="*/ 758 h 898"/>
              <a:gd name="T90" fmla="*/ 200 w 898"/>
              <a:gd name="T91" fmla="*/ 727 h 898"/>
              <a:gd name="T92" fmla="*/ 200 w 898"/>
              <a:gd name="T93" fmla="*/ 680 h 898"/>
              <a:gd name="T94" fmla="*/ 231 w 898"/>
              <a:gd name="T95" fmla="*/ 648 h 898"/>
              <a:gd name="T96" fmla="*/ 278 w 898"/>
              <a:gd name="T97" fmla="*/ 648 h 898"/>
              <a:gd name="T98" fmla="*/ 311 w 898"/>
              <a:gd name="T99" fmla="*/ 680 h 898"/>
              <a:gd name="T100" fmla="*/ 311 w 898"/>
              <a:gd name="T101" fmla="*/ 727 h 898"/>
              <a:gd name="T102" fmla="*/ 278 w 898"/>
              <a:gd name="T103" fmla="*/ 758 h 898"/>
              <a:gd name="T104" fmla="*/ 10 w 898"/>
              <a:gd name="T105" fmla="*/ 2 h 898"/>
              <a:gd name="T106" fmla="*/ 1 w 898"/>
              <a:gd name="T107" fmla="*/ 886 h 898"/>
              <a:gd name="T108" fmla="*/ 883 w 898"/>
              <a:gd name="T109" fmla="*/ 898 h 898"/>
              <a:gd name="T110" fmla="*/ 898 w 898"/>
              <a:gd name="T111" fmla="*/ 883 h 898"/>
              <a:gd name="T112" fmla="*/ 886 w 898"/>
              <a:gd name="T113" fmla="*/ 0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8" h="898">
                <a:moveTo>
                  <a:pt x="718" y="464"/>
                </a:moveTo>
                <a:lnTo>
                  <a:pt x="718" y="467"/>
                </a:lnTo>
                <a:lnTo>
                  <a:pt x="717" y="470"/>
                </a:lnTo>
                <a:lnTo>
                  <a:pt x="716" y="472"/>
                </a:lnTo>
                <a:lnTo>
                  <a:pt x="714" y="474"/>
                </a:lnTo>
                <a:lnTo>
                  <a:pt x="712" y="477"/>
                </a:lnTo>
                <a:lnTo>
                  <a:pt x="710" y="478"/>
                </a:lnTo>
                <a:lnTo>
                  <a:pt x="706" y="479"/>
                </a:lnTo>
                <a:lnTo>
                  <a:pt x="703" y="479"/>
                </a:lnTo>
                <a:lnTo>
                  <a:pt x="658" y="479"/>
                </a:lnTo>
                <a:lnTo>
                  <a:pt x="658" y="543"/>
                </a:lnTo>
                <a:lnTo>
                  <a:pt x="658" y="546"/>
                </a:lnTo>
                <a:lnTo>
                  <a:pt x="657" y="549"/>
                </a:lnTo>
                <a:lnTo>
                  <a:pt x="656" y="551"/>
                </a:lnTo>
                <a:lnTo>
                  <a:pt x="654" y="554"/>
                </a:lnTo>
                <a:lnTo>
                  <a:pt x="652" y="556"/>
                </a:lnTo>
                <a:lnTo>
                  <a:pt x="650" y="557"/>
                </a:lnTo>
                <a:lnTo>
                  <a:pt x="647" y="558"/>
                </a:lnTo>
                <a:lnTo>
                  <a:pt x="643" y="558"/>
                </a:lnTo>
                <a:lnTo>
                  <a:pt x="641" y="558"/>
                </a:lnTo>
                <a:lnTo>
                  <a:pt x="638" y="557"/>
                </a:lnTo>
                <a:lnTo>
                  <a:pt x="636" y="556"/>
                </a:lnTo>
                <a:lnTo>
                  <a:pt x="634" y="554"/>
                </a:lnTo>
                <a:lnTo>
                  <a:pt x="632" y="551"/>
                </a:lnTo>
                <a:lnTo>
                  <a:pt x="631" y="549"/>
                </a:lnTo>
                <a:lnTo>
                  <a:pt x="629" y="546"/>
                </a:lnTo>
                <a:lnTo>
                  <a:pt x="628" y="543"/>
                </a:lnTo>
                <a:lnTo>
                  <a:pt x="628" y="479"/>
                </a:lnTo>
                <a:lnTo>
                  <a:pt x="583" y="479"/>
                </a:lnTo>
                <a:lnTo>
                  <a:pt x="581" y="479"/>
                </a:lnTo>
                <a:lnTo>
                  <a:pt x="578" y="478"/>
                </a:lnTo>
                <a:lnTo>
                  <a:pt x="576" y="477"/>
                </a:lnTo>
                <a:lnTo>
                  <a:pt x="574" y="474"/>
                </a:lnTo>
                <a:lnTo>
                  <a:pt x="572" y="472"/>
                </a:lnTo>
                <a:lnTo>
                  <a:pt x="571" y="470"/>
                </a:lnTo>
                <a:lnTo>
                  <a:pt x="570" y="467"/>
                </a:lnTo>
                <a:lnTo>
                  <a:pt x="570" y="464"/>
                </a:lnTo>
                <a:lnTo>
                  <a:pt x="570" y="404"/>
                </a:lnTo>
                <a:lnTo>
                  <a:pt x="570" y="402"/>
                </a:lnTo>
                <a:lnTo>
                  <a:pt x="571" y="398"/>
                </a:lnTo>
                <a:lnTo>
                  <a:pt x="572" y="396"/>
                </a:lnTo>
                <a:lnTo>
                  <a:pt x="574" y="394"/>
                </a:lnTo>
                <a:lnTo>
                  <a:pt x="576" y="392"/>
                </a:lnTo>
                <a:lnTo>
                  <a:pt x="578" y="391"/>
                </a:lnTo>
                <a:lnTo>
                  <a:pt x="581" y="390"/>
                </a:lnTo>
                <a:lnTo>
                  <a:pt x="583" y="389"/>
                </a:lnTo>
                <a:lnTo>
                  <a:pt x="628" y="389"/>
                </a:lnTo>
                <a:lnTo>
                  <a:pt x="628" y="129"/>
                </a:lnTo>
                <a:lnTo>
                  <a:pt x="629" y="126"/>
                </a:lnTo>
                <a:lnTo>
                  <a:pt x="631" y="123"/>
                </a:lnTo>
                <a:lnTo>
                  <a:pt x="632" y="121"/>
                </a:lnTo>
                <a:lnTo>
                  <a:pt x="634" y="118"/>
                </a:lnTo>
                <a:lnTo>
                  <a:pt x="636" y="117"/>
                </a:lnTo>
                <a:lnTo>
                  <a:pt x="638" y="115"/>
                </a:lnTo>
                <a:lnTo>
                  <a:pt x="641" y="114"/>
                </a:lnTo>
                <a:lnTo>
                  <a:pt x="643" y="114"/>
                </a:lnTo>
                <a:lnTo>
                  <a:pt x="647" y="114"/>
                </a:lnTo>
                <a:lnTo>
                  <a:pt x="650" y="115"/>
                </a:lnTo>
                <a:lnTo>
                  <a:pt x="652" y="117"/>
                </a:lnTo>
                <a:lnTo>
                  <a:pt x="654" y="118"/>
                </a:lnTo>
                <a:lnTo>
                  <a:pt x="656" y="121"/>
                </a:lnTo>
                <a:lnTo>
                  <a:pt x="657" y="123"/>
                </a:lnTo>
                <a:lnTo>
                  <a:pt x="658" y="127"/>
                </a:lnTo>
                <a:lnTo>
                  <a:pt x="658" y="129"/>
                </a:lnTo>
                <a:lnTo>
                  <a:pt x="658" y="389"/>
                </a:lnTo>
                <a:lnTo>
                  <a:pt x="703" y="389"/>
                </a:lnTo>
                <a:lnTo>
                  <a:pt x="706" y="390"/>
                </a:lnTo>
                <a:lnTo>
                  <a:pt x="710" y="391"/>
                </a:lnTo>
                <a:lnTo>
                  <a:pt x="712" y="392"/>
                </a:lnTo>
                <a:lnTo>
                  <a:pt x="714" y="394"/>
                </a:lnTo>
                <a:lnTo>
                  <a:pt x="716" y="396"/>
                </a:lnTo>
                <a:lnTo>
                  <a:pt x="717" y="398"/>
                </a:lnTo>
                <a:lnTo>
                  <a:pt x="718" y="402"/>
                </a:lnTo>
                <a:lnTo>
                  <a:pt x="718" y="404"/>
                </a:lnTo>
                <a:lnTo>
                  <a:pt x="718" y="464"/>
                </a:lnTo>
                <a:close/>
                <a:moveTo>
                  <a:pt x="643" y="763"/>
                </a:moveTo>
                <a:lnTo>
                  <a:pt x="638" y="762"/>
                </a:lnTo>
                <a:lnTo>
                  <a:pt x="632" y="762"/>
                </a:lnTo>
                <a:lnTo>
                  <a:pt x="626" y="760"/>
                </a:lnTo>
                <a:lnTo>
                  <a:pt x="621" y="758"/>
                </a:lnTo>
                <a:lnTo>
                  <a:pt x="616" y="756"/>
                </a:lnTo>
                <a:lnTo>
                  <a:pt x="610" y="753"/>
                </a:lnTo>
                <a:lnTo>
                  <a:pt x="606" y="749"/>
                </a:lnTo>
                <a:lnTo>
                  <a:pt x="602" y="745"/>
                </a:lnTo>
                <a:lnTo>
                  <a:pt x="597" y="741"/>
                </a:lnTo>
                <a:lnTo>
                  <a:pt x="594" y="737"/>
                </a:lnTo>
                <a:lnTo>
                  <a:pt x="591" y="731"/>
                </a:lnTo>
                <a:lnTo>
                  <a:pt x="589" y="727"/>
                </a:lnTo>
                <a:lnTo>
                  <a:pt x="587" y="720"/>
                </a:lnTo>
                <a:lnTo>
                  <a:pt x="586" y="715"/>
                </a:lnTo>
                <a:lnTo>
                  <a:pt x="584" y="710"/>
                </a:lnTo>
                <a:lnTo>
                  <a:pt x="583" y="703"/>
                </a:lnTo>
                <a:lnTo>
                  <a:pt x="584" y="697"/>
                </a:lnTo>
                <a:lnTo>
                  <a:pt x="586" y="692"/>
                </a:lnTo>
                <a:lnTo>
                  <a:pt x="587" y="685"/>
                </a:lnTo>
                <a:lnTo>
                  <a:pt x="589" y="680"/>
                </a:lnTo>
                <a:lnTo>
                  <a:pt x="591" y="674"/>
                </a:lnTo>
                <a:lnTo>
                  <a:pt x="594" y="670"/>
                </a:lnTo>
                <a:lnTo>
                  <a:pt x="597" y="665"/>
                </a:lnTo>
                <a:lnTo>
                  <a:pt x="602" y="661"/>
                </a:lnTo>
                <a:lnTo>
                  <a:pt x="606" y="657"/>
                </a:lnTo>
                <a:lnTo>
                  <a:pt x="610" y="653"/>
                </a:lnTo>
                <a:lnTo>
                  <a:pt x="616" y="651"/>
                </a:lnTo>
                <a:lnTo>
                  <a:pt x="621" y="648"/>
                </a:lnTo>
                <a:lnTo>
                  <a:pt x="626" y="646"/>
                </a:lnTo>
                <a:lnTo>
                  <a:pt x="632" y="645"/>
                </a:lnTo>
                <a:lnTo>
                  <a:pt x="638" y="643"/>
                </a:lnTo>
                <a:lnTo>
                  <a:pt x="643" y="643"/>
                </a:lnTo>
                <a:lnTo>
                  <a:pt x="650" y="643"/>
                </a:lnTo>
                <a:lnTo>
                  <a:pt x="656" y="645"/>
                </a:lnTo>
                <a:lnTo>
                  <a:pt x="662" y="646"/>
                </a:lnTo>
                <a:lnTo>
                  <a:pt x="667" y="648"/>
                </a:lnTo>
                <a:lnTo>
                  <a:pt x="672" y="651"/>
                </a:lnTo>
                <a:lnTo>
                  <a:pt x="678" y="653"/>
                </a:lnTo>
                <a:lnTo>
                  <a:pt x="682" y="657"/>
                </a:lnTo>
                <a:lnTo>
                  <a:pt x="686" y="661"/>
                </a:lnTo>
                <a:lnTo>
                  <a:pt x="690" y="665"/>
                </a:lnTo>
                <a:lnTo>
                  <a:pt x="694" y="670"/>
                </a:lnTo>
                <a:lnTo>
                  <a:pt x="697" y="674"/>
                </a:lnTo>
                <a:lnTo>
                  <a:pt x="699" y="680"/>
                </a:lnTo>
                <a:lnTo>
                  <a:pt x="701" y="685"/>
                </a:lnTo>
                <a:lnTo>
                  <a:pt x="702" y="692"/>
                </a:lnTo>
                <a:lnTo>
                  <a:pt x="703" y="697"/>
                </a:lnTo>
                <a:lnTo>
                  <a:pt x="703" y="703"/>
                </a:lnTo>
                <a:lnTo>
                  <a:pt x="703" y="710"/>
                </a:lnTo>
                <a:lnTo>
                  <a:pt x="702" y="715"/>
                </a:lnTo>
                <a:lnTo>
                  <a:pt x="701" y="720"/>
                </a:lnTo>
                <a:lnTo>
                  <a:pt x="699" y="727"/>
                </a:lnTo>
                <a:lnTo>
                  <a:pt x="697" y="731"/>
                </a:lnTo>
                <a:lnTo>
                  <a:pt x="694" y="737"/>
                </a:lnTo>
                <a:lnTo>
                  <a:pt x="690" y="741"/>
                </a:lnTo>
                <a:lnTo>
                  <a:pt x="686" y="745"/>
                </a:lnTo>
                <a:lnTo>
                  <a:pt x="682" y="749"/>
                </a:lnTo>
                <a:lnTo>
                  <a:pt x="678" y="753"/>
                </a:lnTo>
                <a:lnTo>
                  <a:pt x="672" y="756"/>
                </a:lnTo>
                <a:lnTo>
                  <a:pt x="667" y="758"/>
                </a:lnTo>
                <a:lnTo>
                  <a:pt x="662" y="760"/>
                </a:lnTo>
                <a:lnTo>
                  <a:pt x="656" y="762"/>
                </a:lnTo>
                <a:lnTo>
                  <a:pt x="650" y="762"/>
                </a:lnTo>
                <a:lnTo>
                  <a:pt x="643" y="763"/>
                </a:lnTo>
                <a:close/>
                <a:moveTo>
                  <a:pt x="540" y="284"/>
                </a:moveTo>
                <a:lnTo>
                  <a:pt x="538" y="287"/>
                </a:lnTo>
                <a:lnTo>
                  <a:pt x="537" y="290"/>
                </a:lnTo>
                <a:lnTo>
                  <a:pt x="536" y="294"/>
                </a:lnTo>
                <a:lnTo>
                  <a:pt x="534" y="296"/>
                </a:lnTo>
                <a:lnTo>
                  <a:pt x="532" y="297"/>
                </a:lnTo>
                <a:lnTo>
                  <a:pt x="530" y="298"/>
                </a:lnTo>
                <a:lnTo>
                  <a:pt x="527" y="299"/>
                </a:lnTo>
                <a:lnTo>
                  <a:pt x="525" y="299"/>
                </a:lnTo>
                <a:lnTo>
                  <a:pt x="480" y="299"/>
                </a:lnTo>
                <a:lnTo>
                  <a:pt x="480" y="543"/>
                </a:lnTo>
                <a:lnTo>
                  <a:pt x="479" y="546"/>
                </a:lnTo>
                <a:lnTo>
                  <a:pt x="479" y="549"/>
                </a:lnTo>
                <a:lnTo>
                  <a:pt x="476" y="551"/>
                </a:lnTo>
                <a:lnTo>
                  <a:pt x="475" y="554"/>
                </a:lnTo>
                <a:lnTo>
                  <a:pt x="472" y="556"/>
                </a:lnTo>
                <a:lnTo>
                  <a:pt x="470" y="557"/>
                </a:lnTo>
                <a:lnTo>
                  <a:pt x="467" y="558"/>
                </a:lnTo>
                <a:lnTo>
                  <a:pt x="465" y="558"/>
                </a:lnTo>
                <a:lnTo>
                  <a:pt x="461" y="558"/>
                </a:lnTo>
                <a:lnTo>
                  <a:pt x="458" y="557"/>
                </a:lnTo>
                <a:lnTo>
                  <a:pt x="456" y="556"/>
                </a:lnTo>
                <a:lnTo>
                  <a:pt x="454" y="554"/>
                </a:lnTo>
                <a:lnTo>
                  <a:pt x="452" y="551"/>
                </a:lnTo>
                <a:lnTo>
                  <a:pt x="451" y="549"/>
                </a:lnTo>
                <a:lnTo>
                  <a:pt x="450" y="546"/>
                </a:lnTo>
                <a:lnTo>
                  <a:pt x="450" y="543"/>
                </a:lnTo>
                <a:lnTo>
                  <a:pt x="450" y="299"/>
                </a:lnTo>
                <a:lnTo>
                  <a:pt x="405" y="299"/>
                </a:lnTo>
                <a:lnTo>
                  <a:pt x="402" y="299"/>
                </a:lnTo>
                <a:lnTo>
                  <a:pt x="398" y="298"/>
                </a:lnTo>
                <a:lnTo>
                  <a:pt x="396" y="297"/>
                </a:lnTo>
                <a:lnTo>
                  <a:pt x="394" y="296"/>
                </a:lnTo>
                <a:lnTo>
                  <a:pt x="392" y="294"/>
                </a:lnTo>
                <a:lnTo>
                  <a:pt x="391" y="290"/>
                </a:lnTo>
                <a:lnTo>
                  <a:pt x="390" y="287"/>
                </a:lnTo>
                <a:lnTo>
                  <a:pt x="390" y="284"/>
                </a:lnTo>
                <a:lnTo>
                  <a:pt x="390" y="225"/>
                </a:lnTo>
                <a:lnTo>
                  <a:pt x="390" y="222"/>
                </a:lnTo>
                <a:lnTo>
                  <a:pt x="391" y="219"/>
                </a:lnTo>
                <a:lnTo>
                  <a:pt x="392" y="217"/>
                </a:lnTo>
                <a:lnTo>
                  <a:pt x="394" y="214"/>
                </a:lnTo>
                <a:lnTo>
                  <a:pt x="396" y="212"/>
                </a:lnTo>
                <a:lnTo>
                  <a:pt x="398" y="211"/>
                </a:lnTo>
                <a:lnTo>
                  <a:pt x="402" y="210"/>
                </a:lnTo>
                <a:lnTo>
                  <a:pt x="405" y="210"/>
                </a:lnTo>
                <a:lnTo>
                  <a:pt x="450" y="210"/>
                </a:lnTo>
                <a:lnTo>
                  <a:pt x="450" y="129"/>
                </a:lnTo>
                <a:lnTo>
                  <a:pt x="450" y="126"/>
                </a:lnTo>
                <a:lnTo>
                  <a:pt x="451" y="123"/>
                </a:lnTo>
                <a:lnTo>
                  <a:pt x="452" y="121"/>
                </a:lnTo>
                <a:lnTo>
                  <a:pt x="454" y="118"/>
                </a:lnTo>
                <a:lnTo>
                  <a:pt x="456" y="117"/>
                </a:lnTo>
                <a:lnTo>
                  <a:pt x="458" y="115"/>
                </a:lnTo>
                <a:lnTo>
                  <a:pt x="461" y="114"/>
                </a:lnTo>
                <a:lnTo>
                  <a:pt x="465" y="114"/>
                </a:lnTo>
                <a:lnTo>
                  <a:pt x="467" y="114"/>
                </a:lnTo>
                <a:lnTo>
                  <a:pt x="470" y="115"/>
                </a:lnTo>
                <a:lnTo>
                  <a:pt x="472" y="117"/>
                </a:lnTo>
                <a:lnTo>
                  <a:pt x="475" y="118"/>
                </a:lnTo>
                <a:lnTo>
                  <a:pt x="476" y="121"/>
                </a:lnTo>
                <a:lnTo>
                  <a:pt x="479" y="123"/>
                </a:lnTo>
                <a:lnTo>
                  <a:pt x="479" y="127"/>
                </a:lnTo>
                <a:lnTo>
                  <a:pt x="480" y="129"/>
                </a:lnTo>
                <a:lnTo>
                  <a:pt x="480" y="210"/>
                </a:lnTo>
                <a:lnTo>
                  <a:pt x="525" y="210"/>
                </a:lnTo>
                <a:lnTo>
                  <a:pt x="527" y="210"/>
                </a:lnTo>
                <a:lnTo>
                  <a:pt x="530" y="211"/>
                </a:lnTo>
                <a:lnTo>
                  <a:pt x="532" y="212"/>
                </a:lnTo>
                <a:lnTo>
                  <a:pt x="534" y="214"/>
                </a:lnTo>
                <a:lnTo>
                  <a:pt x="536" y="217"/>
                </a:lnTo>
                <a:lnTo>
                  <a:pt x="537" y="219"/>
                </a:lnTo>
                <a:lnTo>
                  <a:pt x="538" y="222"/>
                </a:lnTo>
                <a:lnTo>
                  <a:pt x="540" y="225"/>
                </a:lnTo>
                <a:lnTo>
                  <a:pt x="540" y="284"/>
                </a:lnTo>
                <a:close/>
                <a:moveTo>
                  <a:pt x="465" y="763"/>
                </a:moveTo>
                <a:lnTo>
                  <a:pt x="458" y="762"/>
                </a:lnTo>
                <a:lnTo>
                  <a:pt x="452" y="762"/>
                </a:lnTo>
                <a:lnTo>
                  <a:pt x="446" y="760"/>
                </a:lnTo>
                <a:lnTo>
                  <a:pt x="441" y="758"/>
                </a:lnTo>
                <a:lnTo>
                  <a:pt x="436" y="756"/>
                </a:lnTo>
                <a:lnTo>
                  <a:pt x="430" y="753"/>
                </a:lnTo>
                <a:lnTo>
                  <a:pt x="426" y="749"/>
                </a:lnTo>
                <a:lnTo>
                  <a:pt x="422" y="745"/>
                </a:lnTo>
                <a:lnTo>
                  <a:pt x="419" y="741"/>
                </a:lnTo>
                <a:lnTo>
                  <a:pt x="414" y="737"/>
                </a:lnTo>
                <a:lnTo>
                  <a:pt x="412" y="731"/>
                </a:lnTo>
                <a:lnTo>
                  <a:pt x="409" y="727"/>
                </a:lnTo>
                <a:lnTo>
                  <a:pt x="407" y="720"/>
                </a:lnTo>
                <a:lnTo>
                  <a:pt x="406" y="715"/>
                </a:lnTo>
                <a:lnTo>
                  <a:pt x="405" y="710"/>
                </a:lnTo>
                <a:lnTo>
                  <a:pt x="405" y="703"/>
                </a:lnTo>
                <a:lnTo>
                  <a:pt x="405" y="697"/>
                </a:lnTo>
                <a:lnTo>
                  <a:pt x="406" y="692"/>
                </a:lnTo>
                <a:lnTo>
                  <a:pt x="407" y="685"/>
                </a:lnTo>
                <a:lnTo>
                  <a:pt x="409" y="680"/>
                </a:lnTo>
                <a:lnTo>
                  <a:pt x="412" y="674"/>
                </a:lnTo>
                <a:lnTo>
                  <a:pt x="414" y="670"/>
                </a:lnTo>
                <a:lnTo>
                  <a:pt x="419" y="665"/>
                </a:lnTo>
                <a:lnTo>
                  <a:pt x="422" y="661"/>
                </a:lnTo>
                <a:lnTo>
                  <a:pt x="426" y="657"/>
                </a:lnTo>
                <a:lnTo>
                  <a:pt x="430" y="653"/>
                </a:lnTo>
                <a:lnTo>
                  <a:pt x="436" y="651"/>
                </a:lnTo>
                <a:lnTo>
                  <a:pt x="441" y="648"/>
                </a:lnTo>
                <a:lnTo>
                  <a:pt x="446" y="646"/>
                </a:lnTo>
                <a:lnTo>
                  <a:pt x="452" y="645"/>
                </a:lnTo>
                <a:lnTo>
                  <a:pt x="458" y="643"/>
                </a:lnTo>
                <a:lnTo>
                  <a:pt x="465" y="643"/>
                </a:lnTo>
                <a:lnTo>
                  <a:pt x="470" y="643"/>
                </a:lnTo>
                <a:lnTo>
                  <a:pt x="476" y="645"/>
                </a:lnTo>
                <a:lnTo>
                  <a:pt x="482" y="646"/>
                </a:lnTo>
                <a:lnTo>
                  <a:pt x="487" y="648"/>
                </a:lnTo>
                <a:lnTo>
                  <a:pt x="492" y="651"/>
                </a:lnTo>
                <a:lnTo>
                  <a:pt x="498" y="653"/>
                </a:lnTo>
                <a:lnTo>
                  <a:pt x="502" y="657"/>
                </a:lnTo>
                <a:lnTo>
                  <a:pt x="506" y="661"/>
                </a:lnTo>
                <a:lnTo>
                  <a:pt x="511" y="665"/>
                </a:lnTo>
                <a:lnTo>
                  <a:pt x="514" y="670"/>
                </a:lnTo>
                <a:lnTo>
                  <a:pt x="517" y="674"/>
                </a:lnTo>
                <a:lnTo>
                  <a:pt x="519" y="680"/>
                </a:lnTo>
                <a:lnTo>
                  <a:pt x="521" y="685"/>
                </a:lnTo>
                <a:lnTo>
                  <a:pt x="522" y="692"/>
                </a:lnTo>
                <a:lnTo>
                  <a:pt x="524" y="697"/>
                </a:lnTo>
                <a:lnTo>
                  <a:pt x="525" y="703"/>
                </a:lnTo>
                <a:lnTo>
                  <a:pt x="524" y="710"/>
                </a:lnTo>
                <a:lnTo>
                  <a:pt x="522" y="715"/>
                </a:lnTo>
                <a:lnTo>
                  <a:pt x="521" y="720"/>
                </a:lnTo>
                <a:lnTo>
                  <a:pt x="519" y="727"/>
                </a:lnTo>
                <a:lnTo>
                  <a:pt x="517" y="731"/>
                </a:lnTo>
                <a:lnTo>
                  <a:pt x="514" y="737"/>
                </a:lnTo>
                <a:lnTo>
                  <a:pt x="511" y="741"/>
                </a:lnTo>
                <a:lnTo>
                  <a:pt x="506" y="745"/>
                </a:lnTo>
                <a:lnTo>
                  <a:pt x="502" y="749"/>
                </a:lnTo>
                <a:lnTo>
                  <a:pt x="498" y="753"/>
                </a:lnTo>
                <a:lnTo>
                  <a:pt x="492" y="756"/>
                </a:lnTo>
                <a:lnTo>
                  <a:pt x="487" y="758"/>
                </a:lnTo>
                <a:lnTo>
                  <a:pt x="482" y="760"/>
                </a:lnTo>
                <a:lnTo>
                  <a:pt x="476" y="762"/>
                </a:lnTo>
                <a:lnTo>
                  <a:pt x="470" y="762"/>
                </a:lnTo>
                <a:lnTo>
                  <a:pt x="465" y="763"/>
                </a:lnTo>
                <a:close/>
                <a:moveTo>
                  <a:pt x="330" y="404"/>
                </a:moveTo>
                <a:lnTo>
                  <a:pt x="330" y="407"/>
                </a:lnTo>
                <a:lnTo>
                  <a:pt x="329" y="410"/>
                </a:lnTo>
                <a:lnTo>
                  <a:pt x="328" y="412"/>
                </a:lnTo>
                <a:lnTo>
                  <a:pt x="326" y="414"/>
                </a:lnTo>
                <a:lnTo>
                  <a:pt x="323" y="417"/>
                </a:lnTo>
                <a:lnTo>
                  <a:pt x="320" y="418"/>
                </a:lnTo>
                <a:lnTo>
                  <a:pt x="318" y="419"/>
                </a:lnTo>
                <a:lnTo>
                  <a:pt x="315" y="419"/>
                </a:lnTo>
                <a:lnTo>
                  <a:pt x="270" y="419"/>
                </a:lnTo>
                <a:lnTo>
                  <a:pt x="270" y="543"/>
                </a:lnTo>
                <a:lnTo>
                  <a:pt x="270" y="546"/>
                </a:lnTo>
                <a:lnTo>
                  <a:pt x="269" y="549"/>
                </a:lnTo>
                <a:lnTo>
                  <a:pt x="268" y="551"/>
                </a:lnTo>
                <a:lnTo>
                  <a:pt x="266" y="554"/>
                </a:lnTo>
                <a:lnTo>
                  <a:pt x="263" y="556"/>
                </a:lnTo>
                <a:lnTo>
                  <a:pt x="260" y="557"/>
                </a:lnTo>
                <a:lnTo>
                  <a:pt x="258" y="558"/>
                </a:lnTo>
                <a:lnTo>
                  <a:pt x="255" y="558"/>
                </a:lnTo>
                <a:lnTo>
                  <a:pt x="252" y="558"/>
                </a:lnTo>
                <a:lnTo>
                  <a:pt x="250" y="557"/>
                </a:lnTo>
                <a:lnTo>
                  <a:pt x="246" y="556"/>
                </a:lnTo>
                <a:lnTo>
                  <a:pt x="244" y="554"/>
                </a:lnTo>
                <a:lnTo>
                  <a:pt x="242" y="551"/>
                </a:lnTo>
                <a:lnTo>
                  <a:pt x="241" y="549"/>
                </a:lnTo>
                <a:lnTo>
                  <a:pt x="240" y="546"/>
                </a:lnTo>
                <a:lnTo>
                  <a:pt x="240" y="543"/>
                </a:lnTo>
                <a:lnTo>
                  <a:pt x="240" y="419"/>
                </a:lnTo>
                <a:lnTo>
                  <a:pt x="195" y="419"/>
                </a:lnTo>
                <a:lnTo>
                  <a:pt x="192" y="419"/>
                </a:lnTo>
                <a:lnTo>
                  <a:pt x="190" y="418"/>
                </a:lnTo>
                <a:lnTo>
                  <a:pt x="186" y="417"/>
                </a:lnTo>
                <a:lnTo>
                  <a:pt x="184" y="414"/>
                </a:lnTo>
                <a:lnTo>
                  <a:pt x="183" y="412"/>
                </a:lnTo>
                <a:lnTo>
                  <a:pt x="181" y="410"/>
                </a:lnTo>
                <a:lnTo>
                  <a:pt x="180" y="407"/>
                </a:lnTo>
                <a:lnTo>
                  <a:pt x="180" y="404"/>
                </a:lnTo>
                <a:lnTo>
                  <a:pt x="180" y="344"/>
                </a:lnTo>
                <a:lnTo>
                  <a:pt x="180" y="342"/>
                </a:lnTo>
                <a:lnTo>
                  <a:pt x="181" y="339"/>
                </a:lnTo>
                <a:lnTo>
                  <a:pt x="183" y="336"/>
                </a:lnTo>
                <a:lnTo>
                  <a:pt x="184" y="334"/>
                </a:lnTo>
                <a:lnTo>
                  <a:pt x="186" y="332"/>
                </a:lnTo>
                <a:lnTo>
                  <a:pt x="190" y="331"/>
                </a:lnTo>
                <a:lnTo>
                  <a:pt x="192" y="330"/>
                </a:lnTo>
                <a:lnTo>
                  <a:pt x="195" y="329"/>
                </a:lnTo>
                <a:lnTo>
                  <a:pt x="240" y="329"/>
                </a:lnTo>
                <a:lnTo>
                  <a:pt x="240" y="129"/>
                </a:lnTo>
                <a:lnTo>
                  <a:pt x="240" y="126"/>
                </a:lnTo>
                <a:lnTo>
                  <a:pt x="241" y="123"/>
                </a:lnTo>
                <a:lnTo>
                  <a:pt x="242" y="121"/>
                </a:lnTo>
                <a:lnTo>
                  <a:pt x="244" y="118"/>
                </a:lnTo>
                <a:lnTo>
                  <a:pt x="246" y="117"/>
                </a:lnTo>
                <a:lnTo>
                  <a:pt x="250" y="115"/>
                </a:lnTo>
                <a:lnTo>
                  <a:pt x="252" y="114"/>
                </a:lnTo>
                <a:lnTo>
                  <a:pt x="255" y="114"/>
                </a:lnTo>
                <a:lnTo>
                  <a:pt x="258" y="114"/>
                </a:lnTo>
                <a:lnTo>
                  <a:pt x="260" y="115"/>
                </a:lnTo>
                <a:lnTo>
                  <a:pt x="263" y="117"/>
                </a:lnTo>
                <a:lnTo>
                  <a:pt x="266" y="118"/>
                </a:lnTo>
                <a:lnTo>
                  <a:pt x="268" y="121"/>
                </a:lnTo>
                <a:lnTo>
                  <a:pt x="269" y="123"/>
                </a:lnTo>
                <a:lnTo>
                  <a:pt x="270" y="127"/>
                </a:lnTo>
                <a:lnTo>
                  <a:pt x="270" y="129"/>
                </a:lnTo>
                <a:lnTo>
                  <a:pt x="270" y="329"/>
                </a:lnTo>
                <a:lnTo>
                  <a:pt x="315" y="329"/>
                </a:lnTo>
                <a:lnTo>
                  <a:pt x="318" y="330"/>
                </a:lnTo>
                <a:lnTo>
                  <a:pt x="320" y="331"/>
                </a:lnTo>
                <a:lnTo>
                  <a:pt x="323" y="332"/>
                </a:lnTo>
                <a:lnTo>
                  <a:pt x="326" y="334"/>
                </a:lnTo>
                <a:lnTo>
                  <a:pt x="328" y="336"/>
                </a:lnTo>
                <a:lnTo>
                  <a:pt x="329" y="339"/>
                </a:lnTo>
                <a:lnTo>
                  <a:pt x="330" y="342"/>
                </a:lnTo>
                <a:lnTo>
                  <a:pt x="330" y="344"/>
                </a:lnTo>
                <a:lnTo>
                  <a:pt x="330" y="404"/>
                </a:lnTo>
                <a:close/>
                <a:moveTo>
                  <a:pt x="255" y="763"/>
                </a:moveTo>
                <a:lnTo>
                  <a:pt x="249" y="762"/>
                </a:lnTo>
                <a:lnTo>
                  <a:pt x="243" y="762"/>
                </a:lnTo>
                <a:lnTo>
                  <a:pt x="237" y="760"/>
                </a:lnTo>
                <a:lnTo>
                  <a:pt x="231" y="758"/>
                </a:lnTo>
                <a:lnTo>
                  <a:pt x="226" y="756"/>
                </a:lnTo>
                <a:lnTo>
                  <a:pt x="222" y="753"/>
                </a:lnTo>
                <a:lnTo>
                  <a:pt x="216" y="749"/>
                </a:lnTo>
                <a:lnTo>
                  <a:pt x="212" y="745"/>
                </a:lnTo>
                <a:lnTo>
                  <a:pt x="209" y="741"/>
                </a:lnTo>
                <a:lnTo>
                  <a:pt x="206" y="737"/>
                </a:lnTo>
                <a:lnTo>
                  <a:pt x="203" y="731"/>
                </a:lnTo>
                <a:lnTo>
                  <a:pt x="200" y="727"/>
                </a:lnTo>
                <a:lnTo>
                  <a:pt x="198" y="720"/>
                </a:lnTo>
                <a:lnTo>
                  <a:pt x="196" y="715"/>
                </a:lnTo>
                <a:lnTo>
                  <a:pt x="195" y="710"/>
                </a:lnTo>
                <a:lnTo>
                  <a:pt x="195" y="703"/>
                </a:lnTo>
                <a:lnTo>
                  <a:pt x="195" y="697"/>
                </a:lnTo>
                <a:lnTo>
                  <a:pt x="196" y="692"/>
                </a:lnTo>
                <a:lnTo>
                  <a:pt x="198" y="685"/>
                </a:lnTo>
                <a:lnTo>
                  <a:pt x="200" y="680"/>
                </a:lnTo>
                <a:lnTo>
                  <a:pt x="203" y="674"/>
                </a:lnTo>
                <a:lnTo>
                  <a:pt x="206" y="670"/>
                </a:lnTo>
                <a:lnTo>
                  <a:pt x="209" y="665"/>
                </a:lnTo>
                <a:lnTo>
                  <a:pt x="212" y="661"/>
                </a:lnTo>
                <a:lnTo>
                  <a:pt x="216" y="657"/>
                </a:lnTo>
                <a:lnTo>
                  <a:pt x="222" y="653"/>
                </a:lnTo>
                <a:lnTo>
                  <a:pt x="226" y="651"/>
                </a:lnTo>
                <a:lnTo>
                  <a:pt x="231" y="648"/>
                </a:lnTo>
                <a:lnTo>
                  <a:pt x="237" y="646"/>
                </a:lnTo>
                <a:lnTo>
                  <a:pt x="243" y="645"/>
                </a:lnTo>
                <a:lnTo>
                  <a:pt x="249" y="643"/>
                </a:lnTo>
                <a:lnTo>
                  <a:pt x="255" y="643"/>
                </a:lnTo>
                <a:lnTo>
                  <a:pt x="261" y="643"/>
                </a:lnTo>
                <a:lnTo>
                  <a:pt x="267" y="645"/>
                </a:lnTo>
                <a:lnTo>
                  <a:pt x="273" y="646"/>
                </a:lnTo>
                <a:lnTo>
                  <a:pt x="278" y="648"/>
                </a:lnTo>
                <a:lnTo>
                  <a:pt x="284" y="651"/>
                </a:lnTo>
                <a:lnTo>
                  <a:pt x="288" y="653"/>
                </a:lnTo>
                <a:lnTo>
                  <a:pt x="293" y="657"/>
                </a:lnTo>
                <a:lnTo>
                  <a:pt x="298" y="661"/>
                </a:lnTo>
                <a:lnTo>
                  <a:pt x="301" y="665"/>
                </a:lnTo>
                <a:lnTo>
                  <a:pt x="304" y="670"/>
                </a:lnTo>
                <a:lnTo>
                  <a:pt x="307" y="674"/>
                </a:lnTo>
                <a:lnTo>
                  <a:pt x="311" y="680"/>
                </a:lnTo>
                <a:lnTo>
                  <a:pt x="312" y="685"/>
                </a:lnTo>
                <a:lnTo>
                  <a:pt x="314" y="692"/>
                </a:lnTo>
                <a:lnTo>
                  <a:pt x="315" y="697"/>
                </a:lnTo>
                <a:lnTo>
                  <a:pt x="315" y="703"/>
                </a:lnTo>
                <a:lnTo>
                  <a:pt x="315" y="710"/>
                </a:lnTo>
                <a:lnTo>
                  <a:pt x="314" y="715"/>
                </a:lnTo>
                <a:lnTo>
                  <a:pt x="312" y="720"/>
                </a:lnTo>
                <a:lnTo>
                  <a:pt x="311" y="727"/>
                </a:lnTo>
                <a:lnTo>
                  <a:pt x="307" y="731"/>
                </a:lnTo>
                <a:lnTo>
                  <a:pt x="304" y="737"/>
                </a:lnTo>
                <a:lnTo>
                  <a:pt x="301" y="741"/>
                </a:lnTo>
                <a:lnTo>
                  <a:pt x="298" y="745"/>
                </a:lnTo>
                <a:lnTo>
                  <a:pt x="293" y="749"/>
                </a:lnTo>
                <a:lnTo>
                  <a:pt x="288" y="753"/>
                </a:lnTo>
                <a:lnTo>
                  <a:pt x="284" y="756"/>
                </a:lnTo>
                <a:lnTo>
                  <a:pt x="278" y="758"/>
                </a:lnTo>
                <a:lnTo>
                  <a:pt x="273" y="760"/>
                </a:lnTo>
                <a:lnTo>
                  <a:pt x="267" y="762"/>
                </a:lnTo>
                <a:lnTo>
                  <a:pt x="261" y="762"/>
                </a:lnTo>
                <a:lnTo>
                  <a:pt x="255" y="763"/>
                </a:lnTo>
                <a:close/>
                <a:moveTo>
                  <a:pt x="883" y="0"/>
                </a:moveTo>
                <a:lnTo>
                  <a:pt x="15" y="0"/>
                </a:lnTo>
                <a:lnTo>
                  <a:pt x="13" y="0"/>
                </a:lnTo>
                <a:lnTo>
                  <a:pt x="10" y="2"/>
                </a:lnTo>
                <a:lnTo>
                  <a:pt x="8" y="3"/>
                </a:lnTo>
                <a:lnTo>
                  <a:pt x="6" y="5"/>
                </a:lnTo>
                <a:lnTo>
                  <a:pt x="3" y="7"/>
                </a:lnTo>
                <a:lnTo>
                  <a:pt x="2" y="10"/>
                </a:lnTo>
                <a:lnTo>
                  <a:pt x="1" y="12"/>
                </a:lnTo>
                <a:lnTo>
                  <a:pt x="0" y="15"/>
                </a:lnTo>
                <a:lnTo>
                  <a:pt x="0" y="883"/>
                </a:lnTo>
                <a:lnTo>
                  <a:pt x="1" y="886"/>
                </a:lnTo>
                <a:lnTo>
                  <a:pt x="2" y="888"/>
                </a:lnTo>
                <a:lnTo>
                  <a:pt x="3" y="892"/>
                </a:lnTo>
                <a:lnTo>
                  <a:pt x="6" y="894"/>
                </a:lnTo>
                <a:lnTo>
                  <a:pt x="8" y="895"/>
                </a:lnTo>
                <a:lnTo>
                  <a:pt x="10" y="897"/>
                </a:lnTo>
                <a:lnTo>
                  <a:pt x="13" y="897"/>
                </a:lnTo>
                <a:lnTo>
                  <a:pt x="15" y="898"/>
                </a:lnTo>
                <a:lnTo>
                  <a:pt x="883" y="898"/>
                </a:lnTo>
                <a:lnTo>
                  <a:pt x="886" y="897"/>
                </a:lnTo>
                <a:lnTo>
                  <a:pt x="888" y="897"/>
                </a:lnTo>
                <a:lnTo>
                  <a:pt x="892" y="895"/>
                </a:lnTo>
                <a:lnTo>
                  <a:pt x="894" y="894"/>
                </a:lnTo>
                <a:lnTo>
                  <a:pt x="896" y="892"/>
                </a:lnTo>
                <a:lnTo>
                  <a:pt x="897" y="888"/>
                </a:lnTo>
                <a:lnTo>
                  <a:pt x="898" y="886"/>
                </a:lnTo>
                <a:lnTo>
                  <a:pt x="898" y="883"/>
                </a:lnTo>
                <a:lnTo>
                  <a:pt x="898" y="15"/>
                </a:lnTo>
                <a:lnTo>
                  <a:pt x="898" y="12"/>
                </a:lnTo>
                <a:lnTo>
                  <a:pt x="897" y="10"/>
                </a:lnTo>
                <a:lnTo>
                  <a:pt x="896" y="7"/>
                </a:lnTo>
                <a:lnTo>
                  <a:pt x="894" y="5"/>
                </a:lnTo>
                <a:lnTo>
                  <a:pt x="892" y="3"/>
                </a:lnTo>
                <a:lnTo>
                  <a:pt x="888" y="2"/>
                </a:lnTo>
                <a:lnTo>
                  <a:pt x="886" y="0"/>
                </a:lnTo>
                <a:lnTo>
                  <a:pt x="883"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29971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AEC5CCFB-F751-444D-8A40-86CAFE4EE608}"/>
              </a:ext>
            </a:extLst>
          </p:cNvPr>
          <p:cNvGraphicFramePr/>
          <p:nvPr>
            <p:extLst>
              <p:ext uri="{D42A27DB-BD31-4B8C-83A1-F6EECF244321}">
                <p14:modId xmlns:p14="http://schemas.microsoft.com/office/powerpoint/2010/main" val="190067746"/>
              </p:ext>
            </p:extLst>
          </p:nvPr>
        </p:nvGraphicFramePr>
        <p:xfrm>
          <a:off x="1171575" y="209550"/>
          <a:ext cx="9848850" cy="57431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1087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33B776-CBEC-46C1-B728-98C6734EB4D0}"/>
              </a:ext>
            </a:extLst>
          </p:cNvPr>
          <p:cNvSpPr txBox="1"/>
          <p:nvPr/>
        </p:nvSpPr>
        <p:spPr>
          <a:xfrm>
            <a:off x="544435" y="456991"/>
            <a:ext cx="9651985"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200" b="1" i="1" dirty="0">
                <a:solidFill>
                  <a:schemeClr val="accent2"/>
                </a:solidFill>
                <a:latin typeface="Garamond" panose="02020404030301010803" pitchFamily="18" charset="0"/>
                <a:cs typeface="Arial" panose="020B0604020202020204" pitchFamily="34" charset="0"/>
              </a:rPr>
              <a:t>CONCEPTUAL BACKGROUND OF THE  DOMAIN PROBLEM</a:t>
            </a:r>
            <a:endParaRPr lang="en-US" sz="3200" b="1" i="1" dirty="0">
              <a:solidFill>
                <a:schemeClr val="accent2"/>
              </a:solidFill>
              <a:latin typeface="Garamond" panose="02020404030301010803" pitchFamily="18" charset="0"/>
              <a:cs typeface="Arial" panose="020B0604020202020204" pitchFamily="34" charset="0"/>
            </a:endParaRPr>
          </a:p>
        </p:txBody>
      </p:sp>
      <p:sp>
        <p:nvSpPr>
          <p:cNvPr id="4" name="TextBox 3">
            <a:extLst>
              <a:ext uri="{FF2B5EF4-FFF2-40B4-BE49-F238E27FC236}">
                <a16:creationId xmlns:a16="http://schemas.microsoft.com/office/drawing/2014/main" id="{3D8A56FA-C775-453F-806D-E662A819BCA8}"/>
              </a:ext>
            </a:extLst>
          </p:cNvPr>
          <p:cNvSpPr txBox="1"/>
          <p:nvPr/>
        </p:nvSpPr>
        <p:spPr>
          <a:xfrm>
            <a:off x="337402" y="1570702"/>
            <a:ext cx="10086758" cy="47397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lvl="0" indent="-342900" algn="just">
              <a:spcAft>
                <a:spcPts val="2000"/>
              </a:spcAft>
              <a:buFont typeface="Symbol" panose="05050102010706020507" pitchFamily="18" charset="2"/>
              <a:buChar char=""/>
            </a:pPr>
            <a:r>
              <a:rPr lang="en-IN" sz="1800" dirty="0">
                <a:solidFill>
                  <a:srgbClr val="000000"/>
                </a:solidFill>
                <a:effectLst/>
                <a:latin typeface="Times New Roman" panose="02020603050405020304" pitchFamily="18" charset="0"/>
                <a:ea typeface="Rockwell" panose="02060603020205020403" pitchFamily="18" charset="0"/>
              </a:rPr>
              <a:t> </a:t>
            </a:r>
            <a:r>
              <a:rPr lang="en-IN" sz="1800" dirty="0">
                <a:solidFill>
                  <a:srgbClr val="333333"/>
                </a:solidFill>
                <a:effectLst/>
                <a:latin typeface="Rockwell" panose="02060603020205020403" pitchFamily="18" charset="0"/>
                <a:ea typeface="Rockwell" panose="02060603020205020403" pitchFamily="18" charset="0"/>
                <a:cs typeface="Mangal" panose="02040503050203030202" pitchFamily="18" charset="0"/>
              </a:rPr>
              <a:t> </a:t>
            </a:r>
            <a:r>
              <a:rPr lang="en-US" sz="1800" dirty="0">
                <a:solidFill>
                  <a:srgbClr val="333333"/>
                </a:solidFill>
                <a:effectLst/>
                <a:latin typeface="Times New Roman" panose="02020603050405020304" pitchFamily="18" charset="0"/>
                <a:ea typeface="Rockwell" panose="02060603020205020403" pitchFamily="18" charset="0"/>
                <a:cs typeface="Mangal" panose="02040503050203030202" pitchFamily="18" charset="0"/>
              </a:rPr>
              <a:t>In the past few years its seen that the cases related to social media hatred have increased exponentially. The social media is turning into a dark venomous pit for people now a days. Online hate is the result of difference in opinion, race, religion, occupation, nationality etc.</a:t>
            </a:r>
            <a:endParaRPr lang="en-IN" sz="1800" dirty="0">
              <a:solidFill>
                <a:srgbClr val="333333"/>
              </a:solidFill>
              <a:effectLst/>
              <a:latin typeface="Rockwell" panose="02060603020205020403" pitchFamily="18" charset="0"/>
              <a:ea typeface="Rockwell" panose="02060603020205020403" pitchFamily="18" charset="0"/>
              <a:cs typeface="Mangal" panose="02040503050203030202" pitchFamily="18" charset="0"/>
            </a:endParaRPr>
          </a:p>
          <a:p>
            <a:pPr marL="342900" lvl="0" indent="-342900" algn="just">
              <a:spcAft>
                <a:spcPts val="2000"/>
              </a:spcAft>
              <a:buFont typeface="Symbol" panose="05050102010706020507" pitchFamily="18" charset="2"/>
              <a:buChar char=""/>
            </a:pPr>
            <a:r>
              <a:rPr lang="en-US" sz="1800" dirty="0">
                <a:solidFill>
                  <a:srgbClr val="333333"/>
                </a:solidFill>
                <a:effectLst/>
                <a:latin typeface="Times New Roman" panose="02020603050405020304" pitchFamily="18" charset="0"/>
                <a:ea typeface="Rockwell" panose="02060603020205020403" pitchFamily="18" charset="0"/>
                <a:cs typeface="Mangal" panose="02040503050203030202" pitchFamily="18" charset="0"/>
              </a:rPr>
              <a:t>In social media the people spreading or involved in such kind of activities uses filthy languages, aggression, images etc. to offend and gravely hurt the person on the other side. This is one of the major concerns now.</a:t>
            </a:r>
            <a:endParaRPr lang="en-IN" sz="1800" dirty="0">
              <a:solidFill>
                <a:srgbClr val="333333"/>
              </a:solidFill>
              <a:effectLst/>
              <a:latin typeface="Rockwell" panose="02060603020205020403" pitchFamily="18" charset="0"/>
              <a:ea typeface="Rockwell" panose="02060603020205020403" pitchFamily="18" charset="0"/>
              <a:cs typeface="Mangal" panose="02040503050203030202" pitchFamily="18" charset="0"/>
            </a:endParaRPr>
          </a:p>
          <a:p>
            <a:pPr marL="342900" lvl="0" indent="-342900" algn="just">
              <a:spcAft>
                <a:spcPts val="2000"/>
              </a:spcAft>
              <a:buFont typeface="Symbol" panose="05050102010706020507" pitchFamily="18" charset="2"/>
              <a:buChar char=""/>
            </a:pPr>
            <a:r>
              <a:rPr lang="en-US" sz="1800" dirty="0">
                <a:solidFill>
                  <a:srgbClr val="333333"/>
                </a:solidFill>
                <a:effectLst/>
                <a:latin typeface="Times New Roman" panose="02020603050405020304" pitchFamily="18" charset="0"/>
                <a:ea typeface="Rockwell" panose="02060603020205020403" pitchFamily="18" charset="0"/>
                <a:cs typeface="Mangal" panose="02040503050203030202" pitchFamily="18" charset="0"/>
              </a:rPr>
              <a:t>The result of such activities can be dangerous. It gives mental trauma to the victims making their lives miserable. People who are not well aware of mental health online hate or cyber bullying become life threatening for them. Such cases are also at rise. It is also taking its toll on religions. Each and every day we can see an incident of fighting between people of different communities or religions due to offensive social media posts.</a:t>
            </a:r>
            <a:endParaRPr lang="en-IN" sz="1800" dirty="0">
              <a:solidFill>
                <a:srgbClr val="333333"/>
              </a:solidFill>
              <a:effectLst/>
              <a:latin typeface="Rockwell" panose="02060603020205020403" pitchFamily="18" charset="0"/>
              <a:ea typeface="Rockwell" panose="02060603020205020403" pitchFamily="18" charset="0"/>
              <a:cs typeface="Mangal" panose="02040503050203030202" pitchFamily="18" charset="0"/>
            </a:endParaRPr>
          </a:p>
          <a:p>
            <a:r>
              <a:rPr lang="en-US" sz="1800" dirty="0">
                <a:solidFill>
                  <a:srgbClr val="262626"/>
                </a:solidFill>
                <a:effectLst/>
                <a:latin typeface="Times New Roman" panose="02020603050405020304" pitchFamily="18" charset="0"/>
                <a:ea typeface="Rockwell" panose="02060603020205020403" pitchFamily="18" charset="0"/>
              </a:rPr>
              <a:t> Online hate, described as abusive language, aggression, cyberbullying, hatefulness, insults, personal attacks, provocation, racism, sexism, threats, or toxicity has been identified as a major threat on online social media platforms. These kinds of activities must be checked for a better future.</a:t>
            </a:r>
            <a:endParaRPr lang="en-US" sz="2800" dirty="0">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12"/>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2829857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1773" y="21361"/>
            <a:ext cx="3186747" cy="320324"/>
          </a:xfrm>
        </p:spPr>
        <p:txBody>
          <a:bodyPr>
            <a:normAutofit fontScale="90000"/>
          </a:bodyPr>
          <a:lstStyle/>
          <a:p>
            <a:r>
              <a:rPr lang="en-IN" sz="2000" dirty="0"/>
              <a:t>DATA PRE-PROCESSING</a:t>
            </a:r>
          </a:p>
        </p:txBody>
      </p:sp>
      <p:sp>
        <p:nvSpPr>
          <p:cNvPr id="3" name="Content Placeholder 2"/>
          <p:cNvSpPr>
            <a:spLocks noGrp="1"/>
          </p:cNvSpPr>
          <p:nvPr>
            <p:ph idx="1"/>
          </p:nvPr>
        </p:nvSpPr>
        <p:spPr>
          <a:xfrm>
            <a:off x="382832" y="1381416"/>
            <a:ext cx="3861607" cy="4436853"/>
          </a:xfrm>
        </p:spPr>
        <p:txBody>
          <a:bodyPr>
            <a:normAutofit fontScale="70000" lnSpcReduction="20000"/>
          </a:bodyPr>
          <a:lstStyle/>
          <a:p>
            <a:r>
              <a:rPr lang="en-IN" dirty="0"/>
              <a:t>For Data pre-processing we did some data cleaning, where we used </a:t>
            </a:r>
            <a:r>
              <a:rPr lang="en-IN" dirty="0" err="1"/>
              <a:t>wordNet</a:t>
            </a:r>
            <a:r>
              <a:rPr lang="en-IN" dirty="0"/>
              <a:t> </a:t>
            </a:r>
            <a:r>
              <a:rPr lang="en-IN" dirty="0" err="1"/>
              <a:t>lemmatizer</a:t>
            </a:r>
            <a:r>
              <a:rPr lang="en-IN" dirty="0"/>
              <a:t> and </a:t>
            </a:r>
            <a:r>
              <a:rPr lang="en-IN" dirty="0" err="1"/>
              <a:t>porterStemmer</a:t>
            </a:r>
            <a:r>
              <a:rPr lang="en-IN" dirty="0"/>
              <a:t> to clean the words and removed special characters using </a:t>
            </a:r>
            <a:r>
              <a:rPr lang="en-IN" dirty="0" err="1"/>
              <a:t>Regexp</a:t>
            </a:r>
            <a:r>
              <a:rPr lang="en-IN" dirty="0"/>
              <a:t> Tokenizer and filter the words by removing stop words and then used </a:t>
            </a:r>
            <a:r>
              <a:rPr lang="en-IN" dirty="0" err="1"/>
              <a:t>lemmatizers</a:t>
            </a:r>
            <a:r>
              <a:rPr lang="en-IN" dirty="0"/>
              <a:t> and joined and return the filtered words.</a:t>
            </a:r>
          </a:p>
          <a:p>
            <a:r>
              <a:rPr lang="en-IN" dirty="0"/>
              <a:t>Used TFIDF </a:t>
            </a:r>
            <a:r>
              <a:rPr lang="en-IN" dirty="0" err="1"/>
              <a:t>vectorizer</a:t>
            </a:r>
            <a:r>
              <a:rPr lang="en-IN" dirty="0"/>
              <a:t> to convert those text into vectors, and split the data and into test and train and trained various Machine learning algorithms. </a:t>
            </a:r>
          </a:p>
          <a:p>
            <a:endParaRPr lang="en-IN" dirty="0"/>
          </a:p>
        </p:txBody>
      </p:sp>
      <p:pic>
        <p:nvPicPr>
          <p:cNvPr id="5" name="Picture 4"/>
          <p:cNvPicPr/>
          <p:nvPr/>
        </p:nvPicPr>
        <p:blipFill>
          <a:blip r:embed="rId2"/>
          <a:stretch>
            <a:fillRect/>
          </a:stretch>
        </p:blipFill>
        <p:spPr>
          <a:xfrm>
            <a:off x="4244439" y="-161519"/>
            <a:ext cx="6957551" cy="6836639"/>
          </a:xfrm>
          <a:prstGeom prst="rect">
            <a:avLst/>
          </a:prstGeom>
        </p:spPr>
      </p:pic>
    </p:spTree>
    <p:extLst>
      <p:ext uri="{BB962C8B-B14F-4D97-AF65-F5344CB8AC3E}">
        <p14:creationId xmlns:p14="http://schemas.microsoft.com/office/powerpoint/2010/main" val="2810925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2787" y="129395"/>
            <a:ext cx="9905998" cy="665103"/>
          </a:xfrm>
        </p:spPr>
        <p:txBody>
          <a:bodyPr>
            <a:normAutofit/>
          </a:bodyPr>
          <a:lstStyle/>
          <a:p>
            <a:r>
              <a:rPr lang="en-IN" sz="3200" b="1" dirty="0"/>
              <a:t>DATA INPUT- LOGIC-OUTPUT RELATIONSHIPS</a:t>
            </a:r>
          </a:p>
        </p:txBody>
      </p:sp>
      <p:sp>
        <p:nvSpPr>
          <p:cNvPr id="3" name="Content Placeholder 2"/>
          <p:cNvSpPr>
            <a:spLocks noGrp="1"/>
          </p:cNvSpPr>
          <p:nvPr>
            <p:ph idx="1"/>
          </p:nvPr>
        </p:nvSpPr>
        <p:spPr>
          <a:xfrm>
            <a:off x="753224" y="5491532"/>
            <a:ext cx="11073591" cy="947368"/>
          </a:xfrm>
        </p:spPr>
        <p:txBody>
          <a:bodyPr>
            <a:noAutofit/>
          </a:bodyPr>
          <a:lstStyle/>
          <a:p>
            <a:r>
              <a:rPr lang="en-IN" dirty="0">
                <a:effectLst/>
              </a:rPr>
              <a:t>From the above we can see that most frequent words for both Malignant and Non Malignant category.</a:t>
            </a:r>
          </a:p>
        </p:txBody>
      </p:sp>
      <p:sp>
        <p:nvSpPr>
          <p:cNvPr id="10" name="Title 1"/>
          <p:cNvSpPr txBox="1">
            <a:spLocks/>
          </p:cNvSpPr>
          <p:nvPr/>
        </p:nvSpPr>
        <p:spPr>
          <a:xfrm>
            <a:off x="1026395" y="794498"/>
            <a:ext cx="5460669" cy="6651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endParaRPr lang="en-IN" dirty="0"/>
          </a:p>
        </p:txBody>
      </p:sp>
      <p:sp>
        <p:nvSpPr>
          <p:cNvPr id="5" name="Rectangle 4"/>
          <p:cNvSpPr/>
          <p:nvPr/>
        </p:nvSpPr>
        <p:spPr>
          <a:xfrm>
            <a:off x="1132786" y="1010093"/>
            <a:ext cx="2492729" cy="369332"/>
          </a:xfrm>
          <a:prstGeom prst="rect">
            <a:avLst/>
          </a:prstGeom>
        </p:spPr>
        <p:txBody>
          <a:bodyPr wrap="square">
            <a:spAutoFit/>
          </a:bodyPr>
          <a:lstStyle/>
          <a:p>
            <a:r>
              <a:rPr lang="en-IN" b="1" dirty="0"/>
              <a:t>Malignant </a:t>
            </a:r>
            <a:r>
              <a:rPr lang="en-IN" dirty="0"/>
              <a:t>WORDS</a:t>
            </a:r>
          </a:p>
        </p:txBody>
      </p:sp>
      <p:sp>
        <p:nvSpPr>
          <p:cNvPr id="13" name="Rectangle 12"/>
          <p:cNvSpPr/>
          <p:nvPr/>
        </p:nvSpPr>
        <p:spPr>
          <a:xfrm>
            <a:off x="6487064" y="965214"/>
            <a:ext cx="2752677" cy="369332"/>
          </a:xfrm>
          <a:prstGeom prst="rect">
            <a:avLst/>
          </a:prstGeom>
        </p:spPr>
        <p:txBody>
          <a:bodyPr wrap="none">
            <a:spAutoFit/>
          </a:bodyPr>
          <a:lstStyle/>
          <a:p>
            <a:r>
              <a:rPr lang="en-IN" b="1" dirty="0"/>
              <a:t>NOT</a:t>
            </a:r>
            <a:r>
              <a:rPr lang="en-IN" dirty="0"/>
              <a:t> </a:t>
            </a:r>
            <a:r>
              <a:rPr lang="en-IN" b="1" dirty="0"/>
              <a:t>Malignant </a:t>
            </a:r>
            <a:r>
              <a:rPr lang="en-IN" dirty="0"/>
              <a:t>WORDS</a:t>
            </a:r>
          </a:p>
        </p:txBody>
      </p:sp>
      <p:pic>
        <p:nvPicPr>
          <p:cNvPr id="11" name="Picture 10"/>
          <p:cNvPicPr/>
          <p:nvPr/>
        </p:nvPicPr>
        <p:blipFill>
          <a:blip r:embed="rId2"/>
          <a:stretch>
            <a:fillRect/>
          </a:stretch>
        </p:blipFill>
        <p:spPr>
          <a:xfrm>
            <a:off x="558509" y="1825361"/>
            <a:ext cx="5731510" cy="3042920"/>
          </a:xfrm>
          <a:prstGeom prst="rect">
            <a:avLst/>
          </a:prstGeom>
        </p:spPr>
      </p:pic>
      <p:pic>
        <p:nvPicPr>
          <p:cNvPr id="12" name="Picture 11"/>
          <p:cNvPicPr/>
          <p:nvPr/>
        </p:nvPicPr>
        <p:blipFill>
          <a:blip r:embed="rId3"/>
          <a:stretch>
            <a:fillRect/>
          </a:stretch>
        </p:blipFill>
        <p:spPr>
          <a:xfrm>
            <a:off x="6290019" y="1871081"/>
            <a:ext cx="5731510" cy="2990215"/>
          </a:xfrm>
          <a:prstGeom prst="rect">
            <a:avLst/>
          </a:prstGeom>
        </p:spPr>
      </p:pic>
    </p:spTree>
    <p:extLst>
      <p:ext uri="{BB962C8B-B14F-4D97-AF65-F5344CB8AC3E}">
        <p14:creationId xmlns:p14="http://schemas.microsoft.com/office/powerpoint/2010/main" val="3842431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MODEL/S DEVELOPMENT AND EVALUATION</a:t>
            </a:r>
          </a:p>
        </p:txBody>
      </p:sp>
      <p:pic>
        <p:nvPicPr>
          <p:cNvPr id="6" name="Picture 5"/>
          <p:cNvPicPr/>
          <p:nvPr/>
        </p:nvPicPr>
        <p:blipFill>
          <a:blip r:embed="rId2"/>
          <a:stretch>
            <a:fillRect/>
          </a:stretch>
        </p:blipFill>
        <p:spPr>
          <a:xfrm>
            <a:off x="968309" y="2576853"/>
            <a:ext cx="5731510" cy="2886710"/>
          </a:xfrm>
          <a:prstGeom prst="rect">
            <a:avLst/>
          </a:prstGeom>
        </p:spPr>
      </p:pic>
    </p:spTree>
    <p:extLst>
      <p:ext uri="{BB962C8B-B14F-4D97-AF65-F5344CB8AC3E}">
        <p14:creationId xmlns:p14="http://schemas.microsoft.com/office/powerpoint/2010/main" val="169212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3595"/>
          </a:xfrm>
        </p:spPr>
        <p:txBody>
          <a:bodyPr>
            <a:normAutofit/>
          </a:bodyPr>
          <a:lstStyle/>
          <a:p>
            <a:r>
              <a:rPr lang="en-IN" sz="2800" dirty="0"/>
              <a:t>MODEL/S DEVELOPMENT AND EVALUATION</a:t>
            </a:r>
          </a:p>
        </p:txBody>
      </p:sp>
      <p:sp>
        <p:nvSpPr>
          <p:cNvPr id="3" name="Content Placeholder 2"/>
          <p:cNvSpPr>
            <a:spLocks noGrp="1"/>
          </p:cNvSpPr>
          <p:nvPr>
            <p:ph idx="1"/>
          </p:nvPr>
        </p:nvSpPr>
        <p:spPr/>
        <p:txBody>
          <a:bodyPr>
            <a:normAutofit/>
          </a:bodyPr>
          <a:lstStyle/>
          <a:p>
            <a:pPr lvl="0"/>
            <a:r>
              <a:rPr lang="en-IN" b="1" dirty="0"/>
              <a:t>Testing of Identified Approaches (Algorithms)</a:t>
            </a:r>
          </a:p>
          <a:p>
            <a:pPr marL="0" lvl="0" indent="0">
              <a:buNone/>
            </a:pPr>
            <a:endParaRPr lang="en-IN" sz="1600" dirty="0"/>
          </a:p>
          <a:p>
            <a:pPr lvl="0"/>
            <a:r>
              <a:rPr lang="en-IN" dirty="0">
                <a:effectLst/>
              </a:rPr>
              <a:t>LR=</a:t>
            </a:r>
            <a:r>
              <a:rPr lang="en-IN" dirty="0" err="1">
                <a:effectLst/>
              </a:rPr>
              <a:t>LogisticRegression</a:t>
            </a:r>
            <a:r>
              <a:rPr lang="en-IN" dirty="0">
                <a:effectLst/>
              </a:rPr>
              <a:t>()</a:t>
            </a:r>
            <a:endParaRPr lang="en-IN" sz="1800" dirty="0">
              <a:effectLst/>
            </a:endParaRPr>
          </a:p>
          <a:p>
            <a:pPr lvl="0"/>
            <a:r>
              <a:rPr lang="en-IN" dirty="0">
                <a:effectLst/>
              </a:rPr>
              <a:t>MNB=</a:t>
            </a:r>
            <a:r>
              <a:rPr lang="en-IN" dirty="0" err="1">
                <a:effectLst/>
              </a:rPr>
              <a:t>MultinomialNB</a:t>
            </a:r>
            <a:r>
              <a:rPr lang="en-IN" dirty="0">
                <a:effectLst/>
              </a:rPr>
              <a:t>()</a:t>
            </a:r>
            <a:endParaRPr lang="en-IN" sz="1800" dirty="0">
              <a:effectLst/>
            </a:endParaRPr>
          </a:p>
          <a:p>
            <a:pPr lvl="0"/>
            <a:r>
              <a:rPr lang="en-IN" dirty="0">
                <a:effectLst/>
              </a:rPr>
              <a:t>PAC=</a:t>
            </a:r>
            <a:r>
              <a:rPr lang="en-IN" dirty="0" err="1">
                <a:effectLst/>
              </a:rPr>
              <a:t>PassiveAggressiveClassifier</a:t>
            </a:r>
            <a:r>
              <a:rPr lang="en-IN" dirty="0">
                <a:effectLst/>
              </a:rPr>
              <a:t>()</a:t>
            </a:r>
            <a:endParaRPr lang="en-IN" sz="1800" dirty="0">
              <a:effectLst/>
            </a:endParaRPr>
          </a:p>
          <a:p>
            <a:pPr lvl="0"/>
            <a:r>
              <a:rPr lang="en-IN" dirty="0">
                <a:effectLst/>
              </a:rPr>
              <a:t>DT=</a:t>
            </a:r>
            <a:r>
              <a:rPr lang="en-IN" dirty="0" err="1">
                <a:effectLst/>
              </a:rPr>
              <a:t>DecisionTreeClassifier</a:t>
            </a:r>
            <a:r>
              <a:rPr lang="en-IN" dirty="0">
                <a:effectLst/>
              </a:rPr>
              <a:t>()</a:t>
            </a:r>
            <a:endParaRPr lang="en-IN" sz="1800" dirty="0">
              <a:effectLst/>
            </a:endParaRPr>
          </a:p>
        </p:txBody>
      </p:sp>
    </p:spTree>
    <p:extLst>
      <p:ext uri="{BB962C8B-B14F-4D97-AF65-F5344CB8AC3E}">
        <p14:creationId xmlns:p14="http://schemas.microsoft.com/office/powerpoint/2010/main" val="3969688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3667" y="108151"/>
            <a:ext cx="6804665" cy="369332"/>
          </a:xfrm>
        </p:spPr>
        <p:txBody>
          <a:bodyPr>
            <a:normAutofit fontScale="90000"/>
          </a:bodyPr>
          <a:lstStyle/>
          <a:p>
            <a:r>
              <a:rPr lang="en-IN" sz="2800" dirty="0"/>
              <a:t>MODEL/S DEVELOPMENT AND EVALUATION</a:t>
            </a:r>
          </a:p>
        </p:txBody>
      </p:sp>
      <p:sp>
        <p:nvSpPr>
          <p:cNvPr id="7" name="TextBox 6"/>
          <p:cNvSpPr txBox="1"/>
          <p:nvPr/>
        </p:nvSpPr>
        <p:spPr>
          <a:xfrm>
            <a:off x="496577" y="392480"/>
            <a:ext cx="5503170" cy="369332"/>
          </a:xfrm>
          <a:prstGeom prst="rect">
            <a:avLst/>
          </a:prstGeom>
          <a:noFill/>
        </p:spPr>
        <p:txBody>
          <a:bodyPr wrap="square" rtlCol="0">
            <a:spAutoFit/>
          </a:bodyPr>
          <a:lstStyle/>
          <a:p>
            <a:r>
              <a:rPr lang="en-IN" dirty="0"/>
              <a:t>Run and Evaluated Some Selected models</a:t>
            </a:r>
          </a:p>
        </p:txBody>
      </p:sp>
      <p:pic>
        <p:nvPicPr>
          <p:cNvPr id="10" name="Picture 9"/>
          <p:cNvPicPr/>
          <p:nvPr/>
        </p:nvPicPr>
        <p:blipFill>
          <a:blip r:embed="rId2"/>
          <a:stretch>
            <a:fillRect/>
          </a:stretch>
        </p:blipFill>
        <p:spPr>
          <a:xfrm>
            <a:off x="3133992" y="758200"/>
            <a:ext cx="5731510" cy="709295"/>
          </a:xfrm>
          <a:prstGeom prst="rect">
            <a:avLst/>
          </a:prstGeom>
        </p:spPr>
      </p:pic>
      <p:pic>
        <p:nvPicPr>
          <p:cNvPr id="11" name="Picture 10"/>
          <p:cNvPicPr/>
          <p:nvPr/>
        </p:nvPicPr>
        <p:blipFill>
          <a:blip r:embed="rId3"/>
          <a:stretch>
            <a:fillRect/>
          </a:stretch>
        </p:blipFill>
        <p:spPr>
          <a:xfrm>
            <a:off x="3314544" y="1467495"/>
            <a:ext cx="5550957" cy="5390505"/>
          </a:xfrm>
          <a:prstGeom prst="rect">
            <a:avLst/>
          </a:prstGeom>
        </p:spPr>
      </p:pic>
    </p:spTree>
    <p:extLst>
      <p:ext uri="{BB962C8B-B14F-4D97-AF65-F5344CB8AC3E}">
        <p14:creationId xmlns:p14="http://schemas.microsoft.com/office/powerpoint/2010/main" val="2615134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43021F2-9B36-44DB-A544-8FCB1363BF19}"/>
              </a:ext>
            </a:extLst>
          </p:cNvPr>
          <p:cNvSpPr txBox="1"/>
          <p:nvPr/>
        </p:nvSpPr>
        <p:spPr>
          <a:xfrm>
            <a:off x="2963884" y="433892"/>
            <a:ext cx="6264231" cy="369332"/>
          </a:xfrm>
          <a:prstGeom prst="rect">
            <a:avLst/>
          </a:prstGeom>
          <a:noFill/>
        </p:spPr>
        <p:txBody>
          <a:bodyPr wrap="square" rtlCol="0">
            <a:spAutoFit/>
          </a:bodyPr>
          <a:lstStyle/>
          <a:p>
            <a:pPr lvl="0" algn="just"/>
            <a:r>
              <a:rPr lang="en-IN" b="1" dirty="0"/>
              <a:t>Key Metrics for success in solving problem under consideration</a:t>
            </a:r>
          </a:p>
        </p:txBody>
      </p:sp>
      <p:pic>
        <p:nvPicPr>
          <p:cNvPr id="5" name="Picture 4">
            <a:extLst>
              <a:ext uri="{FF2B5EF4-FFF2-40B4-BE49-F238E27FC236}">
                <a16:creationId xmlns:a16="http://schemas.microsoft.com/office/drawing/2014/main" id="{D24A8EA9-27B7-41FA-93C8-941C25B54CA9}"/>
              </a:ext>
            </a:extLst>
          </p:cNvPr>
          <p:cNvPicPr/>
          <p:nvPr/>
        </p:nvPicPr>
        <p:blipFill>
          <a:blip r:embed="rId2"/>
          <a:stretch>
            <a:fillRect/>
          </a:stretch>
        </p:blipFill>
        <p:spPr>
          <a:xfrm>
            <a:off x="2896246" y="2624837"/>
            <a:ext cx="6399507" cy="2713393"/>
          </a:xfrm>
          <a:prstGeom prst="rect">
            <a:avLst/>
          </a:prstGeom>
        </p:spPr>
      </p:pic>
      <p:pic>
        <p:nvPicPr>
          <p:cNvPr id="6" name="Picture 5">
            <a:extLst>
              <a:ext uri="{FF2B5EF4-FFF2-40B4-BE49-F238E27FC236}">
                <a16:creationId xmlns:a16="http://schemas.microsoft.com/office/drawing/2014/main" id="{70C2A9E4-1BCC-472C-BEF3-F0398E39B08C}"/>
              </a:ext>
            </a:extLst>
          </p:cNvPr>
          <p:cNvPicPr/>
          <p:nvPr/>
        </p:nvPicPr>
        <p:blipFill>
          <a:blip r:embed="rId3"/>
          <a:stretch>
            <a:fillRect/>
          </a:stretch>
        </p:blipFill>
        <p:spPr>
          <a:xfrm>
            <a:off x="2261235" y="992526"/>
            <a:ext cx="7742556" cy="1436631"/>
          </a:xfrm>
          <a:prstGeom prst="rect">
            <a:avLst/>
          </a:prstGeom>
        </p:spPr>
      </p:pic>
      <p:sp>
        <p:nvSpPr>
          <p:cNvPr id="7" name="TextBox 6">
            <a:extLst>
              <a:ext uri="{FF2B5EF4-FFF2-40B4-BE49-F238E27FC236}">
                <a16:creationId xmlns:a16="http://schemas.microsoft.com/office/drawing/2014/main" id="{9B04589B-9F2B-4D08-AF14-0448C9816AF9}"/>
              </a:ext>
            </a:extLst>
          </p:cNvPr>
          <p:cNvSpPr txBox="1"/>
          <p:nvPr/>
        </p:nvSpPr>
        <p:spPr>
          <a:xfrm>
            <a:off x="1080931" y="5664103"/>
            <a:ext cx="10030138" cy="646331"/>
          </a:xfrm>
          <a:prstGeom prst="rect">
            <a:avLst/>
          </a:prstGeom>
          <a:noFill/>
        </p:spPr>
        <p:txBody>
          <a:bodyPr wrap="square" rtlCol="0">
            <a:spAutoFit/>
          </a:bodyPr>
          <a:lstStyle/>
          <a:p>
            <a:r>
              <a:rPr lang="en-IN" b="1" dirty="0"/>
              <a:t>After all this process conclusion is that Passive Aggressive Classifier is giving accuracy of 94.78%. So, now I am making a final model using Passive Aggressive Classifier.</a:t>
            </a:r>
          </a:p>
        </p:txBody>
      </p:sp>
    </p:spTree>
    <p:extLst>
      <p:ext uri="{BB962C8B-B14F-4D97-AF65-F5344CB8AC3E}">
        <p14:creationId xmlns:p14="http://schemas.microsoft.com/office/powerpoint/2010/main" val="3985192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MODEL/S DEVELOPMENT AND EVALUATION</a:t>
            </a:r>
          </a:p>
        </p:txBody>
      </p:sp>
      <p:sp>
        <p:nvSpPr>
          <p:cNvPr id="3" name="Content Placeholder 2"/>
          <p:cNvSpPr>
            <a:spLocks noGrp="1"/>
          </p:cNvSpPr>
          <p:nvPr>
            <p:ph idx="1"/>
          </p:nvPr>
        </p:nvSpPr>
        <p:spPr>
          <a:xfrm>
            <a:off x="933584" y="1691670"/>
            <a:ext cx="3494755" cy="405418"/>
          </a:xfrm>
        </p:spPr>
        <p:txBody>
          <a:bodyPr>
            <a:normAutofit fontScale="62500" lnSpcReduction="20000"/>
          </a:bodyPr>
          <a:lstStyle/>
          <a:p>
            <a:pPr marL="0" indent="0">
              <a:buNone/>
            </a:pPr>
            <a:r>
              <a:rPr lang="en-IN" b="1" dirty="0"/>
              <a:t>Logistic Regression Visualization:</a:t>
            </a:r>
          </a:p>
        </p:txBody>
      </p:sp>
      <p:pic>
        <p:nvPicPr>
          <p:cNvPr id="6" name="Picture 5"/>
          <p:cNvPicPr/>
          <p:nvPr/>
        </p:nvPicPr>
        <p:blipFill>
          <a:blip r:embed="rId2"/>
          <a:stretch>
            <a:fillRect/>
          </a:stretch>
        </p:blipFill>
        <p:spPr>
          <a:xfrm>
            <a:off x="797877" y="2097088"/>
            <a:ext cx="5496560" cy="4629785"/>
          </a:xfrm>
          <a:prstGeom prst="rect">
            <a:avLst/>
          </a:prstGeom>
        </p:spPr>
      </p:pic>
      <p:pic>
        <p:nvPicPr>
          <p:cNvPr id="7" name="Picture 6"/>
          <p:cNvPicPr/>
          <p:nvPr/>
        </p:nvPicPr>
        <p:blipFill>
          <a:blip r:embed="rId3"/>
          <a:stretch>
            <a:fillRect/>
          </a:stretch>
        </p:blipFill>
        <p:spPr>
          <a:xfrm>
            <a:off x="6294437" y="2097088"/>
            <a:ext cx="5296535" cy="2276475"/>
          </a:xfrm>
          <a:prstGeom prst="rect">
            <a:avLst/>
          </a:prstGeom>
        </p:spPr>
      </p:pic>
    </p:spTree>
    <p:extLst>
      <p:ext uri="{BB962C8B-B14F-4D97-AF65-F5344CB8AC3E}">
        <p14:creationId xmlns:p14="http://schemas.microsoft.com/office/powerpoint/2010/main" val="1464089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459956"/>
            <a:ext cx="9905998" cy="1478570"/>
          </a:xfrm>
        </p:spPr>
        <p:txBody>
          <a:bodyPr>
            <a:normAutofit/>
          </a:bodyPr>
          <a:lstStyle/>
          <a:p>
            <a:r>
              <a:rPr lang="en-IN" dirty="0"/>
              <a:t>MODEL/S DEVELOPMENT AND EVALUATION</a:t>
            </a:r>
          </a:p>
        </p:txBody>
      </p:sp>
      <p:sp>
        <p:nvSpPr>
          <p:cNvPr id="6" name="Content Placeholder 2"/>
          <p:cNvSpPr txBox="1">
            <a:spLocks/>
          </p:cNvSpPr>
          <p:nvPr/>
        </p:nvSpPr>
        <p:spPr>
          <a:xfrm>
            <a:off x="1063775" y="1691669"/>
            <a:ext cx="4165951" cy="50760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IN" b="1" dirty="0"/>
              <a:t>Decision Tree Classifier Visualization:</a:t>
            </a:r>
            <a:endParaRPr lang="en-IN" dirty="0"/>
          </a:p>
        </p:txBody>
      </p:sp>
      <p:pic>
        <p:nvPicPr>
          <p:cNvPr id="9" name="Picture 8"/>
          <p:cNvPicPr/>
          <p:nvPr/>
        </p:nvPicPr>
        <p:blipFill>
          <a:blip r:embed="rId2"/>
          <a:stretch>
            <a:fillRect/>
          </a:stretch>
        </p:blipFill>
        <p:spPr>
          <a:xfrm>
            <a:off x="1224351" y="2137439"/>
            <a:ext cx="5182235" cy="4536077"/>
          </a:xfrm>
          <a:prstGeom prst="rect">
            <a:avLst/>
          </a:prstGeom>
        </p:spPr>
      </p:pic>
      <p:pic>
        <p:nvPicPr>
          <p:cNvPr id="10" name="Picture 9"/>
          <p:cNvPicPr/>
          <p:nvPr/>
        </p:nvPicPr>
        <p:blipFill>
          <a:blip r:embed="rId3"/>
          <a:stretch>
            <a:fillRect/>
          </a:stretch>
        </p:blipFill>
        <p:spPr>
          <a:xfrm>
            <a:off x="6406586" y="2137439"/>
            <a:ext cx="4991735" cy="2219325"/>
          </a:xfrm>
          <a:prstGeom prst="rect">
            <a:avLst/>
          </a:prstGeom>
        </p:spPr>
      </p:pic>
    </p:spTree>
    <p:extLst>
      <p:ext uri="{BB962C8B-B14F-4D97-AF65-F5344CB8AC3E}">
        <p14:creationId xmlns:p14="http://schemas.microsoft.com/office/powerpoint/2010/main" val="3314459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MODEL/S DEVELOPMENT AND EVALUATION</a:t>
            </a:r>
          </a:p>
        </p:txBody>
      </p:sp>
      <p:sp>
        <p:nvSpPr>
          <p:cNvPr id="7" name="Content Placeholder 2"/>
          <p:cNvSpPr txBox="1">
            <a:spLocks/>
          </p:cNvSpPr>
          <p:nvPr/>
        </p:nvSpPr>
        <p:spPr>
          <a:xfrm>
            <a:off x="1141413" y="1753505"/>
            <a:ext cx="5676482" cy="64384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IN" b="1" dirty="0" err="1"/>
              <a:t>MultiNomial</a:t>
            </a:r>
            <a:r>
              <a:rPr lang="en-IN" b="1" dirty="0"/>
              <a:t> NB Visualization:</a:t>
            </a:r>
            <a:endParaRPr lang="en-IN" dirty="0"/>
          </a:p>
        </p:txBody>
      </p:sp>
      <p:pic>
        <p:nvPicPr>
          <p:cNvPr id="6" name="Picture 5"/>
          <p:cNvPicPr/>
          <p:nvPr/>
        </p:nvPicPr>
        <p:blipFill>
          <a:blip r:embed="rId2"/>
          <a:stretch>
            <a:fillRect/>
          </a:stretch>
        </p:blipFill>
        <p:spPr>
          <a:xfrm>
            <a:off x="875231" y="2301365"/>
            <a:ext cx="5397232" cy="4517879"/>
          </a:xfrm>
          <a:prstGeom prst="rect">
            <a:avLst/>
          </a:prstGeom>
        </p:spPr>
      </p:pic>
      <p:pic>
        <p:nvPicPr>
          <p:cNvPr id="10" name="Picture 9"/>
          <p:cNvPicPr/>
          <p:nvPr/>
        </p:nvPicPr>
        <p:blipFill>
          <a:blip r:embed="rId3"/>
          <a:stretch>
            <a:fillRect/>
          </a:stretch>
        </p:blipFill>
        <p:spPr>
          <a:xfrm>
            <a:off x="6348946" y="2301365"/>
            <a:ext cx="5115560" cy="2162175"/>
          </a:xfrm>
          <a:prstGeom prst="rect">
            <a:avLst/>
          </a:prstGeom>
        </p:spPr>
      </p:pic>
    </p:spTree>
    <p:extLst>
      <p:ext uri="{BB962C8B-B14F-4D97-AF65-F5344CB8AC3E}">
        <p14:creationId xmlns:p14="http://schemas.microsoft.com/office/powerpoint/2010/main" val="1114579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459956"/>
            <a:ext cx="9905998" cy="1478570"/>
          </a:xfrm>
        </p:spPr>
        <p:txBody>
          <a:bodyPr>
            <a:normAutofit/>
          </a:bodyPr>
          <a:lstStyle/>
          <a:p>
            <a:r>
              <a:rPr lang="en-IN" dirty="0"/>
              <a:t>MODEL/S DEVELOPMENT AND EVALUATION</a:t>
            </a:r>
          </a:p>
        </p:txBody>
      </p:sp>
      <p:sp>
        <p:nvSpPr>
          <p:cNvPr id="6" name="Content Placeholder 2"/>
          <p:cNvSpPr txBox="1">
            <a:spLocks/>
          </p:cNvSpPr>
          <p:nvPr/>
        </p:nvSpPr>
        <p:spPr>
          <a:xfrm>
            <a:off x="1141413" y="1691670"/>
            <a:ext cx="4476969" cy="589902"/>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IN" b="1" dirty="0"/>
              <a:t>Passive Aggressive Classifier Visualization:</a:t>
            </a:r>
          </a:p>
          <a:p>
            <a:endParaRPr lang="en-IN" b="1" dirty="0"/>
          </a:p>
        </p:txBody>
      </p:sp>
      <p:pic>
        <p:nvPicPr>
          <p:cNvPr id="9" name="Picture 8"/>
          <p:cNvPicPr/>
          <p:nvPr/>
        </p:nvPicPr>
        <p:blipFill>
          <a:blip r:embed="rId2"/>
          <a:stretch>
            <a:fillRect/>
          </a:stretch>
        </p:blipFill>
        <p:spPr>
          <a:xfrm>
            <a:off x="948924" y="2137463"/>
            <a:ext cx="5706110" cy="4639310"/>
          </a:xfrm>
          <a:prstGeom prst="rect">
            <a:avLst/>
          </a:prstGeom>
        </p:spPr>
      </p:pic>
      <p:pic>
        <p:nvPicPr>
          <p:cNvPr id="10" name="Picture 9"/>
          <p:cNvPicPr/>
          <p:nvPr/>
        </p:nvPicPr>
        <p:blipFill>
          <a:blip r:embed="rId3"/>
          <a:stretch>
            <a:fillRect/>
          </a:stretch>
        </p:blipFill>
        <p:spPr>
          <a:xfrm>
            <a:off x="6655034" y="2137463"/>
            <a:ext cx="5048885" cy="2162175"/>
          </a:xfrm>
          <a:prstGeom prst="rect">
            <a:avLst/>
          </a:prstGeom>
        </p:spPr>
      </p:pic>
    </p:spTree>
    <p:extLst>
      <p:ext uri="{BB962C8B-B14F-4D97-AF65-F5344CB8AC3E}">
        <p14:creationId xmlns:p14="http://schemas.microsoft.com/office/powerpoint/2010/main" val="2502957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44933"/>
            <a:ext cx="9905998" cy="1478570"/>
          </a:xfrm>
        </p:spPr>
        <p:txBody>
          <a:bodyPr/>
          <a:lstStyle/>
          <a:p>
            <a:r>
              <a:rPr lang="en-IN" dirty="0"/>
              <a:t>Final model</a:t>
            </a:r>
          </a:p>
        </p:txBody>
      </p:sp>
      <p:sp>
        <p:nvSpPr>
          <p:cNvPr id="3" name="Content Placeholder 2"/>
          <p:cNvSpPr>
            <a:spLocks noGrp="1"/>
          </p:cNvSpPr>
          <p:nvPr>
            <p:ph idx="1"/>
          </p:nvPr>
        </p:nvSpPr>
        <p:spPr>
          <a:xfrm>
            <a:off x="3456310" y="4779034"/>
            <a:ext cx="7591101" cy="1635775"/>
          </a:xfrm>
        </p:spPr>
        <p:txBody>
          <a:bodyPr>
            <a:normAutofit/>
          </a:bodyPr>
          <a:lstStyle/>
          <a:p>
            <a:pPr lvl="0"/>
            <a:r>
              <a:rPr lang="en-IN" dirty="0">
                <a:effectLst/>
              </a:rPr>
              <a:t>From the above visualization and matrices found that the Passive Aggressive Classifier performed the best AUC_ROC_SCORE </a:t>
            </a:r>
            <a:r>
              <a:rPr lang="en-IN" b="1" dirty="0">
                <a:effectLst/>
              </a:rPr>
              <a:t>i.e. 94.78%.</a:t>
            </a:r>
            <a:endParaRPr lang="en-IN" dirty="0">
              <a:effectLst/>
            </a:endParaRPr>
          </a:p>
        </p:txBody>
      </p:sp>
      <p:pic>
        <p:nvPicPr>
          <p:cNvPr id="9" name="Picture 8"/>
          <p:cNvPicPr/>
          <p:nvPr/>
        </p:nvPicPr>
        <p:blipFill>
          <a:blip r:embed="rId2"/>
          <a:stretch>
            <a:fillRect/>
          </a:stretch>
        </p:blipFill>
        <p:spPr>
          <a:xfrm>
            <a:off x="1016434" y="1394232"/>
            <a:ext cx="5731510" cy="3105785"/>
          </a:xfrm>
          <a:prstGeom prst="rect">
            <a:avLst/>
          </a:prstGeom>
        </p:spPr>
      </p:pic>
      <p:pic>
        <p:nvPicPr>
          <p:cNvPr id="10" name="Picture 9"/>
          <p:cNvPicPr/>
          <p:nvPr/>
        </p:nvPicPr>
        <p:blipFill>
          <a:blip r:embed="rId3"/>
          <a:stretch>
            <a:fillRect/>
          </a:stretch>
        </p:blipFill>
        <p:spPr>
          <a:xfrm>
            <a:off x="6747944" y="1394232"/>
            <a:ext cx="4493377" cy="2568168"/>
          </a:xfrm>
          <a:prstGeom prst="rect">
            <a:avLst/>
          </a:prstGeom>
        </p:spPr>
      </p:pic>
      <p:pic>
        <p:nvPicPr>
          <p:cNvPr id="4" name="Picture 3"/>
          <p:cNvPicPr>
            <a:picLocks noChangeAspect="1"/>
          </p:cNvPicPr>
          <p:nvPr/>
        </p:nvPicPr>
        <p:blipFill>
          <a:blip r:embed="rId4"/>
          <a:stretch>
            <a:fillRect/>
          </a:stretch>
        </p:blipFill>
        <p:spPr>
          <a:xfrm>
            <a:off x="1016434" y="4576227"/>
            <a:ext cx="2257740" cy="1838582"/>
          </a:xfrm>
          <a:prstGeom prst="rect">
            <a:avLst/>
          </a:prstGeom>
        </p:spPr>
      </p:pic>
    </p:spTree>
    <p:extLst>
      <p:ext uri="{BB962C8B-B14F-4D97-AF65-F5344CB8AC3E}">
        <p14:creationId xmlns:p14="http://schemas.microsoft.com/office/powerpoint/2010/main" val="3488533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3F9CE-710B-420F-855F-0C549DE75039}"/>
              </a:ext>
            </a:extLst>
          </p:cNvPr>
          <p:cNvSpPr>
            <a:spLocks noGrp="1"/>
          </p:cNvSpPr>
          <p:nvPr>
            <p:ph type="title"/>
          </p:nvPr>
        </p:nvSpPr>
        <p:spPr/>
        <p:txBody>
          <a:bodyPr>
            <a:normAutofit/>
          </a:bodyPr>
          <a:lstStyle/>
          <a:p>
            <a:r>
              <a:rPr lang="en-US" sz="2800" b="1" u="sng" dirty="0">
                <a:latin typeface="Algerian" panose="04020705040A02060702" pitchFamily="82" charset="0"/>
                <a:cs typeface="Times New Roman" panose="02020603050405020304" pitchFamily="18" charset="0"/>
              </a:rPr>
              <a:t>Interpretation of the Results</a:t>
            </a:r>
            <a:endParaRPr lang="en-IN" sz="2800" b="1" u="sng" dirty="0">
              <a:latin typeface="Algerian" panose="04020705040A02060702" pitchFamily="82" charset="0"/>
            </a:endParaRPr>
          </a:p>
        </p:txBody>
      </p:sp>
      <p:sp>
        <p:nvSpPr>
          <p:cNvPr id="3" name="Content Placeholder 2">
            <a:extLst>
              <a:ext uri="{FF2B5EF4-FFF2-40B4-BE49-F238E27FC236}">
                <a16:creationId xmlns:a16="http://schemas.microsoft.com/office/drawing/2014/main" id="{6B2CF363-AB60-427E-ACDB-AECAB13AF1CF}"/>
              </a:ext>
            </a:extLst>
          </p:cNvPr>
          <p:cNvSpPr>
            <a:spLocks noGrp="1"/>
          </p:cNvSpPr>
          <p:nvPr>
            <p:ph idx="1"/>
          </p:nvPr>
        </p:nvSpPr>
        <p:spPr/>
        <p:txBody>
          <a:bodyPr/>
          <a:lstStyle/>
          <a:p>
            <a:pPr>
              <a:lnSpc>
                <a:spcPct val="200000"/>
              </a:lnSpc>
            </a:pPr>
            <a:r>
              <a:rPr lang="en-US" sz="1800" dirty="0">
                <a:solidFill>
                  <a:srgbClr val="262626"/>
                </a:solidFill>
                <a:effectLst/>
                <a:latin typeface="Times New Roman" panose="02020603050405020304" pitchFamily="18" charset="0"/>
                <a:ea typeface="Rockwell" panose="02060603020205020403" pitchFamily="18" charset="0"/>
              </a:rPr>
              <a:t>From the above visualization and matrices found that the </a:t>
            </a:r>
            <a:r>
              <a:rPr lang="en-US" sz="1800" dirty="0">
                <a:solidFill>
                  <a:srgbClr val="000000"/>
                </a:solidFill>
                <a:effectLst/>
                <a:latin typeface="Times New Roman" panose="02020603050405020304" pitchFamily="18" charset="0"/>
                <a:ea typeface="Rockwell" panose="02060603020205020403" pitchFamily="18" charset="0"/>
              </a:rPr>
              <a:t>Passive Aggressive</a:t>
            </a:r>
            <a:r>
              <a:rPr lang="en-US" sz="1800" dirty="0">
                <a:solidFill>
                  <a:srgbClr val="262626"/>
                </a:solidFill>
                <a:effectLst/>
                <a:latin typeface="Times New Roman" panose="02020603050405020304" pitchFamily="18" charset="0"/>
                <a:ea typeface="Rockwell" panose="02060603020205020403" pitchFamily="18" charset="0"/>
              </a:rPr>
              <a:t> Classifier performed the best AUC_ROC_SCORE </a:t>
            </a:r>
            <a:r>
              <a:rPr lang="en-US" sz="1800" b="1" dirty="0">
                <a:solidFill>
                  <a:srgbClr val="262626"/>
                </a:solidFill>
                <a:effectLst/>
                <a:latin typeface="Times New Roman" panose="02020603050405020304" pitchFamily="18" charset="0"/>
                <a:ea typeface="Rockwell" panose="02060603020205020403" pitchFamily="18" charset="0"/>
              </a:rPr>
              <a:t>i.e. </a:t>
            </a:r>
            <a:r>
              <a:rPr lang="en-US" sz="1800" b="1" dirty="0">
                <a:solidFill>
                  <a:srgbClr val="000000"/>
                </a:solidFill>
                <a:effectLst/>
                <a:latin typeface="Times New Roman" panose="02020603050405020304" pitchFamily="18" charset="0"/>
                <a:ea typeface="Rockwell" panose="02060603020205020403" pitchFamily="18" charset="0"/>
              </a:rPr>
              <a:t>94.78%.</a:t>
            </a:r>
            <a:endParaRPr lang="en-IN" dirty="0"/>
          </a:p>
        </p:txBody>
      </p:sp>
    </p:spTree>
    <p:extLst>
      <p:ext uri="{BB962C8B-B14F-4D97-AF65-F5344CB8AC3E}">
        <p14:creationId xmlns:p14="http://schemas.microsoft.com/office/powerpoint/2010/main" val="2600676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60DC5-3514-41D5-9222-1C558B1EA0DD}"/>
              </a:ext>
            </a:extLst>
          </p:cNvPr>
          <p:cNvSpPr>
            <a:spLocks noGrp="1"/>
          </p:cNvSpPr>
          <p:nvPr>
            <p:ph type="title"/>
          </p:nvPr>
        </p:nvSpPr>
        <p:spPr>
          <a:xfrm>
            <a:off x="1303494" y="213389"/>
            <a:ext cx="9601196" cy="1303867"/>
          </a:xfrm>
        </p:spPr>
        <p:txBody>
          <a:bodyPr>
            <a:normAutofit/>
          </a:bodyPr>
          <a:lstStyle/>
          <a:p>
            <a:r>
              <a:rPr lang="en-US" sz="2800" b="1" u="sng" dirty="0">
                <a:latin typeface="Algerian" panose="04020705040A02060702" pitchFamily="82" charset="0"/>
                <a:cs typeface="Times New Roman" panose="02020603050405020304" pitchFamily="18" charset="0"/>
              </a:rPr>
              <a:t>CONCLUSIONS</a:t>
            </a:r>
            <a:endParaRPr lang="en-IN" sz="2800" u="sng" dirty="0">
              <a:latin typeface="Algerian" panose="04020705040A02060702" pitchFamily="82" charset="0"/>
            </a:endParaRPr>
          </a:p>
        </p:txBody>
      </p:sp>
      <p:sp>
        <p:nvSpPr>
          <p:cNvPr id="3" name="Content Placeholder 2">
            <a:extLst>
              <a:ext uri="{FF2B5EF4-FFF2-40B4-BE49-F238E27FC236}">
                <a16:creationId xmlns:a16="http://schemas.microsoft.com/office/drawing/2014/main" id="{CAF342A1-77A7-42E9-B2A9-54F1AE786394}"/>
              </a:ext>
            </a:extLst>
          </p:cNvPr>
          <p:cNvSpPr>
            <a:spLocks noGrp="1"/>
          </p:cNvSpPr>
          <p:nvPr>
            <p:ph idx="1"/>
          </p:nvPr>
        </p:nvSpPr>
        <p:spPr>
          <a:xfrm>
            <a:off x="777510" y="1315413"/>
            <a:ext cx="10495541" cy="4369699"/>
          </a:xfrm>
        </p:spPr>
        <p:txBody>
          <a:bodyPr>
            <a:normAutofit/>
          </a:bodyPr>
          <a:lstStyle/>
          <a:p>
            <a:pPr marL="342900" lvl="0" indent="-342900" algn="just">
              <a:lnSpc>
                <a:spcPct val="150000"/>
              </a:lnSpc>
              <a:spcAft>
                <a:spcPts val="800"/>
              </a:spcAft>
              <a:buFont typeface="Wingdings" panose="05000000000000000000" pitchFamily="2" charset="2"/>
              <a:buChar char=""/>
            </a:pPr>
            <a:r>
              <a:rPr lang="en-US" sz="1800" dirty="0">
                <a:solidFill>
                  <a:srgbClr val="333333"/>
                </a:solidFill>
                <a:effectLst/>
                <a:latin typeface="Times New Roman" panose="02020603050405020304" pitchFamily="18" charset="0"/>
                <a:ea typeface="Rockwell" panose="02060603020205020403" pitchFamily="18" charset="0"/>
                <a:cs typeface="Mangal" panose="02040503050203030202" pitchFamily="18" charset="0"/>
              </a:rPr>
              <a:t>Online hate, described as abusive language, aggression, cyberbullying, hatefulness and many others has been identified as a major threat on online social media platforms. Social media platforms are the most prominent grounds for such toxic </a:t>
            </a:r>
            <a:r>
              <a:rPr lang="en-US" sz="1800" dirty="0" err="1">
                <a:solidFill>
                  <a:srgbClr val="333333"/>
                </a:solidFill>
                <a:effectLst/>
                <a:latin typeface="Times New Roman" panose="02020603050405020304" pitchFamily="18" charset="0"/>
                <a:ea typeface="Rockwell" panose="02060603020205020403" pitchFamily="18" charset="0"/>
                <a:cs typeface="Mangal" panose="02040503050203030202" pitchFamily="18" charset="0"/>
              </a:rPr>
              <a:t>behaviour</a:t>
            </a:r>
            <a:r>
              <a:rPr lang="en-US" sz="1800" dirty="0">
                <a:solidFill>
                  <a:srgbClr val="333333"/>
                </a:solidFill>
                <a:effectLst/>
                <a:latin typeface="Times New Roman" panose="02020603050405020304" pitchFamily="18" charset="0"/>
                <a:ea typeface="Rockwell" panose="02060603020205020403" pitchFamily="18" charset="0"/>
                <a:cs typeface="Mangal" panose="02040503050203030202" pitchFamily="18" charset="0"/>
              </a:rPr>
              <a:t>.       </a:t>
            </a:r>
            <a:endParaRPr lang="en-IN" sz="1800" dirty="0">
              <a:solidFill>
                <a:srgbClr val="333333"/>
              </a:solidFill>
              <a:effectLst/>
              <a:latin typeface="Rockwell" panose="02060603020205020403" pitchFamily="18" charset="0"/>
              <a:ea typeface="Rockwell" panose="02060603020205020403" pitchFamily="18" charset="0"/>
              <a:cs typeface="Mangal" panose="02040503050203030202" pitchFamily="18" charset="0"/>
            </a:endParaRPr>
          </a:p>
          <a:p>
            <a:pPr marL="342900" lvl="0" indent="-342900" algn="just">
              <a:lnSpc>
                <a:spcPct val="150000"/>
              </a:lnSpc>
              <a:spcAft>
                <a:spcPts val="2000"/>
              </a:spcAft>
              <a:buFont typeface="Wingdings" panose="05000000000000000000" pitchFamily="2" charset="2"/>
              <a:buChar char=""/>
            </a:pPr>
            <a:r>
              <a:rPr lang="en-US" sz="1800" dirty="0">
                <a:solidFill>
                  <a:srgbClr val="333333"/>
                </a:solidFill>
                <a:effectLst/>
                <a:latin typeface="Times New Roman" panose="02020603050405020304" pitchFamily="18" charset="0"/>
                <a:ea typeface="Rockwell" panose="02060603020205020403" pitchFamily="18" charset="0"/>
                <a:cs typeface="Mangal" panose="02040503050203030202" pitchFamily="18" charset="0"/>
              </a:rPr>
              <a:t>From the above analysis the below mentioned results were achieved which depicts the </a:t>
            </a:r>
            <a:r>
              <a:rPr lang="en-US" sz="1800" dirty="0">
                <a:solidFill>
                  <a:srgbClr val="262626"/>
                </a:solidFill>
                <a:effectLst/>
                <a:latin typeface="Times New Roman" panose="02020603050405020304" pitchFamily="18" charset="0"/>
                <a:ea typeface="Rockwell" panose="02060603020205020403" pitchFamily="18" charset="0"/>
                <a:cs typeface="Mangal" panose="02040503050203030202" pitchFamily="18" charset="0"/>
              </a:rPr>
              <a:t>chances and conditions of a comment being a hateful comment or a normal comment.</a:t>
            </a:r>
          </a:p>
          <a:p>
            <a:pPr marL="342900" lvl="0" indent="-342900" algn="just">
              <a:lnSpc>
                <a:spcPct val="150000"/>
              </a:lnSpc>
              <a:spcAft>
                <a:spcPts val="2000"/>
              </a:spcAft>
              <a:buFont typeface="Wingdings" panose="05000000000000000000" pitchFamily="2" charset="2"/>
              <a:buChar char=""/>
            </a:pPr>
            <a:r>
              <a:rPr lang="en-US" sz="1800" dirty="0">
                <a:solidFill>
                  <a:srgbClr val="262626"/>
                </a:solidFill>
                <a:latin typeface="Times New Roman" panose="02020603050405020304" pitchFamily="18" charset="0"/>
                <a:ea typeface="Rockwell" panose="02060603020205020403" pitchFamily="18" charset="0"/>
                <a:cs typeface="Mangal" panose="02040503050203030202" pitchFamily="18" charset="0"/>
              </a:rPr>
              <a:t>W</a:t>
            </a:r>
            <a:r>
              <a:rPr lang="en-US" sz="1800" dirty="0">
                <a:solidFill>
                  <a:srgbClr val="262626"/>
                </a:solidFill>
                <a:effectLst/>
                <a:latin typeface="Times New Roman" panose="02020603050405020304" pitchFamily="18" charset="0"/>
                <a:ea typeface="Rockwell" panose="02060603020205020403" pitchFamily="18" charset="0"/>
              </a:rPr>
              <a:t>ith the increasing popularity of social media, more and more people consume feeds from social media and due differences they spread hate comments to instead of love and harmony. It has strong negative impacts on individual users and broader society.</a:t>
            </a:r>
            <a:endParaRPr lang="en-IN" dirty="0"/>
          </a:p>
        </p:txBody>
      </p:sp>
    </p:spTree>
    <p:extLst>
      <p:ext uri="{BB962C8B-B14F-4D97-AF65-F5344CB8AC3E}">
        <p14:creationId xmlns:p14="http://schemas.microsoft.com/office/powerpoint/2010/main" val="2087076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pattFill prst="divot">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2.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369</TotalTime>
  <Words>959</Words>
  <Application>Microsoft Office PowerPoint</Application>
  <PresentationFormat>Widescreen</PresentationFormat>
  <Paragraphs>61</Paragraphs>
  <Slides>18</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Algerian</vt:lpstr>
      <vt:lpstr>Arial</vt:lpstr>
      <vt:lpstr>Calibri</vt:lpstr>
      <vt:lpstr>Century Gothic</vt:lpstr>
      <vt:lpstr>Garamond</vt:lpstr>
      <vt:lpstr>Rockwell</vt:lpstr>
      <vt:lpstr>Segoe UI Light</vt:lpstr>
      <vt:lpstr>Symbol</vt:lpstr>
      <vt:lpstr>Times New Roman</vt:lpstr>
      <vt:lpstr>Wingdings</vt:lpstr>
      <vt:lpstr>Office Theme</vt:lpstr>
      <vt:lpstr>Malignant Comments Classification Submitted by Tushar Kumar Patel</vt:lpstr>
      <vt:lpstr>Project analysis slide 2</vt:lpstr>
      <vt:lpstr>PowerPoint Presentation</vt:lpstr>
      <vt:lpstr>PowerPoint Presentation</vt:lpstr>
      <vt:lpstr>DATA PRE-PROCESSING</vt:lpstr>
      <vt:lpstr>DATA INPUT- LOGIC-OUTPUT RELATIONSHIPS</vt:lpstr>
      <vt:lpstr>MODEL/S DEVELOPMENT AND EVALUATION</vt:lpstr>
      <vt:lpstr>MODEL/S DEVELOPMENT AND EVALUATION</vt:lpstr>
      <vt:lpstr>MODEL/S DEVELOPMENT AND EVALUATION</vt:lpstr>
      <vt:lpstr>PowerPoint Presentation</vt:lpstr>
      <vt:lpstr>MODEL/S DEVELOPMENT AND EVALUATION</vt:lpstr>
      <vt:lpstr>MODEL/S DEVELOPMENT AND EVALUATION</vt:lpstr>
      <vt:lpstr>MODEL/S DEVELOPMENT AND EVALUATION</vt:lpstr>
      <vt:lpstr>MODEL/S DEVELOPMENT AND EVALUATION</vt:lpstr>
      <vt:lpstr>Final model</vt:lpstr>
      <vt:lpstr>Interpretation of the Results</vt:lpstr>
      <vt:lpstr>CONCLUSIONS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 Credit Defaulter Submitted by Tushar Kumar Patel</dc:title>
  <dc:creator>rean26</dc:creator>
  <cp:lastModifiedBy>rean26</cp:lastModifiedBy>
  <cp:revision>4</cp:revision>
  <dcterms:created xsi:type="dcterms:W3CDTF">2021-08-31T13:48:51Z</dcterms:created>
  <dcterms:modified xsi:type="dcterms:W3CDTF">2021-10-15T05:48:52Z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