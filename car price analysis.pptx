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handoutMasterIdLst>
    <p:handoutMasterId r:id="rId31"/>
  </p:handoutMasterIdLst>
  <p:sldIdLst>
    <p:sldId id="256" r:id="rId5"/>
    <p:sldId id="276" r:id="rId6"/>
    <p:sldId id="291" r:id="rId7"/>
    <p:sldId id="316" r:id="rId8"/>
    <p:sldId id="530" r:id="rId9"/>
    <p:sldId id="531" r:id="rId10"/>
    <p:sldId id="532" r:id="rId11"/>
    <p:sldId id="536" r:id="rId12"/>
    <p:sldId id="533" r:id="rId13"/>
    <p:sldId id="534" r:id="rId14"/>
    <p:sldId id="535" r:id="rId15"/>
    <p:sldId id="539" r:id="rId16"/>
    <p:sldId id="537" r:id="rId17"/>
    <p:sldId id="538" r:id="rId18"/>
    <p:sldId id="540" r:id="rId19"/>
    <p:sldId id="541" r:id="rId20"/>
    <p:sldId id="543" r:id="rId21"/>
    <p:sldId id="544" r:id="rId22"/>
    <p:sldId id="542" r:id="rId23"/>
    <p:sldId id="529" r:id="rId24"/>
    <p:sldId id="277" r:id="rId25"/>
    <p:sldId id="406" r:id="rId26"/>
    <p:sldId id="407" r:id="rId27"/>
    <p:sldId id="293" r:id="rId28"/>
    <p:sldId id="2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97C820B-E27A-4AE0-97BC-07937DB1E3E6}">
          <p14:sldIdLst>
            <p14:sldId id="256"/>
            <p14:sldId id="276"/>
            <p14:sldId id="291"/>
            <p14:sldId id="316"/>
            <p14:sldId id="530"/>
            <p14:sldId id="531"/>
            <p14:sldId id="532"/>
            <p14:sldId id="536"/>
            <p14:sldId id="533"/>
            <p14:sldId id="534"/>
            <p14:sldId id="535"/>
            <p14:sldId id="539"/>
            <p14:sldId id="537"/>
            <p14:sldId id="538"/>
            <p14:sldId id="540"/>
            <p14:sldId id="541"/>
            <p14:sldId id="543"/>
            <p14:sldId id="544"/>
            <p14:sldId id="542"/>
            <p14:sldId id="529"/>
            <p14:sldId id="277"/>
            <p14:sldId id="406"/>
            <p14:sldId id="407"/>
            <p14:sldId id="293"/>
            <p14:sldId id="285"/>
          </p14:sldIdLst>
        </p14:section>
      </p14:sectionLst>
    </p:ext>
    <p:ext uri="{EFAFB233-063F-42B5-8137-9DF3F51BA10A}">
      <p15:sldGuideLst xmlns:p15="http://schemas.microsoft.com/office/powerpoint/2012/main">
        <p15:guide id="1" orient="horz" pos="2328" userDrawn="1">
          <p15:clr>
            <a:srgbClr val="A4A3A4"/>
          </p15:clr>
        </p15:guide>
        <p15:guide id="2" pos="3863" userDrawn="1">
          <p15:clr>
            <a:srgbClr val="A4A3A4"/>
          </p15:clr>
        </p15:guide>
        <p15:guide id="3" pos="7512" userDrawn="1">
          <p15:clr>
            <a:srgbClr val="A4A3A4"/>
          </p15:clr>
        </p15:guide>
        <p15:guide id="4" pos="75"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an26" initials="r_26" lastIdx="1" clrIdx="0">
    <p:extLst>
      <p:ext uri="{19B8F6BF-5375-455C-9EA6-DF929625EA0E}">
        <p15:presenceInfo xmlns:p15="http://schemas.microsoft.com/office/powerpoint/2012/main" userId="rean26"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49" autoAdjust="0"/>
    <p:restoredTop sz="95314" autoAdjust="0"/>
  </p:normalViewPr>
  <p:slideViewPr>
    <p:cSldViewPr snapToGrid="0" showGuides="1">
      <p:cViewPr varScale="1">
        <p:scale>
          <a:sx n="84" d="100"/>
          <a:sy n="84" d="100"/>
        </p:scale>
        <p:origin x="398" y="96"/>
      </p:cViewPr>
      <p:guideLst>
        <p:guide orient="horz" pos="2328"/>
        <p:guide pos="3863"/>
        <p:guide pos="7512"/>
        <p:guide pos="75"/>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EFAA9B-3CFE-4FE6-BF10-85D3FA9B4D6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4C7ECC28-3D71-4031-83C2-ADB36B9AD2D3}">
      <dgm:prSet phldrT="[Text]" custT="1"/>
      <dgm:spPr/>
      <dgm:t>
        <a:bodyPr/>
        <a:lstStyle/>
        <a:p>
          <a:r>
            <a:rPr lang="en-US" sz="4000" b="1" dirty="0"/>
            <a:t>Introduction</a:t>
          </a:r>
          <a:endParaRPr lang="en-IN" sz="4000" b="1" dirty="0"/>
        </a:p>
      </dgm:t>
    </dgm:pt>
    <dgm:pt modelId="{6CBDC37F-2FE4-400F-8732-DEA7811254DD}" type="parTrans" cxnId="{CD6063AC-325A-471B-B44D-30681E7C51E3}">
      <dgm:prSet/>
      <dgm:spPr/>
      <dgm:t>
        <a:bodyPr/>
        <a:lstStyle/>
        <a:p>
          <a:endParaRPr lang="en-IN"/>
        </a:p>
      </dgm:t>
    </dgm:pt>
    <dgm:pt modelId="{A769BF86-D11E-4359-AA8B-E9BE9140499D}" type="sibTrans" cxnId="{CD6063AC-325A-471B-B44D-30681E7C51E3}">
      <dgm:prSet/>
      <dgm:spPr/>
      <dgm:t>
        <a:bodyPr/>
        <a:lstStyle/>
        <a:p>
          <a:endParaRPr lang="en-IN"/>
        </a:p>
      </dgm:t>
    </dgm:pt>
    <dgm:pt modelId="{CFBCD687-B49E-4187-BBE0-D417F755DF64}">
      <dgm:prSet phldrT="[Text]" custT="1"/>
      <dgm:spPr/>
      <dgm:t>
        <a:bodyPr/>
        <a:lstStyle/>
        <a:p>
          <a:pPr algn="just"/>
          <a:endParaRPr lang="en-IN" sz="2000" dirty="0"/>
        </a:p>
      </dgm:t>
    </dgm:pt>
    <dgm:pt modelId="{3B7B24EE-9D08-4D5C-87D9-E82504C74C19}" type="parTrans" cxnId="{4540C12E-3BFD-4BE9-9979-FA5C32460034}">
      <dgm:prSet/>
      <dgm:spPr/>
      <dgm:t>
        <a:bodyPr/>
        <a:lstStyle/>
        <a:p>
          <a:endParaRPr lang="en-IN"/>
        </a:p>
      </dgm:t>
    </dgm:pt>
    <dgm:pt modelId="{B8E1A0CB-7C68-4B3B-AC3E-63C148235CF3}" type="sibTrans" cxnId="{4540C12E-3BFD-4BE9-9979-FA5C32460034}">
      <dgm:prSet/>
      <dgm:spPr/>
      <dgm:t>
        <a:bodyPr/>
        <a:lstStyle/>
        <a:p>
          <a:endParaRPr lang="en-IN"/>
        </a:p>
      </dgm:t>
    </dgm:pt>
    <dgm:pt modelId="{B8C7BFBF-7B36-4D9F-BEE8-9DE57A3DE33A}">
      <dgm:prSet phldrT="[Text]" custT="1"/>
      <dgm:spPr/>
      <dgm:t>
        <a:bodyPr/>
        <a:lstStyle/>
        <a:p>
          <a:pPr algn="just"/>
          <a:r>
            <a:rPr lang="en-US" sz="2000" dirty="0"/>
            <a:t>In this Covid situation cars are one of the necessary need of each and every person around the globe and therefore new car and used car market is also one of the market which has one of the major contributors in the economy also. It is also very large market same as the market for new car and there are various companies working in the domain. Data science comes as a very important tool to solve problems in the domain to help the companies increase their overall revenue, profits, improving their marketing strategies and focusing on changing trends in sales and purchase of the used cars also. Predictive modelling, Market mix modelling, recommendation systems are some of the machine learning techniques used for achieving the business goals for used car companies. Our problem is related to price prediction of the used cars during this covid-19 situation.</a:t>
          </a:r>
          <a:endParaRPr lang="en-IN" sz="2000" dirty="0"/>
        </a:p>
      </dgm:t>
    </dgm:pt>
    <dgm:pt modelId="{5C79660B-0D7B-4C4F-A40C-0DF7D83AE6A4}" type="sibTrans" cxnId="{490A86B9-0285-4EB9-BD71-6C428ED27071}">
      <dgm:prSet/>
      <dgm:spPr/>
      <dgm:t>
        <a:bodyPr/>
        <a:lstStyle/>
        <a:p>
          <a:endParaRPr lang="en-IN"/>
        </a:p>
      </dgm:t>
    </dgm:pt>
    <dgm:pt modelId="{A31050FE-9279-4320-A2DF-7661700A81B1}" type="parTrans" cxnId="{490A86B9-0285-4EB9-BD71-6C428ED27071}">
      <dgm:prSet/>
      <dgm:spPr/>
      <dgm:t>
        <a:bodyPr/>
        <a:lstStyle/>
        <a:p>
          <a:endParaRPr lang="en-IN"/>
        </a:p>
      </dgm:t>
    </dgm:pt>
    <dgm:pt modelId="{3383EB6A-94CD-4F5B-912B-C9BA22EE2B80}" type="pres">
      <dgm:prSet presAssocID="{EBEFAA9B-3CFE-4FE6-BF10-85D3FA9B4D61}" presName="linear" presStyleCnt="0">
        <dgm:presLayoutVars>
          <dgm:animLvl val="lvl"/>
          <dgm:resizeHandles val="exact"/>
        </dgm:presLayoutVars>
      </dgm:prSet>
      <dgm:spPr/>
    </dgm:pt>
    <dgm:pt modelId="{0CECCBEA-FE88-4181-8497-87F6F3F92ECB}" type="pres">
      <dgm:prSet presAssocID="{4C7ECC28-3D71-4031-83C2-ADB36B9AD2D3}" presName="parentText" presStyleLbl="node1" presStyleIdx="0" presStyleCnt="1" custScaleY="55356" custLinFactY="-100000" custLinFactNeighborX="371" custLinFactNeighborY="-113081">
        <dgm:presLayoutVars>
          <dgm:chMax val="0"/>
          <dgm:bulletEnabled val="1"/>
        </dgm:presLayoutVars>
      </dgm:prSet>
      <dgm:spPr/>
    </dgm:pt>
    <dgm:pt modelId="{AB910E16-752A-4743-9EA8-C9F680447FE0}" type="pres">
      <dgm:prSet presAssocID="{4C7ECC28-3D71-4031-83C2-ADB36B9AD2D3}" presName="childText" presStyleLbl="revTx" presStyleIdx="0" presStyleCnt="1" custAng="0" custScaleY="246923" custLinFactNeighborY="28184">
        <dgm:presLayoutVars>
          <dgm:bulletEnabled val="1"/>
        </dgm:presLayoutVars>
      </dgm:prSet>
      <dgm:spPr/>
    </dgm:pt>
  </dgm:ptLst>
  <dgm:cxnLst>
    <dgm:cxn modelId="{6D41612C-C801-41AB-858F-15DC475C3817}" type="presOf" srcId="{CFBCD687-B49E-4187-BBE0-D417F755DF64}" destId="{AB910E16-752A-4743-9EA8-C9F680447FE0}" srcOrd="0" destOrd="0" presId="urn:microsoft.com/office/officeart/2005/8/layout/vList2"/>
    <dgm:cxn modelId="{4540C12E-3BFD-4BE9-9979-FA5C32460034}" srcId="{4C7ECC28-3D71-4031-83C2-ADB36B9AD2D3}" destId="{CFBCD687-B49E-4187-BBE0-D417F755DF64}" srcOrd="0" destOrd="0" parTransId="{3B7B24EE-9D08-4D5C-87D9-E82504C74C19}" sibTransId="{B8E1A0CB-7C68-4B3B-AC3E-63C148235CF3}"/>
    <dgm:cxn modelId="{43EF5343-AE1B-4EF3-A4E0-D5A8B356E414}" type="presOf" srcId="{4C7ECC28-3D71-4031-83C2-ADB36B9AD2D3}" destId="{0CECCBEA-FE88-4181-8497-87F6F3F92ECB}" srcOrd="0" destOrd="0" presId="urn:microsoft.com/office/officeart/2005/8/layout/vList2"/>
    <dgm:cxn modelId="{537CA9AA-FBF6-43D2-8FA7-7FC0DE34773D}" type="presOf" srcId="{EBEFAA9B-3CFE-4FE6-BF10-85D3FA9B4D61}" destId="{3383EB6A-94CD-4F5B-912B-C9BA22EE2B80}" srcOrd="0" destOrd="0" presId="urn:microsoft.com/office/officeart/2005/8/layout/vList2"/>
    <dgm:cxn modelId="{CD6063AC-325A-471B-B44D-30681E7C51E3}" srcId="{EBEFAA9B-3CFE-4FE6-BF10-85D3FA9B4D61}" destId="{4C7ECC28-3D71-4031-83C2-ADB36B9AD2D3}" srcOrd="0" destOrd="0" parTransId="{6CBDC37F-2FE4-400F-8732-DEA7811254DD}" sibTransId="{A769BF86-D11E-4359-AA8B-E9BE9140499D}"/>
    <dgm:cxn modelId="{490A86B9-0285-4EB9-BD71-6C428ED27071}" srcId="{4C7ECC28-3D71-4031-83C2-ADB36B9AD2D3}" destId="{B8C7BFBF-7B36-4D9F-BEE8-9DE57A3DE33A}" srcOrd="1" destOrd="0" parTransId="{A31050FE-9279-4320-A2DF-7661700A81B1}" sibTransId="{5C79660B-0D7B-4C4F-A40C-0DF7D83AE6A4}"/>
    <dgm:cxn modelId="{FAB5D3E5-64B7-4C7D-B40B-D313F2480154}" type="presOf" srcId="{B8C7BFBF-7B36-4D9F-BEE8-9DE57A3DE33A}" destId="{AB910E16-752A-4743-9EA8-C9F680447FE0}" srcOrd="0" destOrd="1" presId="urn:microsoft.com/office/officeart/2005/8/layout/vList2"/>
    <dgm:cxn modelId="{C5DE0F31-E222-496A-8C35-312C7D52799D}" type="presParOf" srcId="{3383EB6A-94CD-4F5B-912B-C9BA22EE2B80}" destId="{0CECCBEA-FE88-4181-8497-87F6F3F92ECB}" srcOrd="0" destOrd="0" presId="urn:microsoft.com/office/officeart/2005/8/layout/vList2"/>
    <dgm:cxn modelId="{4671761B-E73C-4BC7-9895-9FD4641B7479}" type="presParOf" srcId="{3383EB6A-94CD-4F5B-912B-C9BA22EE2B80}" destId="{AB910E16-752A-4743-9EA8-C9F680447FE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ECCBEA-FE88-4181-8497-87F6F3F92ECB}">
      <dsp:nvSpPr>
        <dsp:cNvPr id="0" name=""/>
        <dsp:cNvSpPr/>
      </dsp:nvSpPr>
      <dsp:spPr>
        <a:xfrm>
          <a:off x="0" y="0"/>
          <a:ext cx="9848850" cy="2772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b="1" kern="1200" dirty="0"/>
            <a:t>Introduction</a:t>
          </a:r>
          <a:endParaRPr lang="en-IN" sz="4000" b="1" kern="1200" dirty="0"/>
        </a:p>
      </dsp:txBody>
      <dsp:txXfrm>
        <a:off x="13533" y="13533"/>
        <a:ext cx="9821784" cy="250152"/>
      </dsp:txXfrm>
    </dsp:sp>
    <dsp:sp modelId="{AB910E16-752A-4743-9EA8-C9F680447FE0}">
      <dsp:nvSpPr>
        <dsp:cNvPr id="0" name=""/>
        <dsp:cNvSpPr/>
      </dsp:nvSpPr>
      <dsp:spPr>
        <a:xfrm>
          <a:off x="0" y="280429"/>
          <a:ext cx="9848850" cy="5462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701" tIns="25400" rIns="142240" bIns="25400" numCol="1" spcCol="1270" anchor="t" anchorCtr="0">
          <a:noAutofit/>
        </a:bodyPr>
        <a:lstStyle/>
        <a:p>
          <a:pPr marL="228600" lvl="1" indent="-228600" algn="just" defTabSz="889000">
            <a:lnSpc>
              <a:spcPct val="90000"/>
            </a:lnSpc>
            <a:spcBef>
              <a:spcPct val="0"/>
            </a:spcBef>
            <a:spcAft>
              <a:spcPct val="20000"/>
            </a:spcAft>
            <a:buChar char="•"/>
          </a:pPr>
          <a:endParaRPr lang="en-IN" sz="2000" kern="1200" dirty="0"/>
        </a:p>
        <a:p>
          <a:pPr marL="228600" lvl="1" indent="-228600" algn="just" defTabSz="889000">
            <a:lnSpc>
              <a:spcPct val="90000"/>
            </a:lnSpc>
            <a:spcBef>
              <a:spcPct val="0"/>
            </a:spcBef>
            <a:spcAft>
              <a:spcPct val="20000"/>
            </a:spcAft>
            <a:buChar char="•"/>
          </a:pPr>
          <a:r>
            <a:rPr lang="en-US" sz="2000" kern="1200" dirty="0"/>
            <a:t>In this Covid situation cars are one of the necessary need of each and every person around the globe and therefore new car and used car market is also one of the market which has one of the major contributors in the economy also. It is also very large market same as the market for new car and there are various companies working in the domain. Data science comes as a very important tool to solve problems in the domain to help the companies increase their overall revenue, profits, improving their marketing strategies and focusing on changing trends in sales and purchase of the used cars also. Predictive modelling, Market mix modelling, recommendation systems are some of the machine learning techniques used for achieving the business goals for used car companies. Our problem is related to price prediction of the used cars during this covid-19 situation.</a:t>
          </a:r>
          <a:endParaRPr lang="en-IN" sz="2000" kern="1200" dirty="0"/>
        </a:p>
      </dsp:txBody>
      <dsp:txXfrm>
        <a:off x="0" y="280429"/>
        <a:ext cx="9848850" cy="546276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9/27/2021</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9/27/2021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21</a:t>
            </a:fld>
            <a:endParaRPr lang="en-US" dirty="0"/>
          </a:p>
        </p:txBody>
      </p:sp>
    </p:spTree>
    <p:extLst>
      <p:ext uri="{BB962C8B-B14F-4D97-AF65-F5344CB8AC3E}">
        <p14:creationId xmlns:p14="http://schemas.microsoft.com/office/powerpoint/2010/main" val="1464734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25</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9/27/2021</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9/27/2021</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2242436"/>
            <a:ext cx="9144000" cy="2215991"/>
          </a:xfrm>
        </p:spPr>
        <p:txBody>
          <a:bodyPr lIns="0" tIns="0" rIns="0" bIns="0" anchor="t">
            <a:spAutoFit/>
          </a:bodyPr>
          <a:lstStyle/>
          <a:p>
            <a:r>
              <a:rPr lang="en-US" b="1">
                <a:solidFill>
                  <a:schemeClr val="bg1"/>
                </a:solidFill>
              </a:rPr>
              <a:t>Cars </a:t>
            </a:r>
            <a:r>
              <a:rPr lang="en-US" b="1" dirty="0">
                <a:solidFill>
                  <a:schemeClr val="bg1"/>
                </a:solidFill>
              </a:rPr>
              <a:t>Price Prediction</a:t>
            </a:r>
            <a:br>
              <a:rPr lang="en-US" dirty="0">
                <a:solidFill>
                  <a:schemeClr val="bg1"/>
                </a:solidFill>
              </a:rPr>
            </a:br>
            <a:r>
              <a:rPr lang="en-US" sz="4000" dirty="0">
                <a:solidFill>
                  <a:schemeClr val="accent4"/>
                </a:solidFill>
              </a:rPr>
              <a:t>Submitted by</a:t>
            </a:r>
            <a:br>
              <a:rPr lang="en-US" sz="4000" dirty="0">
                <a:solidFill>
                  <a:schemeClr val="accent4"/>
                </a:solidFill>
              </a:rPr>
            </a:br>
            <a:r>
              <a:rPr lang="en-US" b="1" dirty="0">
                <a:solidFill>
                  <a:schemeClr val="bg1"/>
                </a:solidFill>
              </a:rPr>
              <a:t>Tushar Kumar Patel</a:t>
            </a:r>
            <a:endParaRPr lang="en-US" dirty="0">
              <a:solidFill>
                <a:schemeClr val="accent4"/>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402010" y="4930120"/>
            <a:ext cx="1387979" cy="125240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5061420" y="2857499"/>
            <a:ext cx="2072044" cy="186551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Car price prediction</a:t>
            </a:r>
          </a:p>
        </p:txBody>
      </p:sp>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6943725" y="161387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Visualization</a:t>
            </a:r>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7693025" y="333472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Model</a:t>
            </a:r>
          </a:p>
        </p:txBody>
      </p:sp>
      <p:sp>
        <p:nvSpPr>
          <p:cNvPr id="20" name="Oval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952C5002-7E64-4069-ACA0-6876E54A9B46}"/>
              </a:ext>
              <a:ext uri="{C183D7F6-B498-43B3-948B-1728B52AA6E4}">
                <adec:decorative xmlns:adec="http://schemas.microsoft.com/office/drawing/2017/decorative" val="1"/>
              </a:ext>
            </a:extLst>
          </p:cNvPr>
          <p:cNvSpPr/>
          <p:nvPr/>
        </p:nvSpPr>
        <p:spPr>
          <a:xfrm>
            <a:off x="6943725" y="5154978"/>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Conclusion</a:t>
            </a:r>
          </a:p>
        </p:txBody>
      </p:sp>
      <p:sp>
        <p:nvSpPr>
          <p:cNvPr id="22" name="Oval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1587500" y="161387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Inrtoduction</a:t>
            </a:r>
            <a:endParaRPr lang="en-US" sz="1600" dirty="0"/>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838200" y="333472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Dataset and Features</a:t>
            </a:r>
          </a:p>
        </p:txBody>
      </p:sp>
      <p:sp>
        <p:nvSpPr>
          <p:cNvPr id="28" name="Oval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D4D7D4B6-62C2-45AB-89A5-3A41DA021FD2}"/>
              </a:ext>
              <a:ext uri="{C183D7F6-B498-43B3-948B-1728B52AA6E4}">
                <adec:decorative xmlns:adec="http://schemas.microsoft.com/office/drawing/2017/decorative" val="1"/>
              </a:ext>
            </a:extLst>
          </p:cNvPr>
          <p:cNvSpPr/>
          <p:nvPr/>
        </p:nvSpPr>
        <p:spPr>
          <a:xfrm>
            <a:off x="1587500" y="5154978"/>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Processing</a:t>
            </a:r>
          </a:p>
        </p:txBody>
      </p:sp>
      <p:sp>
        <p:nvSpPr>
          <p:cNvPr id="30" name="Oval 29">
            <a:extLst>
              <a:ext uri="{FF2B5EF4-FFF2-40B4-BE49-F238E27FC236}">
                <a16:creationId xmlns:a16="http://schemas.microsoft.com/office/drawing/2014/main" id="{83902602-D4BC-4D44-AC14-BB55A86C5D06}"/>
              </a:ext>
              <a:ext uri="{C183D7F6-B498-43B3-948B-1728B52AA6E4}">
                <adec:decorative xmlns:adec="http://schemas.microsoft.com/office/drawing/2017/decorative" val="1"/>
              </a:ext>
            </a:extLst>
          </p:cNvPr>
          <p:cNvSpPr/>
          <p:nvPr/>
        </p:nvSpPr>
        <p:spPr>
          <a:xfrm>
            <a:off x="4419600" y="5055576"/>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descr="Icons of bar chart and line graph.">
            <a:extLst>
              <a:ext uri="{FF2B5EF4-FFF2-40B4-BE49-F238E27FC236}">
                <a16:creationId xmlns:a16="http://schemas.microsoft.com/office/drawing/2014/main" id="{044C3643-8A0E-47C1-BEB8-C73203B5E58D}"/>
              </a:ext>
            </a:extLst>
          </p:cNvPr>
          <p:cNvGrpSpPr/>
          <p:nvPr/>
        </p:nvGrpSpPr>
        <p:grpSpPr>
          <a:xfrm>
            <a:off x="7133464" y="1774031"/>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6FB02354-C73F-4DCF-8004-E9CCA66963EA}"/>
              </a:ext>
            </a:extLst>
          </p:cNvPr>
          <p:cNvSpPr>
            <a:spLocks noEditPoints="1"/>
          </p:cNvSpPr>
          <p:nvPr/>
        </p:nvSpPr>
        <p:spPr bwMode="auto">
          <a:xfrm>
            <a:off x="4717582" y="1774031"/>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4665" descr="Icon of graph. ">
            <a:extLst>
              <a:ext uri="{FF2B5EF4-FFF2-40B4-BE49-F238E27FC236}">
                <a16:creationId xmlns:a16="http://schemas.microsoft.com/office/drawing/2014/main" id="{557E39B2-E017-4E5C-B53E-DDE3B9D4C92C}"/>
              </a:ext>
            </a:extLst>
          </p:cNvPr>
          <p:cNvSpPr>
            <a:spLocks/>
          </p:cNvSpPr>
          <p:nvPr/>
        </p:nvSpPr>
        <p:spPr bwMode="auto">
          <a:xfrm>
            <a:off x="7877961" y="3531386"/>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36" name="Group 35" descr="Icon of human being and gear. ">
            <a:extLst>
              <a:ext uri="{FF2B5EF4-FFF2-40B4-BE49-F238E27FC236}">
                <a16:creationId xmlns:a16="http://schemas.microsoft.com/office/drawing/2014/main" id="{ECC5F635-1712-4572-A9EC-F94E2199DDBD}"/>
              </a:ext>
            </a:extLst>
          </p:cNvPr>
          <p:cNvGrpSpPr/>
          <p:nvPr/>
        </p:nvGrpSpPr>
        <p:grpSpPr>
          <a:xfrm>
            <a:off x="7133464" y="5355478"/>
            <a:ext cx="338073" cy="339996"/>
            <a:chOff x="6450013" y="5349875"/>
            <a:chExt cx="279399" cy="280988"/>
          </a:xfrm>
          <a:solidFill>
            <a:schemeClr val="bg1"/>
          </a:solidFill>
        </p:grpSpPr>
        <p:sp>
          <p:nvSpPr>
            <p:cNvPr id="37" name="Freeform 3673">
              <a:extLst>
                <a:ext uri="{FF2B5EF4-FFF2-40B4-BE49-F238E27FC236}">
                  <a16:creationId xmlns:a16="http://schemas.microsoft.com/office/drawing/2014/main" id="{D1391604-D4EC-48A8-AE57-EDF194392FB1}"/>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3674">
              <a:extLst>
                <a:ext uri="{FF2B5EF4-FFF2-40B4-BE49-F238E27FC236}">
                  <a16:creationId xmlns:a16="http://schemas.microsoft.com/office/drawing/2014/main" id="{44A4D0F8-0767-41BC-BE62-0AED99EC8B25}"/>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9" name="Group 38" descr="Icon of gears. ">
            <a:extLst>
              <a:ext uri="{FF2B5EF4-FFF2-40B4-BE49-F238E27FC236}">
                <a16:creationId xmlns:a16="http://schemas.microsoft.com/office/drawing/2014/main" id="{5BC0E3F0-447D-4721-AB1F-C8243BA36671}"/>
              </a:ext>
            </a:extLst>
          </p:cNvPr>
          <p:cNvGrpSpPr/>
          <p:nvPr/>
        </p:nvGrpSpPr>
        <p:grpSpPr>
          <a:xfrm>
            <a:off x="4717582" y="5353558"/>
            <a:ext cx="343837" cy="343837"/>
            <a:chOff x="7613650" y="1387475"/>
            <a:chExt cx="284163" cy="284163"/>
          </a:xfrm>
          <a:solidFill>
            <a:schemeClr val="bg1"/>
          </a:solidFill>
        </p:grpSpPr>
        <p:sp>
          <p:nvSpPr>
            <p:cNvPr id="40" name="Freeform 4359">
              <a:extLst>
                <a:ext uri="{FF2B5EF4-FFF2-40B4-BE49-F238E27FC236}">
                  <a16:creationId xmlns:a16="http://schemas.microsoft.com/office/drawing/2014/main"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4360">
              <a:extLst>
                <a:ext uri="{FF2B5EF4-FFF2-40B4-BE49-F238E27FC236}">
                  <a16:creationId xmlns:a16="http://schemas.microsoft.com/office/drawing/2014/main"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2" name="Freeform 4346" descr="Icon of box and whisker chart. ">
            <a:extLst>
              <a:ext uri="{FF2B5EF4-FFF2-40B4-BE49-F238E27FC236}">
                <a16:creationId xmlns:a16="http://schemas.microsoft.com/office/drawing/2014/main" id="{D131817A-5B27-4718-8BAC-45C9CEDA45D9}"/>
              </a:ext>
            </a:extLst>
          </p:cNvPr>
          <p:cNvSpPr>
            <a:spLocks noEditPoints="1"/>
          </p:cNvSpPr>
          <p:nvPr/>
        </p:nvSpPr>
        <p:spPr bwMode="auto">
          <a:xfrm>
            <a:off x="3967321" y="3532346"/>
            <a:ext cx="345758" cy="345758"/>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EC5CCFB-F751-444D-8A40-86CAFE4EE608}"/>
              </a:ext>
            </a:extLst>
          </p:cNvPr>
          <p:cNvGraphicFramePr/>
          <p:nvPr>
            <p:extLst>
              <p:ext uri="{D42A27DB-BD31-4B8C-83A1-F6EECF244321}">
                <p14:modId xmlns:p14="http://schemas.microsoft.com/office/powerpoint/2010/main" val="3587920748"/>
              </p:ext>
            </p:extLst>
          </p:nvPr>
        </p:nvGraphicFramePr>
        <p:xfrm>
          <a:off x="1171575" y="209550"/>
          <a:ext cx="9848850" cy="57431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1087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3B776-CBEC-46C1-B728-98C6734EB4D0}"/>
              </a:ext>
            </a:extLst>
          </p:cNvPr>
          <p:cNvSpPr txBox="1"/>
          <p:nvPr/>
        </p:nvSpPr>
        <p:spPr>
          <a:xfrm>
            <a:off x="544435" y="456991"/>
            <a:ext cx="965198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i="1" dirty="0">
                <a:solidFill>
                  <a:schemeClr val="accent2"/>
                </a:solidFill>
                <a:latin typeface="Garamond" panose="02020404030301010803" pitchFamily="18" charset="0"/>
                <a:cs typeface="Arial" panose="020B0604020202020204" pitchFamily="34" charset="0"/>
              </a:rPr>
              <a:t>CONCEPTUAL BACKGROUND OF THE  DOMAIN PROBLEM</a:t>
            </a:r>
            <a:endParaRPr lang="en-US" sz="3200" b="1" i="1" dirty="0">
              <a:solidFill>
                <a:schemeClr val="accent2"/>
              </a:solidFill>
              <a:latin typeface="Garamond" panose="02020404030301010803" pitchFamily="18" charset="0"/>
              <a:cs typeface="Arial" panose="020B0604020202020204" pitchFamily="34" charset="0"/>
            </a:endParaRPr>
          </a:p>
        </p:txBody>
      </p:sp>
      <p:sp>
        <p:nvSpPr>
          <p:cNvPr id="4" name="TextBox 3">
            <a:extLst>
              <a:ext uri="{FF2B5EF4-FFF2-40B4-BE49-F238E27FC236}">
                <a16:creationId xmlns:a16="http://schemas.microsoft.com/office/drawing/2014/main" id="{3D8A56FA-C775-453F-806D-E662A819BCA8}"/>
              </a:ext>
            </a:extLst>
          </p:cNvPr>
          <p:cNvSpPr txBox="1"/>
          <p:nvPr/>
        </p:nvSpPr>
        <p:spPr>
          <a:xfrm>
            <a:off x="337402" y="1570702"/>
            <a:ext cx="10086758" cy="25352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just">
              <a:lnSpc>
                <a:spcPct val="150000"/>
              </a:lnSpc>
              <a:buFont typeface="Arial" panose="020B0604020202020204" pitchFamily="34" charset="0"/>
              <a:buChar char="•"/>
            </a:pPr>
            <a:r>
              <a:rPr lang="en-IN" sz="1800" dirty="0">
                <a:solidFill>
                  <a:srgbClr val="000000"/>
                </a:solidFill>
                <a:effectLst/>
                <a:latin typeface="Times New Roman" panose="02020603050405020304" pitchFamily="18" charset="0"/>
                <a:ea typeface="Rockwell" panose="02060603020205020403" pitchFamily="18" charset="0"/>
              </a:rPr>
              <a:t> With the covid 19 impact in the market, we have seen lot of changes in the car market. Now some cars are in demand hence making them costly and some are not in demand hence cheaper. One of our clients works with small traders, who sell used cars. With the change in market due to covid 19 impact, our client is facing problems with their previous car price valuation machine learning models. So, they are looking for new machine learning models from new data. We have to make car price valuation model. </a:t>
            </a:r>
            <a:endParaRPr lang="en-US" sz="2800" dirty="0">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829857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B9DD60B-1E6A-4F94-B497-54AD71836818}"/>
              </a:ext>
            </a:extLst>
          </p:cNvPr>
          <p:cNvSpPr>
            <a:spLocks noChangeArrowheads="1"/>
          </p:cNvSpPr>
          <p:nvPr/>
        </p:nvSpPr>
        <p:spPr bwMode="auto">
          <a:xfrm>
            <a:off x="557784" y="1153804"/>
            <a:ext cx="1082649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33333"/>
                </a:solidFill>
                <a:effectLst/>
                <a:latin typeface="Times New Roman" panose="02020603050405020304" pitchFamily="18" charset="0"/>
                <a:ea typeface="Rockwell" panose="02060603020205020403" pitchFamily="18" charset="0"/>
                <a:cs typeface="Times New Roman" panose="02020603050405020304" pitchFamily="18" charset="0"/>
              </a:rPr>
              <a:t>Visualizations</a:t>
            </a:r>
          </a:p>
          <a:p>
            <a:pPr marL="0" marR="0" lvl="0" indent="0" algn="ctr" defTabSz="914400" rtl="0" eaLnBrk="0" fontAlgn="base" latinLnBrk="0" hangingPunct="0">
              <a:lnSpc>
                <a:spcPct val="100000"/>
              </a:lnSpc>
              <a:spcBef>
                <a:spcPct val="0"/>
              </a:spcBef>
              <a:spcAft>
                <a:spcPct val="0"/>
              </a:spcAft>
              <a:buClrTx/>
              <a:buSzTx/>
              <a:buFontTx/>
              <a:buChar char="•"/>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Char char="•"/>
              <a:tabLst/>
            </a:pPr>
            <a:endParaRPr kumimoji="0" lang="en-US" altLang="en-US" sz="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Char char="•"/>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33333"/>
                </a:solidFill>
                <a:effectLst/>
                <a:latin typeface="Times New Roman" panose="02020603050405020304" pitchFamily="18" charset="0"/>
                <a:ea typeface="Rockwell" panose="02060603020205020403" pitchFamily="18" charset="0"/>
                <a:cs typeface="Times New Roman" panose="02020603050405020304" pitchFamily="18" charset="0"/>
              </a:rPr>
              <a:t>Brands</a:t>
            </a:r>
            <a:endParaRPr kumimoji="0" lang="en-US" altLang="en-US" sz="800" b="0" i="0" u="none" strike="noStrike" cap="none" normalizeH="0" baseline="0" dirty="0">
              <a:ln>
                <a:noFill/>
              </a:ln>
              <a:solidFill>
                <a:schemeClr val="tx1"/>
              </a:solidFill>
              <a:effectLst/>
            </a:endParaRPr>
          </a:p>
        </p:txBody>
      </p:sp>
      <p:pic>
        <p:nvPicPr>
          <p:cNvPr id="1025" name="Picture 7">
            <a:extLst>
              <a:ext uri="{FF2B5EF4-FFF2-40B4-BE49-F238E27FC236}">
                <a16:creationId xmlns:a16="http://schemas.microsoft.com/office/drawing/2014/main" id="{23DC16A5-E1FC-4A20-BD3B-A6C1E35E11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3493" y="2578607"/>
            <a:ext cx="7218039" cy="386029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5B532210-C5C5-43E5-BE9F-79482AAFA9CA}"/>
              </a:ext>
            </a:extLst>
          </p:cNvPr>
          <p:cNvSpPr>
            <a:spLocks noChangeArrowheads="1"/>
          </p:cNvSpPr>
          <p:nvPr/>
        </p:nvSpPr>
        <p:spPr bwMode="auto">
          <a:xfrm>
            <a:off x="457200" y="3749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532274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16B3CAA-CD28-41FE-96F5-9760B874BB40}"/>
              </a:ext>
            </a:extLst>
          </p:cNvPr>
          <p:cNvSpPr>
            <a:spLocks noChangeArrowheads="1"/>
          </p:cNvSpPr>
          <p:nvPr/>
        </p:nvSpPr>
        <p:spPr bwMode="auto">
          <a:xfrm>
            <a:off x="859536" y="744103"/>
            <a:ext cx="68753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333333"/>
                </a:solidFill>
                <a:effectLst/>
                <a:latin typeface="Times New Roman" panose="02020603050405020304" pitchFamily="18" charset="0"/>
                <a:ea typeface="Rockwell" panose="02060603020205020403" pitchFamily="18" charset="0"/>
                <a:cs typeface="Times New Roman" panose="02020603050405020304" pitchFamily="18" charset="0"/>
              </a:rPr>
              <a:t>Price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049" name="Picture 8">
            <a:extLst>
              <a:ext uri="{FF2B5EF4-FFF2-40B4-BE49-F238E27FC236}">
                <a16:creationId xmlns:a16="http://schemas.microsoft.com/office/drawing/2014/main" id="{8349DAE4-A49F-42ED-A1E7-A6BCB2C251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9452" y="1190244"/>
            <a:ext cx="8173096" cy="5010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149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84C06D1-BDFC-4EE4-B797-934E686F7D40}"/>
              </a:ext>
            </a:extLst>
          </p:cNvPr>
          <p:cNvSpPr>
            <a:spLocks noChangeArrowheads="1"/>
          </p:cNvSpPr>
          <p:nvPr/>
        </p:nvSpPr>
        <p:spPr bwMode="auto">
          <a:xfrm>
            <a:off x="1948394" y="263549"/>
            <a:ext cx="63409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333333"/>
                </a:solidFill>
                <a:effectLst/>
                <a:latin typeface="Times New Roman" panose="02020603050405020304" pitchFamily="18" charset="0"/>
                <a:ea typeface="Rockwell" panose="02060603020205020403" pitchFamily="18" charset="0"/>
                <a:cs typeface="Times New Roman" panose="02020603050405020304" pitchFamily="18" charset="0"/>
              </a:rPr>
              <a:t>Price year wise</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073" name="Picture 16">
            <a:extLst>
              <a:ext uri="{FF2B5EF4-FFF2-40B4-BE49-F238E27FC236}">
                <a16:creationId xmlns:a16="http://schemas.microsoft.com/office/drawing/2014/main" id="{D420B158-FAC7-4933-AADB-717A6478C3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8394" y="689524"/>
            <a:ext cx="8776114" cy="601235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8494C78E-9C6B-48BD-971F-78B14DD9A65F}"/>
              </a:ext>
            </a:extLst>
          </p:cNvPr>
          <p:cNvSpPr>
            <a:spLocks noChangeArrowheads="1"/>
          </p:cNvSpPr>
          <p:nvPr/>
        </p:nvSpPr>
        <p:spPr bwMode="auto">
          <a:xfrm>
            <a:off x="2030944" y="4567786"/>
            <a:ext cx="6340975" cy="49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135604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337D600-58B8-42EA-95D9-42DFBD704386}"/>
              </a:ext>
            </a:extLst>
          </p:cNvPr>
          <p:cNvSpPr>
            <a:spLocks noChangeArrowheads="1"/>
          </p:cNvSpPr>
          <p:nvPr/>
        </p:nvSpPr>
        <p:spPr bwMode="auto">
          <a:xfrm>
            <a:off x="484945" y="901287"/>
            <a:ext cx="1107568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Manufacture year with driven kilometers</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097" name="Picture 23">
            <a:extLst>
              <a:ext uri="{FF2B5EF4-FFF2-40B4-BE49-F238E27FC236}">
                <a16:creationId xmlns:a16="http://schemas.microsoft.com/office/drawing/2014/main" id="{4FE5DCF6-D5BF-4ED4-9EA4-F7E55F16AE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9438" y="1656016"/>
            <a:ext cx="7506150" cy="493687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8E3C3D11-531E-4E23-A016-6DD9A8ABADF0}"/>
              </a:ext>
            </a:extLst>
          </p:cNvPr>
          <p:cNvSpPr>
            <a:spLocks noChangeArrowheads="1"/>
          </p:cNvSpPr>
          <p:nvPr/>
        </p:nvSpPr>
        <p:spPr bwMode="auto">
          <a:xfrm>
            <a:off x="484945" y="1055852"/>
            <a:ext cx="1107568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500" b="0" i="0" u="none" strike="noStrike" cap="none" normalizeH="0" baseline="0">
                <a:ln>
                  <a:noFill/>
                </a:ln>
                <a:solidFill>
                  <a:schemeClr val="tx1"/>
                </a:solidFill>
                <a:effectLst/>
                <a:latin typeface="Arial" panose="020B0604020202020204" pitchFamily="34" charset="0"/>
                <a:ea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903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9D8673C-B320-45F2-8C2C-EDE5B3403AB1}"/>
              </a:ext>
            </a:extLst>
          </p:cNvPr>
          <p:cNvSpPr>
            <a:spLocks noChangeArrowheads="1"/>
          </p:cNvSpPr>
          <p:nvPr/>
        </p:nvSpPr>
        <p:spPr bwMode="auto">
          <a:xfrm>
            <a:off x="1033272" y="944841"/>
            <a:ext cx="626364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Count with a manufacture year</a:t>
            </a:r>
          </a:p>
        </p:txBody>
      </p:sp>
      <p:pic>
        <p:nvPicPr>
          <p:cNvPr id="5121" name="Picture 22">
            <a:extLst>
              <a:ext uri="{FF2B5EF4-FFF2-40B4-BE49-F238E27FC236}">
                <a16:creationId xmlns:a16="http://schemas.microsoft.com/office/drawing/2014/main" id="{769B69CE-A50B-458A-833A-63239C6973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290" y="1537716"/>
            <a:ext cx="8635420" cy="4901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3525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0E0C469-47F6-43D3-902E-0497019B94BA}"/>
              </a:ext>
            </a:extLst>
          </p:cNvPr>
          <p:cNvSpPr>
            <a:spLocks noChangeArrowheads="1"/>
          </p:cNvSpPr>
          <p:nvPr/>
        </p:nvSpPr>
        <p:spPr bwMode="auto">
          <a:xfrm>
            <a:off x="1060704" y="268185"/>
            <a:ext cx="1725152"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Distplot</a:t>
            </a:r>
            <a:r>
              <a:rPr kumimoji="0" lang="en-US" altLang="en-US" sz="15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of the price</a:t>
            </a:r>
            <a:endParaRPr kumimoji="0" lang="en-US" altLang="en-US" sz="800" b="0" i="0" u="none" strike="noStrike" cap="none" normalizeH="0" baseline="0" dirty="0">
              <a:ln>
                <a:noFill/>
              </a:ln>
              <a:solidFill>
                <a:schemeClr val="tx1"/>
              </a:solidFill>
              <a:effectLst/>
            </a:endParaRPr>
          </a:p>
        </p:txBody>
      </p:sp>
      <p:pic>
        <p:nvPicPr>
          <p:cNvPr id="6145" name="Picture 15">
            <a:extLst>
              <a:ext uri="{FF2B5EF4-FFF2-40B4-BE49-F238E27FC236}">
                <a16:creationId xmlns:a16="http://schemas.microsoft.com/office/drawing/2014/main" id="{B96B20ED-01A6-4BFF-B60B-5329B9042E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223" y="755904"/>
            <a:ext cx="9731554" cy="587959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2EBB8049-D9F7-4F5E-8974-965BFF689BC4}"/>
              </a:ext>
            </a:extLst>
          </p:cNvPr>
          <p:cNvSpPr>
            <a:spLocks noChangeArrowheads="1"/>
          </p:cNvSpPr>
          <p:nvPr/>
        </p:nvSpPr>
        <p:spPr bwMode="auto">
          <a:xfrm>
            <a:off x="0" y="39373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792656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B267200-1D8D-4976-9FF6-D41A32BDEA88}"/>
              </a:ext>
            </a:extLst>
          </p:cNvPr>
          <p:cNvSpPr>
            <a:spLocks noChangeArrowheads="1"/>
          </p:cNvSpPr>
          <p:nvPr/>
        </p:nvSpPr>
        <p:spPr bwMode="auto">
          <a:xfrm>
            <a:off x="1069848" y="1219161"/>
            <a:ext cx="1725152"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Fuel type with price</a:t>
            </a:r>
            <a:endParaRPr kumimoji="0" lang="en-US" altLang="en-US" sz="800" b="0" i="0" u="none" strike="noStrike" cap="none" normalizeH="0" baseline="0" dirty="0">
              <a:ln>
                <a:noFill/>
              </a:ln>
              <a:solidFill>
                <a:schemeClr val="tx1"/>
              </a:solidFill>
              <a:effectLst/>
            </a:endParaRPr>
          </a:p>
        </p:txBody>
      </p:sp>
      <p:pic>
        <p:nvPicPr>
          <p:cNvPr id="7169" name="Picture 21">
            <a:extLst>
              <a:ext uri="{FF2B5EF4-FFF2-40B4-BE49-F238E27FC236}">
                <a16:creationId xmlns:a16="http://schemas.microsoft.com/office/drawing/2014/main" id="{67079D2B-272A-4FA6-A322-E5E35AFE52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433" y="1568007"/>
            <a:ext cx="7531134" cy="399154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51FA41B6-BF94-47FC-9947-8EDB3B7CDCD1}"/>
              </a:ext>
            </a:extLst>
          </p:cNvPr>
          <p:cNvSpPr>
            <a:spLocks noChangeArrowheads="1"/>
          </p:cNvSpPr>
          <p:nvPr/>
        </p:nvSpPr>
        <p:spPr bwMode="auto">
          <a:xfrm>
            <a:off x="0" y="4603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500" b="0" i="0" u="none" strike="noStrike" cap="none" normalizeH="0" baseline="0">
                <a:ln>
                  <a:noFill/>
                </a:ln>
                <a:solidFill>
                  <a:schemeClr val="tx1"/>
                </a:solidFill>
                <a:effectLst/>
                <a:latin typeface="Arial" panose="020B0604020202020204" pitchFamily="34" charset="0"/>
                <a:ea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5816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3926B9B-4B18-4F51-B628-46508DB3D07A}"/>
              </a:ext>
            </a:extLst>
          </p:cNvPr>
          <p:cNvSpPr>
            <a:spLocks noChangeArrowheads="1"/>
          </p:cNvSpPr>
          <p:nvPr/>
        </p:nvSpPr>
        <p:spPr bwMode="auto">
          <a:xfrm>
            <a:off x="0" y="107899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No.of</a:t>
            </a:r>
            <a:r>
              <a:rPr kumimoji="0" lang="en-US" altLang="en-US" sz="15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owners with price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193" name="Picture 20">
            <a:extLst>
              <a:ext uri="{FF2B5EF4-FFF2-40B4-BE49-F238E27FC236}">
                <a16:creationId xmlns:a16="http://schemas.microsoft.com/office/drawing/2014/main" id="{85651B16-27FB-43BB-8C61-1272DF36D3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1709" y="1504821"/>
            <a:ext cx="6628581" cy="472223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BB777332-C8EC-4F59-B9A0-10389EEC3AC6}"/>
              </a:ext>
            </a:extLst>
          </p:cNvPr>
          <p:cNvSpPr>
            <a:spLocks noChangeArrowheads="1"/>
          </p:cNvSpPr>
          <p:nvPr/>
        </p:nvSpPr>
        <p:spPr bwMode="auto">
          <a:xfrm>
            <a:off x="0" y="4603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500" b="0" i="0" u="none" strike="noStrike" cap="none" normalizeH="0" baseline="0">
                <a:ln>
                  <a:noFill/>
                </a:ln>
                <a:solidFill>
                  <a:schemeClr val="tx1"/>
                </a:solidFill>
                <a:effectLst/>
                <a:latin typeface="Arial" panose="020B0604020202020204" pitchFamily="34" charset="0"/>
                <a:ea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40813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4">
            <a:extLst>
              <a:ext uri="{FF2B5EF4-FFF2-40B4-BE49-F238E27FC236}">
                <a16:creationId xmlns:a16="http://schemas.microsoft.com/office/drawing/2014/main" id="{50927E43-6721-4A5F-9F4C-F672C88DD3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54104"/>
            <a:ext cx="6329362" cy="3683191"/>
          </a:xfrm>
          <a:prstGeom prst="rect">
            <a:avLst/>
          </a:prstGeom>
          <a:noFill/>
          <a:extLst>
            <a:ext uri="{909E8E84-426E-40DD-AFC4-6F175D3DCCD1}">
              <a14:hiddenFill xmlns:a14="http://schemas.microsoft.com/office/drawing/2010/main">
                <a:solidFill>
                  <a:srgbClr val="FFFFFF"/>
                </a:solidFill>
              </a14:hiddenFill>
            </a:ext>
          </a:extLst>
        </p:spPr>
      </p:pic>
      <p:pic>
        <p:nvPicPr>
          <p:cNvPr id="9217" name="Picture 19">
            <a:extLst>
              <a:ext uri="{FF2B5EF4-FFF2-40B4-BE49-F238E27FC236}">
                <a16:creationId xmlns:a16="http://schemas.microsoft.com/office/drawing/2014/main" id="{B4099749-4E56-46AE-84AC-DAA6B3ABB7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9362" y="1854104"/>
            <a:ext cx="5697538" cy="381317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9889EF17-01F7-401D-9398-9BB646D6A7A3}"/>
              </a:ext>
            </a:extLst>
          </p:cNvPr>
          <p:cNvSpPr>
            <a:spLocks noChangeArrowheads="1"/>
          </p:cNvSpPr>
          <p:nvPr/>
        </p:nvSpPr>
        <p:spPr bwMode="auto">
          <a:xfrm>
            <a:off x="0" y="124358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Distplot</a:t>
            </a:r>
            <a:r>
              <a:rPr kumimoji="0" lang="en-US" altLang="en-US" sz="15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of </a:t>
            </a:r>
            <a:r>
              <a:rPr kumimoji="0" lang="en-US" altLang="en-US" sz="15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mf_year</a:t>
            </a:r>
            <a:r>
              <a:rPr kumimoji="0" lang="en-US" altLang="en-US" sz="15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and driven kilometers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4">
            <a:extLst>
              <a:ext uri="{FF2B5EF4-FFF2-40B4-BE49-F238E27FC236}">
                <a16:creationId xmlns:a16="http://schemas.microsoft.com/office/drawing/2014/main" id="{C3909283-731A-496C-AAEC-85887BF2C7B4}"/>
              </a:ext>
            </a:extLst>
          </p:cNvPr>
          <p:cNvSpPr>
            <a:spLocks noChangeArrowheads="1"/>
          </p:cNvSpPr>
          <p:nvPr/>
        </p:nvSpPr>
        <p:spPr bwMode="auto">
          <a:xfrm>
            <a:off x="82550" y="3390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Rectangle 5">
            <a:extLst>
              <a:ext uri="{FF2B5EF4-FFF2-40B4-BE49-F238E27FC236}">
                <a16:creationId xmlns:a16="http://schemas.microsoft.com/office/drawing/2014/main" id="{1D1D2047-4B96-491A-AA8B-2301A800CA09}"/>
              </a:ext>
            </a:extLst>
          </p:cNvPr>
          <p:cNvSpPr>
            <a:spLocks noChangeArrowheads="1"/>
          </p:cNvSpPr>
          <p:nvPr/>
        </p:nvSpPr>
        <p:spPr bwMode="auto">
          <a:xfrm>
            <a:off x="0" y="3395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500" b="0" i="0" u="none" strike="noStrike" cap="none" normalizeH="0" baseline="0">
                <a:ln>
                  <a:noFill/>
                </a:ln>
                <a:solidFill>
                  <a:schemeClr val="tx1"/>
                </a:solidFill>
                <a:effectLst/>
                <a:latin typeface="Arial" panose="020B0604020202020204" pitchFamily="34" charset="0"/>
                <a:ea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5171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8543FDA-8289-488C-8D85-3D2D5F21B25D}"/>
              </a:ext>
            </a:extLst>
          </p:cNvPr>
          <p:cNvSpPr>
            <a:spLocks noChangeArrowheads="1"/>
          </p:cNvSpPr>
          <p:nvPr/>
        </p:nvSpPr>
        <p:spPr bwMode="auto">
          <a:xfrm>
            <a:off x="0" y="133502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Boxplot of </a:t>
            </a:r>
            <a:r>
              <a:rPr kumimoji="0" lang="en-US" altLang="en-US" sz="15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mf_year</a:t>
            </a:r>
            <a:r>
              <a:rPr kumimoji="0" lang="en-US" altLang="en-US" sz="15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and driven kilometers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41" name="Picture 13">
            <a:extLst>
              <a:ext uri="{FF2B5EF4-FFF2-40B4-BE49-F238E27FC236}">
                <a16:creationId xmlns:a16="http://schemas.microsoft.com/office/drawing/2014/main" id="{34C8F47F-F149-41B7-AB44-BF74D6FB1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35162"/>
            <a:ext cx="5799138" cy="35210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AD58A2F-5CA3-494E-B602-5A0EAB0689A3}"/>
              </a:ext>
            </a:extLst>
          </p:cNvPr>
          <p:cNvSpPr>
            <a:spLocks noChangeArrowheads="1"/>
          </p:cNvSpPr>
          <p:nvPr/>
        </p:nvSpPr>
        <p:spPr bwMode="auto">
          <a:xfrm>
            <a:off x="82550" y="39782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22D8E5C3-A2D5-4F15-A301-F55F0624160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908365"/>
            <a:ext cx="5800725" cy="3886200"/>
          </a:xfrm>
          <a:prstGeom prst="rect">
            <a:avLst/>
          </a:prstGeom>
          <a:noFill/>
          <a:ln>
            <a:noFill/>
          </a:ln>
        </p:spPr>
      </p:pic>
    </p:spTree>
    <p:extLst>
      <p:ext uri="{BB962C8B-B14F-4D97-AF65-F5344CB8AC3E}">
        <p14:creationId xmlns:p14="http://schemas.microsoft.com/office/powerpoint/2010/main" val="2100776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5A43AFA-9B48-4732-A385-6B821C247430}"/>
              </a:ext>
            </a:extLst>
          </p:cNvPr>
          <p:cNvSpPr>
            <a:spLocks noChangeArrowheads="1"/>
          </p:cNvSpPr>
          <p:nvPr/>
        </p:nvSpPr>
        <p:spPr bwMode="auto">
          <a:xfrm>
            <a:off x="0" y="107899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Transmission type with price</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1265" name="Picture 11">
            <a:extLst>
              <a:ext uri="{FF2B5EF4-FFF2-40B4-BE49-F238E27FC236}">
                <a16:creationId xmlns:a16="http://schemas.microsoft.com/office/drawing/2014/main" id="{D40CD57A-20CC-4703-87AC-FC2ADD277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5144" y="1584960"/>
            <a:ext cx="7482846" cy="443179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592F0AE0-C3E8-4A61-B140-80567A48F873}"/>
              </a:ext>
            </a:extLst>
          </p:cNvPr>
          <p:cNvSpPr>
            <a:spLocks noChangeArrowheads="1"/>
          </p:cNvSpPr>
          <p:nvPr/>
        </p:nvSpPr>
        <p:spPr bwMode="auto">
          <a:xfrm>
            <a:off x="82550" y="3810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139191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BAD6621-BF45-4408-BBF6-238124752B34}"/>
              </a:ext>
            </a:extLst>
          </p:cNvPr>
          <p:cNvSpPr>
            <a:spLocks noChangeArrowheads="1"/>
          </p:cNvSpPr>
          <p:nvPr/>
        </p:nvSpPr>
        <p:spPr bwMode="auto">
          <a:xfrm>
            <a:off x="0" y="109728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Count of vehicles with different fuel types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289" name="Picture 9">
            <a:extLst>
              <a:ext uri="{FF2B5EF4-FFF2-40B4-BE49-F238E27FC236}">
                <a16:creationId xmlns:a16="http://schemas.microsoft.com/office/drawing/2014/main" id="{C765D94C-46A7-4CB7-968C-352F2966C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031" y="1490472"/>
            <a:ext cx="7867937" cy="486460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BC3F3ACB-961E-4E1E-8579-3E344065AE98}"/>
              </a:ext>
            </a:extLst>
          </p:cNvPr>
          <p:cNvSpPr>
            <a:spLocks noChangeArrowheads="1"/>
          </p:cNvSpPr>
          <p:nvPr/>
        </p:nvSpPr>
        <p:spPr bwMode="auto">
          <a:xfrm>
            <a:off x="82550" y="40005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543005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B87A0C-DA70-433F-A823-8A91297FCC5E}"/>
              </a:ext>
            </a:extLst>
          </p:cNvPr>
          <p:cNvSpPr txBox="1"/>
          <p:nvPr/>
        </p:nvSpPr>
        <p:spPr>
          <a:xfrm>
            <a:off x="3047238" y="1026419"/>
            <a:ext cx="5703570" cy="4683333"/>
          </a:xfrm>
          <a:prstGeom prst="rect">
            <a:avLst/>
          </a:prstGeom>
          <a:noFill/>
        </p:spPr>
        <p:txBody>
          <a:bodyPr wrap="square">
            <a:spAutoFit/>
          </a:bodyPr>
          <a:lstStyle/>
          <a:p>
            <a:pPr marL="342900" lvl="0" indent="-342900" algn="ctr">
              <a:spcBef>
                <a:spcPts val="445"/>
              </a:spcBef>
              <a:spcAft>
                <a:spcPts val="1000"/>
              </a:spcAft>
              <a:buSzPts val="1800"/>
              <a:buFont typeface="Arial" panose="020B0604020202020204" pitchFamily="34" charset="0"/>
              <a:buChar char="·"/>
              <a:tabLst>
                <a:tab pos="292100" algn="l"/>
              </a:tabLst>
            </a:pPr>
            <a:r>
              <a:rPr lang="en-US" sz="2000" b="1" cap="all" dirty="0">
                <a:solidFill>
                  <a:srgbClr val="595959"/>
                </a:solidFill>
                <a:effectLst/>
                <a:latin typeface="Times New Roman" panose="02020603050405020304" pitchFamily="18" charset="0"/>
                <a:ea typeface="Arial" panose="020B0604020202020204" pitchFamily="34" charset="0"/>
              </a:rPr>
              <a:t>Interpretation of the Results</a:t>
            </a:r>
            <a:endParaRPr lang="en-IN" sz="2800" b="1" cap="all" dirty="0">
              <a:solidFill>
                <a:srgbClr val="595959"/>
              </a:solidFill>
              <a:effectLst/>
              <a:latin typeface="Rockwell" panose="02060603020205020403" pitchFamily="18" charset="0"/>
              <a:ea typeface="Arial" panose="020B0604020202020204" pitchFamily="34" charset="0"/>
            </a:endParaRPr>
          </a:p>
          <a:p>
            <a:pPr marL="742950" marR="753745" lvl="1" indent="-285750" algn="l">
              <a:spcBef>
                <a:spcPts val="1510"/>
              </a:spcBef>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Most of the vehicles in the used car industry are </a:t>
            </a:r>
            <a:r>
              <a:rPr lang="en-US" sz="1500" spc="-15"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Maruti </a:t>
            </a: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and Hyundai</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lvl="1" indent="-285750" algn="l">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Premium vehicles are very less</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lvl="1" indent="-285750" algn="l">
              <a:spcBef>
                <a:spcPts val="255"/>
              </a:spcBef>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The most expensive cars are Ferrari and Lamborghini</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marR="1579880" lvl="1" indent="-285750" algn="l">
              <a:spcBef>
                <a:spcPts val="260"/>
              </a:spcBef>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Hyundai, Datsun, and Maruti are some of </a:t>
            </a:r>
            <a:r>
              <a:rPr lang="en-US" sz="1500" spc="-3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the </a:t>
            </a: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budget-friendly brands</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lvl="1" indent="-285750" algn="l">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lesser the age of the vehicle higher will be the price</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marR="1145540" lvl="1" indent="-285750" algn="l">
              <a:spcBef>
                <a:spcPts val="260"/>
              </a:spcBef>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we can see that the purchasing of vehicles </a:t>
            </a:r>
            <a:r>
              <a:rPr lang="en-US" sz="1500" spc="-15"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started </a:t>
            </a: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booming around 2010</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lvl="1" indent="-285750" algn="l">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from 2018, it has been started to decline</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p:txBody>
      </p:sp>
    </p:spTree>
    <p:extLst>
      <p:ext uri="{BB962C8B-B14F-4D97-AF65-F5344CB8AC3E}">
        <p14:creationId xmlns:p14="http://schemas.microsoft.com/office/powerpoint/2010/main" val="1173892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709050-F9FC-4510-AD9C-C034A3D46812}"/>
              </a:ext>
            </a:extLst>
          </p:cNvPr>
          <p:cNvSpPr txBox="1"/>
          <p:nvPr/>
        </p:nvSpPr>
        <p:spPr>
          <a:xfrm>
            <a:off x="3047238" y="753909"/>
            <a:ext cx="6094476" cy="5350183"/>
          </a:xfrm>
          <a:prstGeom prst="rect">
            <a:avLst/>
          </a:prstGeom>
          <a:noFill/>
        </p:spPr>
        <p:txBody>
          <a:bodyPr wrap="square">
            <a:spAutoFit/>
          </a:bodyPr>
          <a:lstStyle/>
          <a:p>
            <a:pPr marL="742950" lvl="1" indent="-285750" algn="l">
              <a:spcBef>
                <a:spcPts val="260"/>
              </a:spcBef>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Most of the vehicles are petrol</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lvl="1" indent="-285750" algn="l">
              <a:spcBef>
                <a:spcPts val="255"/>
              </a:spcBef>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Gas or hybrid vehicles are very less</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lvl="1" indent="-285750" algn="l">
              <a:spcBef>
                <a:spcPts val="260"/>
              </a:spcBef>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No electric vehicles in our dataset</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marR="1032510" lvl="1" indent="-285750" algn="just">
              <a:spcBef>
                <a:spcPts val="260"/>
              </a:spcBef>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In used car </a:t>
            </a:r>
            <a:r>
              <a:rPr lang="en-US" sz="1500" spc="-15"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industry, </a:t>
            </a: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uncommon fueled vehicles </a:t>
            </a:r>
            <a:r>
              <a:rPr lang="en-US" sz="1500" spc="-3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are </a:t>
            </a: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cheaper(CNG, LPG </a:t>
            </a:r>
            <a:r>
              <a:rPr lang="en-US" sz="1500" dirty="0" err="1">
                <a:solidFill>
                  <a:srgbClr val="333333"/>
                </a:solidFill>
                <a:effectLst/>
                <a:latin typeface="Times New Roman" panose="02020603050405020304" pitchFamily="18" charset="0"/>
                <a:ea typeface="Arial" panose="020B0604020202020204" pitchFamily="34" charset="0"/>
                <a:cs typeface="Mangal" panose="02040503050203030202" pitchFamily="18" charset="0"/>
              </a:rPr>
              <a:t>etc</a:t>
            </a: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 than petrol and diesel</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marR="1435100" lvl="1" indent="-285750" algn="l">
              <a:spcBef>
                <a:spcPts val="400"/>
              </a:spcBef>
              <a:spcAft>
                <a:spcPts val="2000"/>
              </a:spcAft>
              <a:buSzPts val="1500"/>
              <a:buFont typeface="Arial" panose="020B0604020202020204" pitchFamily="34" charset="0"/>
              <a:buChar char="●"/>
              <a:tabLst>
                <a:tab pos="977900" algn="l"/>
              </a:tabLst>
            </a:pPr>
            <a:r>
              <a:rPr lang="en-US" sz="1500" spc="-15"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Generally, </a:t>
            </a: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we can say that when no. of </a:t>
            </a:r>
            <a:r>
              <a:rPr lang="en-US" sz="1500" spc="-15"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owners </a:t>
            </a: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increases, price decreases</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marR="884555" lvl="1" indent="-285750" algn="l">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The prices of the car is not much different from city </a:t>
            </a:r>
            <a:r>
              <a:rPr lang="en-US" sz="1500" spc="-45"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to </a:t>
            </a: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city</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lvl="1" indent="-285750" algn="l">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Automatic cars are more expensive</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pPr marL="742950" marR="774700" lvl="1" indent="-285750" algn="l">
              <a:spcBef>
                <a:spcPts val="255"/>
              </a:spcBef>
              <a:spcAft>
                <a:spcPts val="2000"/>
              </a:spcAft>
              <a:buSzPts val="1500"/>
              <a:buFont typeface="Arial" panose="020B0604020202020204" pitchFamily="34" charset="0"/>
              <a:buChar char="●"/>
              <a:tabLst>
                <a:tab pos="977900" algn="l"/>
              </a:tabLst>
            </a:pP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In every fuel type, the manual is higher in number </a:t>
            </a:r>
            <a:r>
              <a:rPr lang="en-US" sz="1500" spc="-25"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than </a:t>
            </a:r>
            <a:r>
              <a:rPr lang="en-US" sz="1500" dirty="0">
                <a:solidFill>
                  <a:srgbClr val="333333"/>
                </a:solidFill>
                <a:effectLst/>
                <a:latin typeface="Times New Roman" panose="02020603050405020304" pitchFamily="18" charset="0"/>
                <a:ea typeface="Arial" panose="020B0604020202020204" pitchFamily="34" charset="0"/>
                <a:cs typeface="Mangal" panose="02040503050203030202" pitchFamily="18" charset="0"/>
              </a:rPr>
              <a:t>automatic</a:t>
            </a:r>
            <a:endParaRPr lang="en-IN" sz="1600" dirty="0">
              <a:solidFill>
                <a:srgbClr val="333333"/>
              </a:solidFill>
              <a:effectLst/>
              <a:latin typeface="Rockwell" panose="02060603020205020403" pitchFamily="18" charset="0"/>
              <a:ea typeface="Arial" panose="020B0604020202020204" pitchFamily="34" charset="0"/>
              <a:cs typeface="Mangal" panose="02040503050203030202" pitchFamily="18" charset="0"/>
            </a:endParaRPr>
          </a:p>
          <a:p>
            <a:r>
              <a:rPr lang="en-US" sz="1500" dirty="0">
                <a:solidFill>
                  <a:srgbClr val="262626"/>
                </a:solidFill>
                <a:effectLst/>
                <a:latin typeface="Times New Roman" panose="02020603050405020304" pitchFamily="18" charset="0"/>
                <a:ea typeface="Rockwell" panose="02060603020205020403" pitchFamily="18" charset="0"/>
              </a:rPr>
              <a:t>driven kilometers and </a:t>
            </a:r>
            <a:r>
              <a:rPr lang="en-US" sz="1500" dirty="0" err="1">
                <a:solidFill>
                  <a:srgbClr val="262626"/>
                </a:solidFill>
                <a:effectLst/>
                <a:latin typeface="Times New Roman" panose="02020603050405020304" pitchFamily="18" charset="0"/>
                <a:ea typeface="Rockwell" panose="02060603020205020403" pitchFamily="18" charset="0"/>
              </a:rPr>
              <a:t>mf_year</a:t>
            </a:r>
            <a:r>
              <a:rPr lang="en-US" sz="1500" dirty="0">
                <a:solidFill>
                  <a:srgbClr val="262626"/>
                </a:solidFill>
                <a:effectLst/>
                <a:latin typeface="Times New Roman" panose="02020603050405020304" pitchFamily="18" charset="0"/>
                <a:ea typeface="Rockwell" panose="02060603020205020403" pitchFamily="18" charset="0"/>
              </a:rPr>
              <a:t> are highly -</a:t>
            </a:r>
            <a:r>
              <a:rPr lang="en-US" sz="1500" dirty="0" err="1">
                <a:solidFill>
                  <a:srgbClr val="262626"/>
                </a:solidFill>
                <a:effectLst/>
                <a:latin typeface="Times New Roman" panose="02020603050405020304" pitchFamily="18" charset="0"/>
                <a:ea typeface="Rockwell" panose="02060603020205020403" pitchFamily="18" charset="0"/>
              </a:rPr>
              <a:t>ve</a:t>
            </a:r>
            <a:r>
              <a:rPr lang="en-US" sz="1500" dirty="0">
                <a:solidFill>
                  <a:srgbClr val="262626"/>
                </a:solidFill>
                <a:effectLst/>
                <a:latin typeface="Times New Roman" panose="02020603050405020304" pitchFamily="18" charset="0"/>
                <a:ea typeface="Rockwell" panose="02060603020205020403" pitchFamily="18" charset="0"/>
              </a:rPr>
              <a:t> correlated</a:t>
            </a:r>
            <a:endParaRPr lang="en-IN" dirty="0"/>
          </a:p>
        </p:txBody>
      </p:sp>
    </p:spTree>
    <p:extLst>
      <p:ext uri="{BB962C8B-B14F-4D97-AF65-F5344CB8AC3E}">
        <p14:creationId xmlns:p14="http://schemas.microsoft.com/office/powerpoint/2010/main" val="3783108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947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19C26C-C197-4D73-8884-E0835AFAA3CF}"/>
              </a:ext>
            </a:extLst>
          </p:cNvPr>
          <p:cNvPicPr>
            <a:picLocks noChangeAspect="1"/>
          </p:cNvPicPr>
          <p:nvPr/>
        </p:nvPicPr>
        <p:blipFill rotWithShape="1">
          <a:blip r:embed="rId2">
            <a:extLst>
              <a:ext uri="{28A0092B-C50C-407E-A947-70E740481C1C}">
                <a14:useLocalDpi xmlns:a14="http://schemas.microsoft.com/office/drawing/2010/main" val="0"/>
              </a:ext>
            </a:extLst>
          </a:blip>
          <a:srcRect l="22800" t="23467" r="23875" b="11067"/>
          <a:stretch/>
        </p:blipFill>
        <p:spPr>
          <a:xfrm>
            <a:off x="2113788" y="945677"/>
            <a:ext cx="7964424" cy="5500045"/>
          </a:xfrm>
          <a:prstGeom prst="rect">
            <a:avLst/>
          </a:prstGeom>
        </p:spPr>
      </p:pic>
    </p:spTree>
    <p:extLst>
      <p:ext uri="{BB962C8B-B14F-4D97-AF65-F5344CB8AC3E}">
        <p14:creationId xmlns:p14="http://schemas.microsoft.com/office/powerpoint/2010/main" val="55608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Model and Their Results</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8AA18108-5B8B-4147-84A7-D30A16BEC4EA}"/>
              </a:ext>
            </a:extLst>
          </p:cNvPr>
          <p:cNvSpPr/>
          <p:nvPr/>
        </p:nvSpPr>
        <p:spPr>
          <a:xfrm>
            <a:off x="231236" y="3704241"/>
            <a:ext cx="1752042" cy="1198020"/>
          </a:xfrm>
          <a:prstGeom prst="rect">
            <a:avLst/>
          </a:prstGeom>
        </p:spPr>
        <p:txBody>
          <a:bodyPr wrap="square" lIns="0" tIns="0" rIns="0" bIns="0" numCol="1" anchor="t">
            <a:spAutoFit/>
          </a:bodyPr>
          <a:lstStyle/>
          <a:p>
            <a:pPr>
              <a:lnSpc>
                <a:spcPts val="1900"/>
              </a:lnSpc>
            </a:pPr>
            <a:r>
              <a:rPr lang="en-US" sz="1400" dirty="0">
                <a:solidFill>
                  <a:schemeClr val="bg1"/>
                </a:solidFill>
                <a:cs typeface="Segoe UI" panose="020B0502040204020203" pitchFamily="34" charset="0"/>
              </a:rPr>
              <a:t>Learning Score: 88.745</a:t>
            </a:r>
          </a:p>
          <a:p>
            <a:pPr>
              <a:lnSpc>
                <a:spcPts val="1900"/>
              </a:lnSpc>
            </a:pPr>
            <a:r>
              <a:rPr lang="en-US" sz="1400" dirty="0">
                <a:solidFill>
                  <a:schemeClr val="bg1"/>
                </a:solidFill>
                <a:cs typeface="Segoe UI" panose="020B0502040204020203" pitchFamily="34" charset="0"/>
              </a:rPr>
              <a:t>Accuracy score: 88.89 </a:t>
            </a:r>
          </a:p>
          <a:p>
            <a:pPr>
              <a:lnSpc>
                <a:spcPts val="1900"/>
              </a:lnSpc>
            </a:pPr>
            <a:r>
              <a:rPr lang="en-US" sz="1400" dirty="0">
                <a:solidFill>
                  <a:schemeClr val="bg1"/>
                </a:solidFill>
                <a:cs typeface="Segoe UI" panose="020B0502040204020203" pitchFamily="34" charset="0"/>
              </a:rPr>
              <a:t>Cross </a:t>
            </a:r>
            <a:r>
              <a:rPr lang="en-US" sz="1400" dirty="0" err="1">
                <a:solidFill>
                  <a:schemeClr val="bg1"/>
                </a:solidFill>
                <a:cs typeface="Segoe UI" panose="020B0502040204020203" pitchFamily="34" charset="0"/>
              </a:rPr>
              <a:t>val</a:t>
            </a:r>
            <a:r>
              <a:rPr lang="en-US" sz="1400" dirty="0">
                <a:solidFill>
                  <a:schemeClr val="bg1"/>
                </a:solidFill>
                <a:cs typeface="Segoe UI" panose="020B0502040204020203" pitchFamily="34" charset="0"/>
              </a:rPr>
              <a:t> score: 88.78</a:t>
            </a:r>
          </a:p>
          <a:p>
            <a:pPr>
              <a:lnSpc>
                <a:spcPts val="1900"/>
              </a:lnSpc>
            </a:pPr>
            <a:r>
              <a:rPr lang="en-US" sz="1400" dirty="0">
                <a:solidFill>
                  <a:schemeClr val="bg1"/>
                </a:solidFill>
                <a:cs typeface="Segoe UI" panose="020B0502040204020203" pitchFamily="34" charset="0"/>
              </a:rPr>
              <a:t>Roc </a:t>
            </a:r>
            <a:r>
              <a:rPr lang="en-US" sz="1400" dirty="0" err="1">
                <a:solidFill>
                  <a:schemeClr val="bg1"/>
                </a:solidFill>
                <a:cs typeface="Segoe UI" panose="020B0502040204020203" pitchFamily="34" charset="0"/>
              </a:rPr>
              <a:t>Auc</a:t>
            </a:r>
            <a:r>
              <a:rPr lang="en-US" sz="1400" dirty="0">
                <a:solidFill>
                  <a:schemeClr val="bg1"/>
                </a:solidFill>
                <a:cs typeface="Segoe UI" panose="020B0502040204020203" pitchFamily="34" charset="0"/>
              </a:rPr>
              <a:t> Curve: 54.44</a:t>
            </a:r>
          </a:p>
          <a:p>
            <a:pPr>
              <a:lnSpc>
                <a:spcPts val="1900"/>
              </a:lnSpc>
            </a:pPr>
            <a:r>
              <a:rPr lang="en-US" sz="1400" dirty="0">
                <a:solidFill>
                  <a:schemeClr val="bg1"/>
                </a:solidFill>
                <a:cs typeface="Segoe UI" panose="020B0502040204020203" pitchFamily="34" charset="0"/>
              </a:rPr>
              <a:t>Log loss	    : 3.835</a:t>
            </a:r>
          </a:p>
        </p:txBody>
      </p:sp>
      <p:pic>
        <p:nvPicPr>
          <p:cNvPr id="3" name="Picture 2">
            <a:extLst>
              <a:ext uri="{FF2B5EF4-FFF2-40B4-BE49-F238E27FC236}">
                <a16:creationId xmlns:a16="http://schemas.microsoft.com/office/drawing/2014/main" id="{F26A8AD6-F600-407D-8E6C-B47A90AB60D9}"/>
              </a:ext>
            </a:extLst>
          </p:cNvPr>
          <p:cNvPicPr>
            <a:picLocks noChangeAspect="1"/>
          </p:cNvPicPr>
          <p:nvPr/>
        </p:nvPicPr>
        <p:blipFill rotWithShape="1">
          <a:blip r:embed="rId3">
            <a:extLst>
              <a:ext uri="{28A0092B-C50C-407E-A947-70E740481C1C}">
                <a14:useLocalDpi xmlns:a14="http://schemas.microsoft.com/office/drawing/2010/main" val="0"/>
              </a:ext>
            </a:extLst>
          </a:blip>
          <a:srcRect l="14925" t="48799" r="14275" b="15450"/>
          <a:stretch/>
        </p:blipFill>
        <p:spPr>
          <a:xfrm>
            <a:off x="802649" y="1243973"/>
            <a:ext cx="10659728" cy="3392035"/>
          </a:xfrm>
          <a:prstGeom prst="rect">
            <a:avLst/>
          </a:prstGeom>
        </p:spPr>
      </p:pic>
    </p:spTree>
    <p:extLst>
      <p:ext uri="{BB962C8B-B14F-4D97-AF65-F5344CB8AC3E}">
        <p14:creationId xmlns:p14="http://schemas.microsoft.com/office/powerpoint/2010/main" val="2627643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3F9CE-710B-420F-855F-0C549DE75039}"/>
              </a:ext>
            </a:extLst>
          </p:cNvPr>
          <p:cNvSpPr>
            <a:spLocks noGrp="1"/>
          </p:cNvSpPr>
          <p:nvPr>
            <p:ph type="title"/>
          </p:nvPr>
        </p:nvSpPr>
        <p:spPr/>
        <p:txBody>
          <a:bodyPr>
            <a:normAutofit/>
          </a:bodyPr>
          <a:lstStyle/>
          <a:p>
            <a:r>
              <a:rPr lang="en-US" sz="2800" b="1" u="sng" dirty="0">
                <a:latin typeface="Algerian" panose="04020705040A02060702" pitchFamily="82" charset="0"/>
                <a:cs typeface="Times New Roman" panose="02020603050405020304" pitchFamily="18" charset="0"/>
              </a:rPr>
              <a:t>Interpretation of the Results</a:t>
            </a:r>
            <a:endParaRPr lang="en-IN" sz="2800" b="1" u="sng" dirty="0">
              <a:latin typeface="Algerian" panose="04020705040A02060702" pitchFamily="82" charset="0"/>
            </a:endParaRPr>
          </a:p>
        </p:txBody>
      </p:sp>
      <p:sp>
        <p:nvSpPr>
          <p:cNvPr id="3" name="Content Placeholder 2">
            <a:extLst>
              <a:ext uri="{FF2B5EF4-FFF2-40B4-BE49-F238E27FC236}">
                <a16:creationId xmlns:a16="http://schemas.microsoft.com/office/drawing/2014/main" id="{6B2CF363-AB60-427E-ACDB-AECAB13AF1CF}"/>
              </a:ext>
            </a:extLst>
          </p:cNvPr>
          <p:cNvSpPr>
            <a:spLocks noGrp="1"/>
          </p:cNvSpPr>
          <p:nvPr>
            <p:ph idx="1"/>
          </p:nvPr>
        </p:nvSpPr>
        <p:spPr/>
        <p:txBody>
          <a:bodyPr/>
          <a:lstStyle/>
          <a:p>
            <a:pPr>
              <a:lnSpc>
                <a:spcPct val="200000"/>
              </a:lnSpc>
            </a:pPr>
            <a:r>
              <a:rPr lang="en-US" sz="1800" dirty="0"/>
              <a:t>I have used visualization tool such as hist Plot, scatterplot </a:t>
            </a:r>
            <a:r>
              <a:rPr lang="en-US" sz="1800" dirty="0" err="1"/>
              <a:t>barplot</a:t>
            </a:r>
            <a:r>
              <a:rPr lang="en-US" sz="1800" dirty="0"/>
              <a:t> to understand the data in a better way.</a:t>
            </a:r>
          </a:p>
          <a:p>
            <a:pPr lvl="0">
              <a:lnSpc>
                <a:spcPct val="200000"/>
              </a:lnSpc>
            </a:pPr>
            <a:r>
              <a:rPr lang="en-IN" sz="1800" dirty="0">
                <a:ea typeface="Calibri" panose="020F0502020204030204" pitchFamily="34" charset="0"/>
                <a:cs typeface="Times New Roman" panose="02020603050405020304" pitchFamily="18" charset="0"/>
              </a:rPr>
              <a:t>I used describe method for five-point summary analysis and also found the number of rows and columns in dataset.</a:t>
            </a:r>
          </a:p>
          <a:p>
            <a:pPr lvl="0">
              <a:lnSpc>
                <a:spcPct val="200000"/>
              </a:lnSpc>
            </a:pPr>
            <a:r>
              <a:rPr lang="en-IN" sz="1800" dirty="0">
                <a:ea typeface="Calibri" panose="020F0502020204030204" pitchFamily="34" charset="0"/>
                <a:cs typeface="Times New Roman" panose="02020603050405020304" pitchFamily="18" charset="0"/>
              </a:rPr>
              <a:t>I have done the model building in regression model to improve my accuracy of my prediction.</a:t>
            </a:r>
          </a:p>
          <a:p>
            <a:pPr lvl="0"/>
            <a:endParaRPr lang="en-IN" dirty="0">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00676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0DC5-3514-41D5-9222-1C558B1EA0DD}"/>
              </a:ext>
            </a:extLst>
          </p:cNvPr>
          <p:cNvSpPr>
            <a:spLocks noGrp="1"/>
          </p:cNvSpPr>
          <p:nvPr>
            <p:ph type="title"/>
          </p:nvPr>
        </p:nvSpPr>
        <p:spPr>
          <a:xfrm>
            <a:off x="1303494" y="213389"/>
            <a:ext cx="9601196" cy="1303867"/>
          </a:xfrm>
        </p:spPr>
        <p:txBody>
          <a:bodyPr>
            <a:normAutofit/>
          </a:bodyPr>
          <a:lstStyle/>
          <a:p>
            <a:r>
              <a:rPr lang="en-US" sz="2800" b="1" u="sng" dirty="0">
                <a:latin typeface="Algerian" panose="04020705040A02060702" pitchFamily="82" charset="0"/>
                <a:cs typeface="Times New Roman" panose="02020603050405020304" pitchFamily="18" charset="0"/>
              </a:rPr>
              <a:t>CONCLUSIONS</a:t>
            </a:r>
            <a:endParaRPr lang="en-IN" sz="2800" u="sng" dirty="0">
              <a:latin typeface="Algerian" panose="04020705040A02060702" pitchFamily="82" charset="0"/>
            </a:endParaRPr>
          </a:p>
        </p:txBody>
      </p:sp>
      <p:sp>
        <p:nvSpPr>
          <p:cNvPr id="3" name="Content Placeholder 2">
            <a:extLst>
              <a:ext uri="{FF2B5EF4-FFF2-40B4-BE49-F238E27FC236}">
                <a16:creationId xmlns:a16="http://schemas.microsoft.com/office/drawing/2014/main" id="{CAF342A1-77A7-42E9-B2A9-54F1AE786394}"/>
              </a:ext>
            </a:extLst>
          </p:cNvPr>
          <p:cNvSpPr>
            <a:spLocks noGrp="1"/>
          </p:cNvSpPr>
          <p:nvPr>
            <p:ph idx="1"/>
          </p:nvPr>
        </p:nvSpPr>
        <p:spPr>
          <a:xfrm>
            <a:off x="777510" y="1315413"/>
            <a:ext cx="11053046" cy="4369699"/>
          </a:xfrm>
        </p:spPr>
        <p:txBody>
          <a:bodyPr>
            <a:normAutofit fontScale="62500" lnSpcReduction="20000"/>
          </a:bodyPr>
          <a:lstStyle/>
          <a:p>
            <a:r>
              <a:rPr lang="en-US" dirty="0"/>
              <a:t>I have managed out how to prepare a model that gives users for a novel best approach at future lodging value predictions.</a:t>
            </a:r>
          </a:p>
          <a:p>
            <a:r>
              <a:rPr lang="en-US" dirty="0"/>
              <a:t>a) I have train datastet from which I had to extract information.</a:t>
            </a:r>
          </a:p>
          <a:p>
            <a:r>
              <a:rPr lang="en-US" dirty="0"/>
              <a:t>b) I had used pandas library to read the Dataset which provide me to explore &amp; visualize the Data properly based on Rows &amp; Columns.</a:t>
            </a:r>
          </a:p>
          <a:p>
            <a:r>
              <a:rPr lang="en-US" dirty="0"/>
              <a:t>c) After from all datasets, I preprocessed the data using replacing all zeros &amp; filling counts in this dataset.</a:t>
            </a:r>
          </a:p>
          <a:p>
            <a:r>
              <a:rPr lang="en-US" dirty="0"/>
              <a:t>d) I did exploratory data analysis on main data frame and tried to see all visualizations.</a:t>
            </a:r>
          </a:p>
          <a:p>
            <a:r>
              <a:rPr lang="en-US" dirty="0"/>
              <a:t>e) Based on visualization knowledge, I use various EDA TECHNIQUES to plot the Graph. </a:t>
            </a:r>
          </a:p>
          <a:p>
            <a:r>
              <a:rPr lang="en-US" dirty="0"/>
              <a:t>f) On this data, I have applied our machine learning regression models such as KNN Regressor, Linear regression, Random forest Regressor Model, Decision Tree </a:t>
            </a:r>
            <a:r>
              <a:rPr lang="en-US" dirty="0" err="1"/>
              <a:t>Regresssor</a:t>
            </a:r>
            <a:r>
              <a:rPr lang="en-US" dirty="0"/>
              <a:t>, SVR, and Ridge with the dataset.</a:t>
            </a:r>
          </a:p>
          <a:p>
            <a:r>
              <a:rPr lang="en-US" dirty="0" err="1"/>
              <a:t>i</a:t>
            </a:r>
            <a:r>
              <a:rPr lang="en-US" dirty="0"/>
              <a:t>) Based on the model prediction now I predict to analyze.</a:t>
            </a:r>
          </a:p>
          <a:p>
            <a:r>
              <a:rPr lang="en-US" dirty="0"/>
              <a:t>j) After which I take Random Forest Regressor to predict test data.</a:t>
            </a:r>
          </a:p>
          <a:p>
            <a:r>
              <a:rPr lang="en-US" dirty="0"/>
              <a:t>k) At the end I make Data Frame to understand the SalePrice of the dataset.</a:t>
            </a:r>
          </a:p>
          <a:p>
            <a:r>
              <a:rPr lang="en-US" dirty="0"/>
              <a:t>l) Based on the model scores, to predict House Prediction Random Forest Regressor seems to be the best model for this dataset.</a:t>
            </a:r>
            <a:endParaRPr lang="en-IN" dirty="0"/>
          </a:p>
        </p:txBody>
      </p:sp>
    </p:spTree>
    <p:extLst>
      <p:ext uri="{BB962C8B-B14F-4D97-AF65-F5344CB8AC3E}">
        <p14:creationId xmlns:p14="http://schemas.microsoft.com/office/powerpoint/2010/main" val="2087076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52039D-0D60-49E5-B13B-B8D418757EE7}"/>
              </a:ext>
            </a:extLst>
          </p:cNvPr>
          <p:cNvSpPr txBox="1"/>
          <p:nvPr/>
        </p:nvSpPr>
        <p:spPr>
          <a:xfrm>
            <a:off x="2143125" y="2362200"/>
            <a:ext cx="7962900" cy="3139321"/>
          </a:xfrm>
          <a:prstGeom prst="rect">
            <a:avLst/>
          </a:prstGeom>
          <a:noFill/>
        </p:spPr>
        <p:txBody>
          <a:bodyPr wrap="square">
            <a:spAutoFit/>
          </a:bodyPr>
          <a:lstStyle/>
          <a:p>
            <a:r>
              <a:rPr lang="en-US" sz="1800" dirty="0">
                <a:effectLst/>
                <a:latin typeface="Times New Roman" panose="02020603050405020304" pitchFamily="18" charset="0"/>
                <a:ea typeface="Arial" panose="020B0604020202020204" pitchFamily="34" charset="0"/>
              </a:rPr>
              <a:t>Found out the key features that related to the price of a used car and was able to make a machine learning model that predicts the car price.</a:t>
            </a:r>
            <a:endParaRPr lang="en-IN" sz="1800" dirty="0">
              <a:effectLst/>
              <a:latin typeface="Arial" panose="020B0604020202020204" pitchFamily="34" charset="0"/>
              <a:ea typeface="Arial" panose="020B0604020202020204" pitchFamily="34" charset="0"/>
            </a:endParaRPr>
          </a:p>
          <a:p>
            <a:pPr algn="l"/>
            <a:endParaRPr lang="en-US" b="0" i="0" dirty="0">
              <a:solidFill>
                <a:srgbClr val="000000"/>
              </a:solidFill>
              <a:effectLst/>
            </a:endParaRPr>
          </a:p>
          <a:p>
            <a:r>
              <a:rPr lang="en-US" sz="1800" dirty="0">
                <a:solidFill>
                  <a:srgbClr val="262626"/>
                </a:solidFill>
                <a:effectLst/>
                <a:latin typeface="Times New Roman" panose="02020603050405020304" pitchFamily="18" charset="0"/>
                <a:ea typeface="Rockwell" panose="02060603020205020403" pitchFamily="18" charset="0"/>
                <a:cs typeface="Mangal" panose="02040503050203030202" pitchFamily="18" charset="0"/>
              </a:rPr>
              <a:t>With the help of exploratory data analysis we could visualize the large data and make interpretation of it and also summary statistics helped us understand how data is spread, where outliers are present to what extend deviation is present and understanding the relationship between target column and other attributes, repeated columns was eliminated to making right prediction.</a:t>
            </a:r>
            <a:endParaRPr lang="en-IN" sz="1800" dirty="0">
              <a:solidFill>
                <a:srgbClr val="262626"/>
              </a:solidFill>
              <a:effectLst/>
              <a:latin typeface="Rockwell" panose="02060603020205020403" pitchFamily="18" charset="0"/>
              <a:ea typeface="Rockwell" panose="02060603020205020403" pitchFamily="18" charset="0"/>
              <a:cs typeface="Mangal" panose="02040503050203030202" pitchFamily="18" charset="0"/>
            </a:endParaRPr>
          </a:p>
          <a:p>
            <a:pPr algn="l"/>
            <a:endParaRPr lang="en-US" dirty="0">
              <a:solidFill>
                <a:srgbClr val="000000"/>
              </a:solidFill>
            </a:endParaRPr>
          </a:p>
          <a:p>
            <a:r>
              <a:rPr lang="en-US" sz="1800" dirty="0">
                <a:effectLst/>
                <a:latin typeface="Times New Roman" panose="02020603050405020304" pitchFamily="18" charset="0"/>
                <a:ea typeface="Arial" panose="020B0604020202020204" pitchFamily="34" charset="0"/>
              </a:rPr>
              <a:t>The accuracy of the ML model is low. We got an accuracy of around 54.7%.</a:t>
            </a:r>
            <a:endParaRPr lang="en-IN" sz="1800" dirty="0">
              <a:effectLst/>
              <a:latin typeface="Arial" panose="020B0604020202020204" pitchFamily="34" charset="0"/>
              <a:ea typeface="Arial" panose="020B0604020202020204" pitchFamily="34" charset="0"/>
            </a:endParaRPr>
          </a:p>
          <a:p>
            <a:pPr algn="l"/>
            <a:endParaRPr lang="en-US" b="0" i="0" dirty="0">
              <a:solidFill>
                <a:srgbClr val="000000"/>
              </a:solidFill>
              <a:effectLst/>
            </a:endParaRPr>
          </a:p>
        </p:txBody>
      </p:sp>
      <p:sp>
        <p:nvSpPr>
          <p:cNvPr id="6" name="TextBox 5">
            <a:extLst>
              <a:ext uri="{FF2B5EF4-FFF2-40B4-BE49-F238E27FC236}">
                <a16:creationId xmlns:a16="http://schemas.microsoft.com/office/drawing/2014/main" id="{0EECE06A-A534-4244-9C62-B73A34428D55}"/>
              </a:ext>
            </a:extLst>
          </p:cNvPr>
          <p:cNvSpPr txBox="1"/>
          <p:nvPr/>
        </p:nvSpPr>
        <p:spPr>
          <a:xfrm>
            <a:off x="2638425" y="1463159"/>
            <a:ext cx="7019925" cy="584775"/>
          </a:xfrm>
          <a:prstGeom prst="rect">
            <a:avLst/>
          </a:prstGeom>
          <a:noFill/>
        </p:spPr>
        <p:txBody>
          <a:bodyPr wrap="square">
            <a:spAutoFit/>
          </a:bodyPr>
          <a:lstStyle/>
          <a:p>
            <a:pPr algn="l"/>
            <a:r>
              <a:rPr lang="en-IN" sz="3200" b="1" dirty="0">
                <a:solidFill>
                  <a:srgbClr val="000000"/>
                </a:solidFill>
              </a:rPr>
              <a:t>Conclusion</a:t>
            </a:r>
          </a:p>
        </p:txBody>
      </p:sp>
    </p:spTree>
    <p:extLst>
      <p:ext uri="{BB962C8B-B14F-4D97-AF65-F5344CB8AC3E}">
        <p14:creationId xmlns:p14="http://schemas.microsoft.com/office/powerpoint/2010/main" val="3843406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pattFill prst="divot">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3.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335</TotalTime>
  <Words>962</Words>
  <Application>Microsoft Office PowerPoint</Application>
  <PresentationFormat>Widescreen</PresentationFormat>
  <Paragraphs>86</Paragraphs>
  <Slides>25</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Algerian</vt:lpstr>
      <vt:lpstr>Arial</vt:lpstr>
      <vt:lpstr>Calibri</vt:lpstr>
      <vt:lpstr>Century Gothic</vt:lpstr>
      <vt:lpstr>Garamond</vt:lpstr>
      <vt:lpstr>Rockwell</vt:lpstr>
      <vt:lpstr>Segoe UI Light</vt:lpstr>
      <vt:lpstr>Times New Roman</vt:lpstr>
      <vt:lpstr>Office Theme</vt:lpstr>
      <vt:lpstr>Cars Price Prediction Submitted by Tushar Kumar Patel</vt:lpstr>
      <vt:lpstr>Project analysis slide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analysis slide 3</vt:lpstr>
      <vt:lpstr>Interpretation of the Results</vt:lpstr>
      <vt:lpstr>CONCLUSIONS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Credit Defaulter Submitted by Tushar Kumar Patel</dc:title>
  <dc:creator>rean26</dc:creator>
  <cp:lastModifiedBy>rean26</cp:lastModifiedBy>
  <cp:revision>3</cp:revision>
  <dcterms:created xsi:type="dcterms:W3CDTF">2021-08-31T13:48:51Z</dcterms:created>
  <dcterms:modified xsi:type="dcterms:W3CDTF">2021-09-27T14:44:17Z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